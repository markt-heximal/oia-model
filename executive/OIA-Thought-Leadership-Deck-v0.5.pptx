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011680"/>
            <a:ext cx="10362895" cy="36576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PUBLISHED BY THE AGENTICS FOUNDATION</a:t>
            </a:r>
            <a:endParaRPr lang="en-US" sz="1100" dirty="0"/>
          </a:p>
        </p:txBody>
      </p:sp>
      <p:sp>
        <p:nvSpPr>
          <p:cNvPr id="3" name="Text 1"/>
          <p:cNvSpPr/>
          <p:nvPr/>
        </p:nvSpPr>
        <p:spPr>
          <a:xfrm>
            <a:off x="914400" y="2468880"/>
            <a:ext cx="10362895" cy="914400"/>
          </a:xfrm>
          <a:prstGeom prst="rect">
            <a:avLst/>
          </a:prstGeom>
          <a:noFill/>
          <a:ln/>
        </p:spPr>
        <p:txBody>
          <a:bodyPr wrap="square" rtlCol="0" anchor="ctr"/>
          <a:lstStyle/>
          <a:p>
            <a:pPr indent="0" marL="0">
              <a:buNone/>
            </a:pPr>
            <a:r>
              <a:rPr lang="en-US" sz="4800" dirty="0">
                <a:solidFill>
                  <a:srgbClr val="0F1A24"/>
                </a:solidFill>
                <a:latin typeface="Arial" pitchFamily="34" charset="0"/>
                <a:ea typeface="Arial" pitchFamily="34" charset="-122"/>
                <a:cs typeface="Arial" pitchFamily="34" charset="-120"/>
              </a:rPr>
              <a:t>The OIA Reference Model</a:t>
            </a:r>
            <a:endParaRPr lang="en-US" sz="4800" dirty="0"/>
          </a:p>
        </p:txBody>
      </p:sp>
      <p:sp>
        <p:nvSpPr>
          <p:cNvPr id="4" name="Text 2"/>
          <p:cNvSpPr/>
          <p:nvPr/>
        </p:nvSpPr>
        <p:spPr>
          <a:xfrm>
            <a:off x="914400" y="3520440"/>
            <a:ext cx="10362895" cy="731520"/>
          </a:xfrm>
          <a:prstGeom prst="rect">
            <a:avLst/>
          </a:prstGeom>
          <a:noFill/>
          <a:ln/>
        </p:spPr>
        <p:txBody>
          <a:bodyPr wrap="square" rtlCol="0" anchor="ctr"/>
          <a:lstStyle/>
          <a:p>
            <a:pPr indent="0" marL="0">
              <a:buNone/>
            </a:pPr>
            <a:r>
              <a:rPr lang="en-US" sz="2000" i="1" dirty="0">
                <a:solidFill>
                  <a:srgbClr val="4A5562"/>
                </a:solidFill>
                <a:latin typeface="Arial" pitchFamily="34" charset="0"/>
                <a:ea typeface="Arial" pitchFamily="34" charset="-122"/>
                <a:cs typeface="Arial" pitchFamily="34" charset="-120"/>
              </a:rPr>
              <a:t>A structural reference for the design, deployment, and governance of enterprise intelligent systems.</a:t>
            </a:r>
            <a:endParaRPr lang="en-US" sz="2000" dirty="0"/>
          </a:p>
        </p:txBody>
      </p:sp>
      <p:sp>
        <p:nvSpPr>
          <p:cNvPr id="5" name="Shape 3"/>
          <p:cNvSpPr/>
          <p:nvPr/>
        </p:nvSpPr>
        <p:spPr>
          <a:xfrm>
            <a:off x="914400" y="4526280"/>
            <a:ext cx="3657600" cy="4572"/>
          </a:xfrm>
          <a:prstGeom prst="rect">
            <a:avLst/>
          </a:prstGeom>
          <a:solidFill>
            <a:srgbClr val="C9C0AD"/>
          </a:solidFill>
          <a:ln w="12700">
            <a:solidFill>
              <a:srgbClr val="C9C0AD"/>
            </a:solidFill>
            <a:prstDash val="solid"/>
          </a:ln>
        </p:spPr>
      </p:sp>
      <p:sp>
        <p:nvSpPr>
          <p:cNvPr id="6" name="Text 4"/>
          <p:cNvSpPr/>
          <p:nvPr/>
        </p:nvSpPr>
        <p:spPr>
          <a:xfrm>
            <a:off x="914400" y="4663440"/>
            <a:ext cx="7315200" cy="274320"/>
          </a:xfrm>
          <a:prstGeom prst="rect">
            <a:avLst/>
          </a:prstGeom>
          <a:noFill/>
          <a:ln/>
        </p:spPr>
        <p:txBody>
          <a:bodyPr wrap="square" rtlCol="0" anchor="ctr"/>
          <a:lstStyle/>
          <a:p>
            <a:pPr indent="0" marL="0">
              <a:buNone/>
            </a:pPr>
            <a:r>
              <a:rPr lang="en-US" sz="1600" dirty="0">
                <a:solidFill>
                  <a:srgbClr val="0F1A24"/>
                </a:solidFill>
                <a:latin typeface="Arial" pitchFamily="34" charset="0"/>
                <a:ea typeface="Arial" pitchFamily="34" charset="-122"/>
                <a:cs typeface="Arial" pitchFamily="34" charset="-120"/>
              </a:rPr>
              <a:t>By Mark Templeton</a:t>
            </a:r>
            <a:endParaRPr lang="en-US" sz="1600" dirty="0"/>
          </a:p>
        </p:txBody>
      </p:sp>
      <p:sp>
        <p:nvSpPr>
          <p:cNvPr id="7" name="Text 5"/>
          <p:cNvSpPr/>
          <p:nvPr/>
        </p:nvSpPr>
        <p:spPr>
          <a:xfrm>
            <a:off x="914400" y="4983480"/>
            <a:ext cx="7315200" cy="274320"/>
          </a:xfrm>
          <a:prstGeom prst="rect">
            <a:avLst/>
          </a:prstGeom>
          <a:noFill/>
          <a:ln/>
        </p:spPr>
        <p:txBody>
          <a:bodyPr wrap="square" rtlCol="0" anchor="ctr"/>
          <a:lstStyle/>
          <a:p>
            <a:pPr indent="0" marL="0">
              <a:buNone/>
            </a:pPr>
            <a:r>
              <a:rPr lang="en-US" sz="1300" i="1" dirty="0">
                <a:solidFill>
                  <a:srgbClr val="0F1A24"/>
                </a:solidFill>
                <a:latin typeface="Arial" pitchFamily="34" charset="0"/>
                <a:ea typeface="Arial" pitchFamily="34" charset="-122"/>
                <a:cs typeface="Arial" pitchFamily="34" charset="-120"/>
              </a:rPr>
              <a:t>Version 0.5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WHY THIS MATTERS NOW</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Reference architectures matter most when the technology is moving faster than the organisations deploying it.</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2011680"/>
            <a:ext cx="11094415" cy="3657600"/>
          </a:xfrm>
          <a:prstGeom prst="rect">
            <a:avLst/>
          </a:prstGeom>
          <a:noFill/>
          <a:ln/>
        </p:spPr>
        <p:txBody>
          <a:bodyPr wrap="square" rtlCol="0" anchor="ctr"/>
          <a:lstStyle/>
          <a:p>
            <a:pPr indent="0" marL="0">
              <a:spcAft>
                <a:spcPts val="1200"/>
              </a:spcAft>
              <a:buNone/>
            </a:pPr>
            <a:r>
              <a:rPr lang="en-US" sz="1600" b="1" dirty="0">
                <a:solidFill>
                  <a:srgbClr val="0F1A24"/>
                </a:solidFill>
                <a:latin typeface="Arial" pitchFamily="34" charset="0"/>
                <a:ea typeface="Arial" pitchFamily="34" charset="-122"/>
                <a:cs typeface="Arial" pitchFamily="34" charset="-120"/>
              </a:rPr>
              <a:t>We are in such a moment now.</a:t>
            </a:r>
            <a:endParaRPr lang="en-US" sz="1600" dirty="0"/>
          </a:p>
          <a:p>
            <a:pPr indent="0" marL="0">
              <a:spcAft>
                <a:spcPts val="12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1200"/>
              </a:spcAft>
              <a:buNone/>
            </a:pPr>
            <a:r>
              <a:rPr lang="en-US" sz="1600" dirty="0">
                <a:solidFill>
                  <a:srgbClr val="0F1A24"/>
                </a:solidFill>
                <a:latin typeface="Arial" pitchFamily="34" charset="0"/>
                <a:ea typeface="Arial" pitchFamily="34" charset="-122"/>
                <a:cs typeface="Arial" pitchFamily="34" charset="-120"/>
              </a:rPr>
              <a:t>Enterprise intelligent systems — agents, models, and automation that increasingly do real work alongside human teams — are arriving inside our companies before the architectural vocabulary to govern them has stabilised.</a:t>
            </a:r>
            <a:endParaRPr lang="en-US" sz="1600" dirty="0"/>
          </a:p>
          <a:p>
            <a:pPr indent="0" marL="0">
              <a:spcAft>
                <a:spcPts val="12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1200"/>
              </a:spcAft>
              <a:buNone/>
            </a:pPr>
            <a:r>
              <a:rPr lang="en-US" sz="1600" dirty="0">
                <a:solidFill>
                  <a:srgbClr val="0F1A24"/>
                </a:solidFill>
                <a:latin typeface="Arial" pitchFamily="34" charset="0"/>
                <a:ea typeface="Arial" pitchFamily="34" charset="-122"/>
                <a:cs typeface="Arial" pitchFamily="34" charset="-120"/>
              </a:rPr>
              <a:t>Boards are asking strategic questions their management teams cannot yet answer in structural terms. CIOs are committing capital before the architecture is drawn. CISOs are defending against threat surfaces existing frameworks do not name.</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2286000"/>
            <a:ext cx="11094415" cy="36576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PART ONE</a:t>
            </a:r>
            <a:endParaRPr lang="en-US" sz="1100" dirty="0"/>
          </a:p>
        </p:txBody>
      </p:sp>
      <p:sp>
        <p:nvSpPr>
          <p:cNvPr id="3" name="Text 1"/>
          <p:cNvSpPr/>
          <p:nvPr/>
        </p:nvSpPr>
        <p:spPr>
          <a:xfrm>
            <a:off x="548640" y="2743200"/>
            <a:ext cx="11094415" cy="914400"/>
          </a:xfrm>
          <a:prstGeom prst="rect">
            <a:avLst/>
          </a:prstGeom>
          <a:noFill/>
          <a:ln/>
        </p:spPr>
        <p:txBody>
          <a:bodyPr wrap="square" rtlCol="0" anchor="ctr"/>
          <a:lstStyle/>
          <a:p>
            <a:pPr indent="0" marL="0">
              <a:buNone/>
            </a:pPr>
            <a:r>
              <a:rPr lang="en-US" sz="3600" dirty="0">
                <a:solidFill>
                  <a:srgbClr val="0F1A24"/>
                </a:solidFill>
                <a:latin typeface="Arial" pitchFamily="34" charset="0"/>
                <a:ea typeface="Arial" pitchFamily="34" charset="-122"/>
                <a:cs typeface="Arial" pitchFamily="34" charset="-120"/>
              </a:rPr>
              <a:t>The OIA Reference Model</a:t>
            </a:r>
            <a:endParaRPr lang="en-US" sz="3600" dirty="0"/>
          </a:p>
        </p:txBody>
      </p:sp>
      <p:sp>
        <p:nvSpPr>
          <p:cNvPr id="4" name="Text 2"/>
          <p:cNvSpPr/>
          <p:nvPr/>
        </p:nvSpPr>
        <p:spPr>
          <a:xfrm>
            <a:off x="548640" y="3749040"/>
            <a:ext cx="11094415" cy="548640"/>
          </a:xfrm>
          <a:prstGeom prst="rect">
            <a:avLst/>
          </a:prstGeom>
          <a:noFill/>
          <a:ln/>
        </p:spPr>
        <p:txBody>
          <a:bodyPr wrap="square" rtlCol="0" anchor="ctr"/>
          <a:lstStyle/>
          <a:p>
            <a:pPr indent="0" marL="0">
              <a:buNone/>
            </a:pPr>
            <a:r>
              <a:rPr lang="en-US" sz="1600" i="1" dirty="0">
                <a:solidFill>
                  <a:srgbClr val="4A5562"/>
                </a:solidFill>
                <a:latin typeface="Arial" pitchFamily="34" charset="0"/>
                <a:ea typeface="Arial" pitchFamily="34" charset="-122"/>
                <a:cs typeface="Arial" pitchFamily="34" charset="-120"/>
              </a:rPr>
              <a:t>The structural shape of enterprise intelligent systems.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SECTION 2 OF THE REFERENCE PAPER</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Three properties define enterprise intelligent systems.</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2194560"/>
            <a:ext cx="3393338" cy="32004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PERSISTENCE</a:t>
            </a:r>
            <a:endParaRPr lang="en-US" sz="1100" dirty="0"/>
          </a:p>
        </p:txBody>
      </p:sp>
      <p:sp>
        <p:nvSpPr>
          <p:cNvPr id="6" name="Text 4"/>
          <p:cNvSpPr/>
          <p:nvPr/>
        </p:nvSpPr>
        <p:spPr>
          <a:xfrm>
            <a:off x="548640" y="2560320"/>
            <a:ext cx="3393338" cy="640080"/>
          </a:xfrm>
          <a:prstGeom prst="rect">
            <a:avLst/>
          </a:prstGeom>
          <a:noFill/>
          <a:ln/>
        </p:spPr>
        <p:txBody>
          <a:bodyPr wrap="square" rtlCol="0" anchor="ctr"/>
          <a:lstStyle/>
          <a:p>
            <a:pPr indent="0" marL="0">
              <a:buNone/>
            </a:pPr>
            <a:r>
              <a:rPr lang="en-US" sz="1600" dirty="0">
                <a:solidFill>
                  <a:srgbClr val="4A5562"/>
                </a:solidFill>
                <a:latin typeface="Arial" pitchFamily="34" charset="0"/>
                <a:ea typeface="Arial" pitchFamily="34" charset="-122"/>
                <a:cs typeface="Arial" pitchFamily="34" charset="-120"/>
              </a:rPr>
              <a:t>Intelligent systems maintain state across interactions.</a:t>
            </a:r>
            <a:endParaRPr lang="en-US" sz="1600" dirty="0"/>
          </a:p>
        </p:txBody>
      </p:sp>
      <p:sp>
        <p:nvSpPr>
          <p:cNvPr id="7" name="Text 5"/>
          <p:cNvSpPr/>
          <p:nvPr/>
        </p:nvSpPr>
        <p:spPr>
          <a:xfrm>
            <a:off x="548640" y="3474720"/>
            <a:ext cx="3393338" cy="219456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A conversation continues across sessions. An agent's knowledge of the organisation accumulates. A model's behaviour reflects its training history. Persistence is not optional — it is what makes the system useful, and what makes it harder to govern.</a:t>
            </a:r>
            <a:endParaRPr lang="en-US" sz="1300" dirty="0"/>
          </a:p>
        </p:txBody>
      </p:sp>
      <p:sp>
        <p:nvSpPr>
          <p:cNvPr id="8" name="Text 6"/>
          <p:cNvSpPr/>
          <p:nvPr/>
        </p:nvSpPr>
        <p:spPr>
          <a:xfrm>
            <a:off x="548640" y="5852160"/>
            <a:ext cx="3393338" cy="274320"/>
          </a:xfrm>
          <a:prstGeom prst="rect">
            <a:avLst/>
          </a:prstGeom>
          <a:noFill/>
          <a:ln/>
        </p:spPr>
        <p:txBody>
          <a:bodyPr wrap="square" rtlCol="0" anchor="ctr"/>
          <a:lstStyle/>
          <a:p>
            <a:pPr indent="0" marL="0">
              <a:buNone/>
            </a:pPr>
            <a:r>
              <a:rPr lang="en-US" sz="1100" i="1" dirty="0">
                <a:solidFill>
                  <a:srgbClr val="8B7340"/>
                </a:solidFill>
                <a:latin typeface="Arial" pitchFamily="34" charset="0"/>
                <a:ea typeface="Arial" pitchFamily="34" charset="-122"/>
                <a:cs typeface="Arial" pitchFamily="34" charset="-120"/>
              </a:rPr>
              <a:t>Layers 8 &amp; 3</a:t>
            </a:r>
            <a:endParaRPr lang="en-US" sz="1100" dirty="0"/>
          </a:p>
        </p:txBody>
      </p:sp>
      <p:sp>
        <p:nvSpPr>
          <p:cNvPr id="9" name="Text 7"/>
          <p:cNvSpPr/>
          <p:nvPr/>
        </p:nvSpPr>
        <p:spPr>
          <a:xfrm>
            <a:off x="4399178" y="2194560"/>
            <a:ext cx="3393338" cy="32004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AUTONOMY</a:t>
            </a:r>
            <a:endParaRPr lang="en-US" sz="1100" dirty="0"/>
          </a:p>
        </p:txBody>
      </p:sp>
      <p:sp>
        <p:nvSpPr>
          <p:cNvPr id="10" name="Text 8"/>
          <p:cNvSpPr/>
          <p:nvPr/>
        </p:nvSpPr>
        <p:spPr>
          <a:xfrm>
            <a:off x="4399178" y="2560320"/>
            <a:ext cx="3393338" cy="640080"/>
          </a:xfrm>
          <a:prstGeom prst="rect">
            <a:avLst/>
          </a:prstGeom>
          <a:noFill/>
          <a:ln/>
        </p:spPr>
        <p:txBody>
          <a:bodyPr wrap="square" rtlCol="0" anchor="ctr"/>
          <a:lstStyle/>
          <a:p>
            <a:pPr indent="0" marL="0">
              <a:buNone/>
            </a:pPr>
            <a:r>
              <a:rPr lang="en-US" sz="1600" dirty="0">
                <a:solidFill>
                  <a:srgbClr val="4A5562"/>
                </a:solidFill>
                <a:latin typeface="Arial" pitchFamily="34" charset="0"/>
                <a:ea typeface="Arial" pitchFamily="34" charset="-122"/>
                <a:cs typeface="Arial" pitchFamily="34" charset="-120"/>
              </a:rPr>
              <a:t>Intelligent systems act with degrees of autonomy past applications could not.</a:t>
            </a:r>
            <a:endParaRPr lang="en-US" sz="1600" dirty="0"/>
          </a:p>
        </p:txBody>
      </p:sp>
      <p:sp>
        <p:nvSpPr>
          <p:cNvPr id="11" name="Text 9"/>
          <p:cNvSpPr/>
          <p:nvPr/>
        </p:nvSpPr>
        <p:spPr>
          <a:xfrm>
            <a:off x="4399178" y="3474720"/>
            <a:ext cx="3393338" cy="219456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They take multi-step actions. They invoke tools. They make decisions inside scopes of authority that humans did not pre-approve case-by-case. They can act faster than humans can supervise them in the moment.</a:t>
            </a:r>
            <a:endParaRPr lang="en-US" sz="1300" dirty="0"/>
          </a:p>
        </p:txBody>
      </p:sp>
      <p:sp>
        <p:nvSpPr>
          <p:cNvPr id="12" name="Text 10"/>
          <p:cNvSpPr/>
          <p:nvPr/>
        </p:nvSpPr>
        <p:spPr>
          <a:xfrm>
            <a:off x="4399178" y="5852160"/>
            <a:ext cx="3393338" cy="274320"/>
          </a:xfrm>
          <a:prstGeom prst="rect">
            <a:avLst/>
          </a:prstGeom>
          <a:noFill/>
          <a:ln/>
        </p:spPr>
        <p:txBody>
          <a:bodyPr wrap="square" rtlCol="0" anchor="ctr"/>
          <a:lstStyle/>
          <a:p>
            <a:pPr indent="0" marL="0">
              <a:buNone/>
            </a:pPr>
            <a:r>
              <a:rPr lang="en-US" sz="1100" i="1" dirty="0">
                <a:solidFill>
                  <a:srgbClr val="8B7340"/>
                </a:solidFill>
                <a:latin typeface="Arial" pitchFamily="34" charset="0"/>
                <a:ea typeface="Arial" pitchFamily="34" charset="-122"/>
                <a:cs typeface="Arial" pitchFamily="34" charset="-120"/>
              </a:rPr>
              <a:t>Layer 7</a:t>
            </a:r>
            <a:endParaRPr lang="en-US" sz="1100" dirty="0"/>
          </a:p>
        </p:txBody>
      </p:sp>
      <p:sp>
        <p:nvSpPr>
          <p:cNvPr id="13" name="Text 11"/>
          <p:cNvSpPr/>
          <p:nvPr/>
        </p:nvSpPr>
        <p:spPr>
          <a:xfrm>
            <a:off x="8249717" y="2194560"/>
            <a:ext cx="3393338" cy="32004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CONSEQUENCE</a:t>
            </a:r>
            <a:endParaRPr lang="en-US" sz="1100" dirty="0"/>
          </a:p>
        </p:txBody>
      </p:sp>
      <p:sp>
        <p:nvSpPr>
          <p:cNvPr id="14" name="Text 12"/>
          <p:cNvSpPr/>
          <p:nvPr/>
        </p:nvSpPr>
        <p:spPr>
          <a:xfrm>
            <a:off x="8249717" y="2560320"/>
            <a:ext cx="3393338" cy="640080"/>
          </a:xfrm>
          <a:prstGeom prst="rect">
            <a:avLst/>
          </a:prstGeom>
          <a:noFill/>
          <a:ln/>
        </p:spPr>
        <p:txBody>
          <a:bodyPr wrap="square" rtlCol="0" anchor="ctr"/>
          <a:lstStyle/>
          <a:p>
            <a:pPr indent="0" marL="0">
              <a:buNone/>
            </a:pPr>
            <a:r>
              <a:rPr lang="en-US" sz="1600" dirty="0">
                <a:solidFill>
                  <a:srgbClr val="4A5562"/>
                </a:solidFill>
                <a:latin typeface="Arial" pitchFamily="34" charset="0"/>
                <a:ea typeface="Arial" pitchFamily="34" charset="-122"/>
                <a:cs typeface="Arial" pitchFamily="34" charset="-120"/>
              </a:rPr>
              <a:t>Outputs and actions whose correctness must be demonstrable, against current threat reality.</a:t>
            </a:r>
            <a:endParaRPr lang="en-US" sz="1600" dirty="0"/>
          </a:p>
        </p:txBody>
      </p:sp>
      <p:sp>
        <p:nvSpPr>
          <p:cNvPr id="15" name="Text 13"/>
          <p:cNvSpPr/>
          <p:nvPr/>
        </p:nvSpPr>
        <p:spPr>
          <a:xfrm>
            <a:off x="8249717" y="3474720"/>
            <a:ext cx="3393338" cy="219456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A patched library, a swapped model, a new jailbreak — each changes correctness mid-flight. Architectural posture is time-bound. Consequence is governed continuously, not at release.</a:t>
            </a:r>
            <a:endParaRPr lang="en-US" sz="1300" dirty="0"/>
          </a:p>
        </p:txBody>
      </p:sp>
      <p:sp>
        <p:nvSpPr>
          <p:cNvPr id="16" name="Text 14"/>
          <p:cNvSpPr/>
          <p:nvPr/>
        </p:nvSpPr>
        <p:spPr>
          <a:xfrm>
            <a:off x="8249717" y="5852160"/>
            <a:ext cx="3393338" cy="274320"/>
          </a:xfrm>
          <a:prstGeom prst="rect">
            <a:avLst/>
          </a:prstGeom>
          <a:noFill/>
          <a:ln/>
        </p:spPr>
        <p:txBody>
          <a:bodyPr wrap="square" rtlCol="0" anchor="ctr"/>
          <a:lstStyle/>
          <a:p>
            <a:pPr indent="0" marL="0">
              <a:buNone/>
            </a:pPr>
            <a:r>
              <a:rPr lang="en-US" sz="1100" i="1" dirty="0">
                <a:solidFill>
                  <a:srgbClr val="8B7340"/>
                </a:solidFill>
                <a:latin typeface="Arial" pitchFamily="34" charset="0"/>
                <a:ea typeface="Arial" pitchFamily="34" charset="-122"/>
                <a:cs typeface="Arial" pitchFamily="34" charset="-120"/>
              </a:rPr>
              <a:t>All seven cross-layer spans</a:t>
            </a:r>
            <a:endParaRPr lang="en-US" sz="1100" dirty="0"/>
          </a:p>
        </p:txBody>
      </p:sp>
      <p:sp>
        <p:nvSpPr>
          <p:cNvPr id="17" name="Shape 15"/>
          <p:cNvSpPr/>
          <p:nvPr/>
        </p:nvSpPr>
        <p:spPr>
          <a:xfrm>
            <a:off x="548640" y="6400800"/>
            <a:ext cx="11094415" cy="4572"/>
          </a:xfrm>
          <a:prstGeom prst="rect">
            <a:avLst/>
          </a:prstGeom>
          <a:solidFill>
            <a:srgbClr val="C9C0AD"/>
          </a:solidFill>
          <a:ln w="12700">
            <a:solidFill>
              <a:srgbClr val="C9C0AD"/>
            </a:solidFill>
            <a:prstDash val="solid"/>
          </a:ln>
        </p:spPr>
      </p:sp>
      <p:sp>
        <p:nvSpPr>
          <p:cNvPr id="18" name="Text 16"/>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19" name="Text 17"/>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THE ARCHITECTURE IN ONE FRAME</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Ten layers, numbered 0 through 9. Seven cross-layer spans.</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pic>
        <p:nvPicPr>
          <p:cNvPr id="5" name="Image 0" descr="/home/claude/oia-deck/OIA-Stack-v0_5_preview-1.png">    </p:cNvPr>
          <p:cNvPicPr>
            <a:picLocks noChangeAspect="1"/>
          </p:cNvPicPr>
          <p:nvPr/>
        </p:nvPicPr>
        <p:blipFill>
          <a:blip r:embed="rId1"/>
          <a:stretch>
            <a:fillRect/>
          </a:stretch>
        </p:blipFill>
        <p:spPr>
          <a:xfrm>
            <a:off x="3840480" y="1691640"/>
            <a:ext cx="4572000" cy="4617720"/>
          </a:xfrm>
          <a:prstGeom prst="rect">
            <a:avLst/>
          </a:prstGeom>
        </p:spPr>
      </p:pic>
      <p:sp>
        <p:nvSpPr>
          <p:cNvPr id="6" name="Text 3"/>
          <p:cNvSpPr/>
          <p:nvPr/>
        </p:nvSpPr>
        <p:spPr>
          <a:xfrm>
            <a:off x="548640" y="1828800"/>
            <a:ext cx="3108960" cy="4572000"/>
          </a:xfrm>
          <a:prstGeom prst="rect">
            <a:avLst/>
          </a:prstGeom>
          <a:noFill/>
          <a:ln/>
        </p:spPr>
        <p:txBody>
          <a:bodyPr wrap="square" rtlCol="0" anchor="ctr"/>
          <a:lstStyle/>
          <a:p>
            <a:pPr indent="0" marL="0">
              <a:spcAft>
                <a:spcPts val="800"/>
              </a:spcAft>
              <a:buNone/>
            </a:pPr>
            <a:r>
              <a:rPr lang="en-US" sz="1300" b="1" dirty="0">
                <a:solidFill>
                  <a:srgbClr val="0F1A24"/>
                </a:solidFill>
                <a:latin typeface="Arial" pitchFamily="34" charset="0"/>
                <a:ea typeface="Arial" pitchFamily="34" charset="-122"/>
                <a:cs typeface="Arial" pitchFamily="34" charset="-120"/>
              </a:rPr>
              <a:t>Layer 0 is the physical substrate.</a:t>
            </a:r>
            <a:endParaRPr lang="en-US" sz="1300" dirty="0"/>
          </a:p>
          <a:p>
            <a:pPr indent="0" marL="0">
              <a:spcAft>
                <a:spcPts val="800"/>
              </a:spcAft>
              <a:buNone/>
            </a:pPr>
            <a:r>
              <a:rPr lang="en-US" sz="1300" dirty="0">
                <a:solidFill>
                  <a:srgbClr val="0F1A24"/>
                </a:solidFill>
                <a:latin typeface="Arial" pitchFamily="34" charset="0"/>
                <a:ea typeface="Arial" pitchFamily="34" charset="-122"/>
                <a:cs typeface="Arial" pitchFamily="34" charset="-120"/>
              </a:rPr>
              <a:t>Layers 1–9 are the architectural stack.</a:t>
            </a:r>
            <a:endParaRPr lang="en-US" sz="1300" dirty="0"/>
          </a:p>
          <a:p>
            <a:pPr indent="0" marL="0">
              <a:spcAft>
                <a:spcPts val="800"/>
              </a:spcAft>
              <a:buNone/>
            </a:pPr>
            <a:r>
              <a:rPr lang="en-US" sz="1300" dirty="0">
                <a:solidFill>
                  <a:srgbClr val="0F1A24"/>
                </a:solidFill>
                <a:latin typeface="Arial" pitchFamily="34" charset="0"/>
                <a:ea typeface="Arial" pitchFamily="34" charset="-122"/>
                <a:cs typeface="Arial" pitchFamily="34" charset="-120"/>
              </a:rPr>
              <a:t> </a:t>
            </a:r>
            <a:endParaRPr lang="en-US" sz="1300" dirty="0"/>
          </a:p>
          <a:p>
            <a:pPr indent="0" marL="0">
              <a:spcAft>
                <a:spcPts val="800"/>
              </a:spcAft>
              <a:buNone/>
            </a:pPr>
            <a:r>
              <a:rPr lang="en-US" sz="1300" dirty="0">
                <a:solidFill>
                  <a:srgbClr val="0F1A24"/>
                </a:solidFill>
                <a:latin typeface="Arial" pitchFamily="34" charset="0"/>
                <a:ea typeface="Arial" pitchFamily="34" charset="-122"/>
                <a:cs typeface="Arial" pitchFamily="34" charset="-120"/>
              </a:rPr>
              <a:t>Two layers hold state: Layer 3 (substrate) and Layer 8 (fabric). The pairing is asymmetric — substrate below, fabric above the operational stack — and architecturally deliberate.</a:t>
            </a:r>
            <a:endParaRPr lang="en-US" sz="1300" dirty="0"/>
          </a:p>
          <a:p>
            <a:pPr indent="0" marL="0">
              <a:spcAft>
                <a:spcPts val="800"/>
              </a:spcAft>
              <a:buNone/>
            </a:pPr>
            <a:r>
              <a:rPr lang="en-US" sz="1300" dirty="0">
                <a:solidFill>
                  <a:srgbClr val="0F1A24"/>
                </a:solidFill>
                <a:latin typeface="Arial" pitchFamily="34" charset="0"/>
                <a:ea typeface="Arial" pitchFamily="34" charset="-122"/>
                <a:cs typeface="Arial" pitchFamily="34" charset="-120"/>
              </a:rPr>
              <a:t> </a:t>
            </a:r>
            <a:endParaRPr lang="en-US" sz="1300" dirty="0"/>
          </a:p>
          <a:p>
            <a:pPr indent="0" marL="0">
              <a:spcAft>
                <a:spcPts val="800"/>
              </a:spcAft>
              <a:buNone/>
            </a:pPr>
            <a:r>
              <a:rPr lang="en-US" sz="1300" dirty="0">
                <a:solidFill>
                  <a:srgbClr val="0F1A24"/>
                </a:solidFill>
                <a:latin typeface="Arial" pitchFamily="34" charset="0"/>
                <a:ea typeface="Arial" pitchFamily="34" charset="-122"/>
                <a:cs typeface="Arial" pitchFamily="34" charset="-120"/>
              </a:rPr>
              <a:t>Seven spans thread vertically: Security, Sovereignty, Auditability, Identity, Energy, Provenance, and — new in v0.5 — Verifiability.</a:t>
            </a:r>
            <a:endParaRPr lang="en-US" sz="1300" dirty="0"/>
          </a:p>
        </p:txBody>
      </p:sp>
      <p:sp>
        <p:nvSpPr>
          <p:cNvPr id="7"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8"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9"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LAYER 8 — THE ARCHITECTURAL CENTREPIECE</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The Continuity Fabric is the layer the rest of the architecture is paired against.</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1828800"/>
            <a:ext cx="11094415" cy="4572000"/>
          </a:xfrm>
          <a:prstGeom prst="rect">
            <a:avLst/>
          </a:prstGeom>
          <a:noFill/>
          <a:ln/>
        </p:spPr>
        <p:txBody>
          <a:bodyPr wrap="square" rtlCol="0" anchor="ctr"/>
          <a:lstStyle/>
          <a:p>
            <a:pPr indent="0" marL="0">
              <a:spcAft>
                <a:spcPts val="600"/>
              </a:spcAft>
              <a:buNone/>
            </a:pPr>
            <a:r>
              <a:rPr lang="en-US" sz="1600" b="1" dirty="0">
                <a:solidFill>
                  <a:srgbClr val="0F1A24"/>
                </a:solidFill>
                <a:latin typeface="Arial" pitchFamily="34" charset="0"/>
                <a:ea typeface="Arial" pitchFamily="34" charset="-122"/>
                <a:cs typeface="Arial" pitchFamily="34" charset="-120"/>
              </a:rPr>
              <a:t>Cognitive state preserved through change. Recovery, rollback, post-incident integrity.</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No agent framework, model provider, or orchestration platform can be allowed to own the enterprise's cognitive state — because all of them will eventually change.</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Layer 8 is the layer most consistently identified across audiences as the gap the existing technology stack does not yet fill:</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CISOs feel it as recovery and rollback gap.</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CIOs feel it as state-coherence gap across agent frameworks.</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Boards feel it as audit-chain integrity gap.</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i="1" dirty="0">
                <a:solidFill>
                  <a:srgbClr val="8B7340"/>
                </a:solidFill>
                <a:latin typeface="Arial" pitchFamily="34" charset="0"/>
                <a:ea typeface="Arial" pitchFamily="34" charset="-122"/>
                <a:cs typeface="Arial" pitchFamily="34" charset="-120"/>
              </a:rPr>
              <a:t>One layer. Three different audience readings. The same architectural absence.</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THE CONNECTIVE TISSUE ACROSS THE ARCHITECTURE</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Seven cross-layer spans thread through the model.</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201168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Security</a:t>
            </a:r>
            <a:endParaRPr lang="en-US" sz="1600" dirty="0"/>
          </a:p>
        </p:txBody>
      </p:sp>
      <p:sp>
        <p:nvSpPr>
          <p:cNvPr id="6" name="Text 4"/>
          <p:cNvSpPr/>
          <p:nvPr/>
        </p:nvSpPr>
        <p:spPr>
          <a:xfrm>
            <a:off x="2834640" y="201168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Widest scope. Threads through every layer.</a:t>
            </a:r>
            <a:endParaRPr lang="en-US" sz="1300" dirty="0"/>
          </a:p>
        </p:txBody>
      </p:sp>
      <p:sp>
        <p:nvSpPr>
          <p:cNvPr id="7" name="Text 5"/>
          <p:cNvSpPr/>
          <p:nvPr/>
        </p:nvSpPr>
        <p:spPr>
          <a:xfrm>
            <a:off x="6095848" y="201168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Sovereignty</a:t>
            </a:r>
            <a:endParaRPr lang="en-US" sz="1600" dirty="0"/>
          </a:p>
        </p:txBody>
      </p:sp>
      <p:sp>
        <p:nvSpPr>
          <p:cNvPr id="8" name="Text 6"/>
          <p:cNvSpPr/>
          <p:nvPr/>
        </p:nvSpPr>
        <p:spPr>
          <a:xfrm>
            <a:off x="8381848" y="201168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Three dimensions: jurisdictional, operational, energy.</a:t>
            </a:r>
            <a:endParaRPr lang="en-US" sz="1300" dirty="0"/>
          </a:p>
        </p:txBody>
      </p:sp>
      <p:sp>
        <p:nvSpPr>
          <p:cNvPr id="9" name="Text 7"/>
          <p:cNvSpPr/>
          <p:nvPr/>
        </p:nvSpPr>
        <p:spPr>
          <a:xfrm>
            <a:off x="548640" y="288036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Auditability</a:t>
            </a:r>
            <a:endParaRPr lang="en-US" sz="1600" dirty="0"/>
          </a:p>
        </p:txBody>
      </p:sp>
      <p:sp>
        <p:nvSpPr>
          <p:cNvPr id="10" name="Text 8"/>
          <p:cNvSpPr/>
          <p:nvPr/>
        </p:nvSpPr>
        <p:spPr>
          <a:xfrm>
            <a:off x="2834640" y="288036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The capacity to reconstruct, after the fact.</a:t>
            </a:r>
            <a:endParaRPr lang="en-US" sz="1300" dirty="0"/>
          </a:p>
        </p:txBody>
      </p:sp>
      <p:sp>
        <p:nvSpPr>
          <p:cNvPr id="11" name="Text 9"/>
          <p:cNvSpPr/>
          <p:nvPr/>
        </p:nvSpPr>
        <p:spPr>
          <a:xfrm>
            <a:off x="6095848" y="288036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Identity</a:t>
            </a:r>
            <a:endParaRPr lang="en-US" sz="1600" dirty="0"/>
          </a:p>
        </p:txBody>
      </p:sp>
      <p:sp>
        <p:nvSpPr>
          <p:cNvPr id="12" name="Text 10"/>
          <p:cNvSpPr/>
          <p:nvPr/>
        </p:nvSpPr>
        <p:spPr>
          <a:xfrm>
            <a:off x="8381848" y="288036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Three actors: humans, agents, foundation models.</a:t>
            </a:r>
            <a:endParaRPr lang="en-US" sz="1300" dirty="0"/>
          </a:p>
        </p:txBody>
      </p:sp>
      <p:sp>
        <p:nvSpPr>
          <p:cNvPr id="13" name="Text 11"/>
          <p:cNvSpPr/>
          <p:nvPr/>
        </p:nvSpPr>
        <p:spPr>
          <a:xfrm>
            <a:off x="548640" y="374904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Energy</a:t>
            </a:r>
            <a:endParaRPr lang="en-US" sz="1600" dirty="0"/>
          </a:p>
        </p:txBody>
      </p:sp>
      <p:sp>
        <p:nvSpPr>
          <p:cNvPr id="14" name="Text 12"/>
          <p:cNvSpPr/>
          <p:nvPr/>
        </p:nvSpPr>
        <p:spPr>
          <a:xfrm>
            <a:off x="2834640" y="374904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Architectural, not just operational.</a:t>
            </a:r>
            <a:endParaRPr lang="en-US" sz="1300" dirty="0"/>
          </a:p>
        </p:txBody>
      </p:sp>
      <p:sp>
        <p:nvSpPr>
          <p:cNvPr id="15" name="Text 13"/>
          <p:cNvSpPr/>
          <p:nvPr/>
        </p:nvSpPr>
        <p:spPr>
          <a:xfrm>
            <a:off x="6095848" y="374904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Provenance</a:t>
            </a:r>
            <a:endParaRPr lang="en-US" sz="1600" dirty="0"/>
          </a:p>
        </p:txBody>
      </p:sp>
      <p:sp>
        <p:nvSpPr>
          <p:cNvPr id="16" name="Text 14"/>
          <p:cNvSpPr/>
          <p:nvPr/>
        </p:nvSpPr>
        <p:spPr>
          <a:xfrm>
            <a:off x="8381848" y="374904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Lineage of information, models, decisions, actions.</a:t>
            </a:r>
            <a:endParaRPr lang="en-US" sz="1300" dirty="0"/>
          </a:p>
        </p:txBody>
      </p:sp>
      <p:sp>
        <p:nvSpPr>
          <p:cNvPr id="17" name="Text 15"/>
          <p:cNvSpPr/>
          <p:nvPr/>
        </p:nvSpPr>
        <p:spPr>
          <a:xfrm>
            <a:off x="548640" y="4617720"/>
            <a:ext cx="22860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Verifiability</a:t>
            </a:r>
            <a:endParaRPr lang="en-US" sz="1600" dirty="0"/>
          </a:p>
        </p:txBody>
      </p:sp>
      <p:sp>
        <p:nvSpPr>
          <p:cNvPr id="18" name="Text 16"/>
          <p:cNvSpPr/>
          <p:nvPr/>
        </p:nvSpPr>
        <p:spPr>
          <a:xfrm>
            <a:off x="2834640" y="4617720"/>
            <a:ext cx="3261208" cy="54864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Cryptographic proof, not contractual assertion. New in v0.5.</a:t>
            </a:r>
            <a:endParaRPr lang="en-US" sz="1300" dirty="0"/>
          </a:p>
        </p:txBody>
      </p:sp>
      <p:sp>
        <p:nvSpPr>
          <p:cNvPr id="19" name="Shape 17"/>
          <p:cNvSpPr/>
          <p:nvPr/>
        </p:nvSpPr>
        <p:spPr>
          <a:xfrm>
            <a:off x="548640" y="6400800"/>
            <a:ext cx="11094415" cy="4572"/>
          </a:xfrm>
          <a:prstGeom prst="rect">
            <a:avLst/>
          </a:prstGeom>
          <a:solidFill>
            <a:srgbClr val="C9C0AD"/>
          </a:solidFill>
          <a:ln w="12700">
            <a:solidFill>
              <a:srgbClr val="C9C0AD"/>
            </a:solidFill>
            <a:prstDash val="solid"/>
          </a:ln>
        </p:spPr>
      </p:sp>
      <p:sp>
        <p:nvSpPr>
          <p:cNvPr id="20" name="Text 18"/>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21" name="Text 19"/>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THE AGENTIC ERA THREAT SURFACES</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Four named threats land inside the operational stack — not at the perimeter.</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pic>
        <p:nvPicPr>
          <p:cNvPr id="5" name="Image 0" descr="/home/claude/oia-deck/OIA-Threat-Surfaces-v0_5_preview-1.png">    </p:cNvPr>
          <p:cNvPicPr>
            <a:picLocks noChangeAspect="1"/>
          </p:cNvPicPr>
          <p:nvPr/>
        </p:nvPicPr>
        <p:blipFill>
          <a:blip r:embed="rId1"/>
          <a:stretch>
            <a:fillRect/>
          </a:stretch>
        </p:blipFill>
        <p:spPr>
          <a:xfrm>
            <a:off x="4023360" y="1691640"/>
            <a:ext cx="4114800" cy="4617720"/>
          </a:xfrm>
          <a:prstGeom prst="rect">
            <a:avLst/>
          </a:prstGeom>
        </p:spPr>
      </p:pic>
      <p:sp>
        <p:nvSpPr>
          <p:cNvPr id="6" name="Text 3"/>
          <p:cNvSpPr/>
          <p:nvPr/>
        </p:nvSpPr>
        <p:spPr>
          <a:xfrm>
            <a:off x="548640" y="1828800"/>
            <a:ext cx="3291840" cy="4572000"/>
          </a:xfrm>
          <a:prstGeom prst="rect">
            <a:avLst/>
          </a:prstGeom>
          <a:noFill/>
          <a:ln/>
        </p:spPr>
        <p:txBody>
          <a:bodyPr wrap="square" rtlCol="0" anchor="ctr"/>
          <a:lstStyle/>
          <a:p>
            <a:pPr indent="0" marL="0">
              <a:spcAft>
                <a:spcPts val="400"/>
              </a:spcAft>
              <a:buNone/>
            </a:pPr>
            <a:r>
              <a:rPr lang="en-US" sz="1300" b="1" dirty="0">
                <a:solidFill>
                  <a:srgbClr val="0F1A24"/>
                </a:solidFill>
                <a:latin typeface="Arial" pitchFamily="34" charset="0"/>
                <a:ea typeface="Arial" pitchFamily="34" charset="-122"/>
                <a:cs typeface="Arial" pitchFamily="34" charset="-120"/>
              </a:rPr>
              <a:t>Mimicry</a:t>
            </a:r>
            <a:endParaRPr lang="en-US" sz="1300" dirty="0"/>
          </a:p>
          <a:p>
            <a:pPr indent="0" marL="0">
              <a:spcAft>
                <a:spcPts val="600"/>
              </a:spcAft>
              <a:buNone/>
            </a:pPr>
            <a:r>
              <a:rPr lang="en-US" sz="1300" dirty="0">
                <a:solidFill>
                  <a:srgbClr val="0F1A24"/>
                </a:solidFill>
                <a:latin typeface="Arial" pitchFamily="34" charset="0"/>
                <a:ea typeface="Arial" pitchFamily="34" charset="-122"/>
                <a:cs typeface="Arial" pitchFamily="34" charset="-120"/>
              </a:rPr>
              <a:t>Telling humans from agents — and AI from real people — at every entry point.</a:t>
            </a:r>
            <a:endParaRPr lang="en-US" sz="1300" dirty="0"/>
          </a:p>
          <a:p>
            <a:pPr indent="0" marL="0">
              <a:spcAft>
                <a:spcPts val="400"/>
              </a:spcAft>
              <a:buNone/>
            </a:pPr>
            <a:r>
              <a:rPr lang="en-US" sz="1300" dirty="0">
                <a:solidFill>
                  <a:srgbClr val="0F1A24"/>
                </a:solidFill>
                <a:latin typeface="Arial" pitchFamily="34" charset="0"/>
                <a:ea typeface="Arial" pitchFamily="34" charset="-122"/>
                <a:cs typeface="Arial" pitchFamily="34" charset="-120"/>
              </a:rPr>
              <a:t> </a:t>
            </a:r>
            <a:endParaRPr lang="en-US" sz="1300" dirty="0"/>
          </a:p>
          <a:p>
            <a:pPr indent="0" marL="0">
              <a:spcAft>
                <a:spcPts val="400"/>
              </a:spcAft>
              <a:buNone/>
            </a:pPr>
            <a:r>
              <a:rPr lang="en-US" sz="1300" b="1" dirty="0">
                <a:solidFill>
                  <a:srgbClr val="0F1A24"/>
                </a:solidFill>
                <a:latin typeface="Arial" pitchFamily="34" charset="0"/>
                <a:ea typeface="Arial" pitchFamily="34" charset="-122"/>
                <a:cs typeface="Arial" pitchFamily="34" charset="-120"/>
              </a:rPr>
              <a:t>Agent-in-the-middle</a:t>
            </a:r>
            <a:endParaRPr lang="en-US" sz="1300" dirty="0"/>
          </a:p>
          <a:p>
            <a:pPr indent="0" marL="0">
              <a:spcAft>
                <a:spcPts val="400"/>
              </a:spcAft>
              <a:buNone/>
            </a:pPr>
            <a:r>
              <a:rPr lang="en-US" sz="1300" dirty="0">
                <a:solidFill>
                  <a:srgbClr val="0F1A24"/>
                </a:solidFill>
                <a:latin typeface="Arial" pitchFamily="34" charset="0"/>
                <a:ea typeface="Arial" pitchFamily="34" charset="-122"/>
                <a:cs typeface="Arial" pitchFamily="34" charset="-120"/>
              </a:rPr>
              <a:t>Adversarial intermediary between agent and tool. The agentic SSL strip.</a:t>
            </a:r>
            <a:endParaRPr lang="en-US" sz="1300" dirty="0"/>
          </a:p>
          <a:p>
            <a:pPr indent="0" marL="0">
              <a:spcAft>
                <a:spcPts val="400"/>
              </a:spcAft>
              <a:buNone/>
            </a:pPr>
            <a:r>
              <a:rPr lang="en-US" sz="1300" dirty="0">
                <a:solidFill>
                  <a:srgbClr val="0F1A24"/>
                </a:solidFill>
                <a:latin typeface="Arial" pitchFamily="34" charset="0"/>
                <a:ea typeface="Arial" pitchFamily="34" charset="-122"/>
                <a:cs typeface="Arial" pitchFamily="34" charset="-120"/>
              </a:rPr>
              <a:t> </a:t>
            </a:r>
            <a:endParaRPr lang="en-US" sz="1300" dirty="0"/>
          </a:p>
          <a:p>
            <a:pPr indent="0" marL="0">
              <a:spcAft>
                <a:spcPts val="400"/>
              </a:spcAft>
              <a:buNone/>
            </a:pPr>
            <a:r>
              <a:rPr lang="en-US" sz="1300" b="1" dirty="0">
                <a:solidFill>
                  <a:srgbClr val="0F1A24"/>
                </a:solidFill>
                <a:latin typeface="Arial" pitchFamily="34" charset="0"/>
                <a:ea typeface="Arial" pitchFamily="34" charset="-122"/>
                <a:cs typeface="Arial" pitchFamily="34" charset="-120"/>
              </a:rPr>
              <a:t>Agent spoofing</a:t>
            </a:r>
            <a:endParaRPr lang="en-US" sz="1300" dirty="0"/>
          </a:p>
          <a:p>
            <a:pPr indent="0" marL="0">
              <a:spcAft>
                <a:spcPts val="400"/>
              </a:spcAft>
              <a:buNone/>
            </a:pPr>
            <a:r>
              <a:rPr lang="en-US" sz="1300" dirty="0">
                <a:solidFill>
                  <a:srgbClr val="0F1A24"/>
                </a:solidFill>
                <a:latin typeface="Arial" pitchFamily="34" charset="0"/>
                <a:ea typeface="Arial" pitchFamily="34" charset="-122"/>
                <a:cs typeface="Arial" pitchFamily="34" charset="-120"/>
              </a:rPr>
              <a:t>Agent identities inheriting trust they should not have.</a:t>
            </a:r>
            <a:endParaRPr lang="en-US" sz="1300" dirty="0"/>
          </a:p>
          <a:p>
            <a:pPr indent="0" marL="0">
              <a:spcAft>
                <a:spcPts val="400"/>
              </a:spcAft>
              <a:buNone/>
            </a:pPr>
            <a:r>
              <a:rPr lang="en-US" sz="1300" dirty="0">
                <a:solidFill>
                  <a:srgbClr val="0F1A24"/>
                </a:solidFill>
                <a:latin typeface="Arial" pitchFamily="34" charset="0"/>
                <a:ea typeface="Arial" pitchFamily="34" charset="-122"/>
                <a:cs typeface="Arial" pitchFamily="34" charset="-120"/>
              </a:rPr>
              <a:t> </a:t>
            </a:r>
            <a:endParaRPr lang="en-US" sz="1300" dirty="0"/>
          </a:p>
          <a:p>
            <a:pPr indent="0" marL="0">
              <a:spcAft>
                <a:spcPts val="400"/>
              </a:spcAft>
              <a:buNone/>
            </a:pPr>
            <a:r>
              <a:rPr lang="en-US" sz="1300" b="1" dirty="0">
                <a:solidFill>
                  <a:srgbClr val="0F1A24"/>
                </a:solidFill>
                <a:latin typeface="Arial" pitchFamily="34" charset="0"/>
                <a:ea typeface="Arial" pitchFamily="34" charset="-122"/>
                <a:cs typeface="Arial" pitchFamily="34" charset="-120"/>
              </a:rPr>
              <a:t>Model compromise</a:t>
            </a:r>
            <a:endParaRPr lang="en-US" sz="1300" dirty="0"/>
          </a:p>
          <a:p>
            <a:pPr indent="0" marL="0">
              <a:spcAft>
                <a:spcPts val="400"/>
              </a:spcAft>
              <a:buNone/>
            </a:pPr>
            <a:r>
              <a:rPr lang="en-US" sz="1300" dirty="0">
                <a:solidFill>
                  <a:srgbClr val="0F1A24"/>
                </a:solidFill>
                <a:latin typeface="Arial" pitchFamily="34" charset="0"/>
                <a:ea typeface="Arial" pitchFamily="34" charset="-122"/>
                <a:cs typeface="Arial" pitchFamily="34" charset="-120"/>
              </a:rPr>
              <a:t>The trusted model that is no longer trustworthy. Weight swap, alignment drift, jailbreak.</a:t>
            </a:r>
            <a:endParaRPr lang="en-US" sz="1300" dirty="0"/>
          </a:p>
        </p:txBody>
      </p:sp>
      <p:sp>
        <p:nvSpPr>
          <p:cNvPr id="7"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8"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9"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2286000"/>
            <a:ext cx="11094415" cy="36576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PART TWO</a:t>
            </a:r>
            <a:endParaRPr lang="en-US" sz="1100" dirty="0"/>
          </a:p>
        </p:txBody>
      </p:sp>
      <p:sp>
        <p:nvSpPr>
          <p:cNvPr id="3" name="Text 1"/>
          <p:cNvSpPr/>
          <p:nvPr/>
        </p:nvSpPr>
        <p:spPr>
          <a:xfrm>
            <a:off x="548640" y="2743200"/>
            <a:ext cx="11094415" cy="914400"/>
          </a:xfrm>
          <a:prstGeom prst="rect">
            <a:avLst/>
          </a:prstGeom>
          <a:noFill/>
          <a:ln/>
        </p:spPr>
        <p:txBody>
          <a:bodyPr wrap="square" rtlCol="0" anchor="ctr"/>
          <a:lstStyle/>
          <a:p>
            <a:pPr indent="0" marL="0">
              <a:buNone/>
            </a:pPr>
            <a:r>
              <a:rPr lang="en-US" sz="3600" dirty="0">
                <a:solidFill>
                  <a:srgbClr val="0F1A24"/>
                </a:solidFill>
                <a:latin typeface="Arial" pitchFamily="34" charset="0"/>
                <a:ea typeface="Arial" pitchFamily="34" charset="-122"/>
                <a:cs typeface="Arial" pitchFamily="34" charset="-120"/>
              </a:rPr>
              <a:t>The OIA Lens System</a:t>
            </a:r>
            <a:endParaRPr lang="en-US" sz="3600" dirty="0"/>
          </a:p>
        </p:txBody>
      </p:sp>
      <p:sp>
        <p:nvSpPr>
          <p:cNvPr id="4" name="Text 2"/>
          <p:cNvSpPr/>
          <p:nvPr/>
        </p:nvSpPr>
        <p:spPr>
          <a:xfrm>
            <a:off x="548640" y="3749040"/>
            <a:ext cx="11094415" cy="548640"/>
          </a:xfrm>
          <a:prstGeom prst="rect">
            <a:avLst/>
          </a:prstGeom>
          <a:noFill/>
          <a:ln/>
        </p:spPr>
        <p:txBody>
          <a:bodyPr wrap="square" rtlCol="0" anchor="ctr"/>
          <a:lstStyle/>
          <a:p>
            <a:pPr indent="0" marL="0">
              <a:buNone/>
            </a:pPr>
            <a:r>
              <a:rPr lang="en-US" sz="1600" i="1" dirty="0">
                <a:solidFill>
                  <a:srgbClr val="4A5562"/>
                </a:solidFill>
                <a:latin typeface="Arial" pitchFamily="34" charset="0"/>
                <a:ea typeface="Arial" pitchFamily="34" charset="-122"/>
                <a:cs typeface="Arial" pitchFamily="34" charset="-120"/>
              </a:rPr>
              <a:t>How the architecture reaches the executives accountable for AI.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THE ARCHITECTURE ALONE IS NOT ENOUGH</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Reference architectures become foundational only when audiences can find themselves in them.</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1828800"/>
            <a:ext cx="11094415" cy="4572000"/>
          </a:xfrm>
          <a:prstGeom prst="rect">
            <a:avLst/>
          </a:prstGeom>
          <a:noFill/>
          <a:ln/>
        </p:spPr>
        <p:txBody>
          <a:bodyPr wrap="square" rtlCol="0" anchor="ctr"/>
          <a:lstStyle/>
          <a:p>
            <a:pPr indent="0" marL="0">
              <a:spcAft>
                <a:spcPts val="600"/>
              </a:spcAft>
              <a:buNone/>
            </a:pPr>
            <a:r>
              <a:rPr lang="en-US" sz="1600" dirty="0">
                <a:solidFill>
                  <a:srgbClr val="0F1A24"/>
                </a:solidFill>
                <a:latin typeface="Arial" pitchFamily="34" charset="0"/>
                <a:ea typeface="Arial" pitchFamily="34" charset="-122"/>
                <a:cs typeface="Arial" pitchFamily="34" charset="-120"/>
              </a:rPr>
              <a:t>The OIA is intentionally neutral. Vendor-neutral. Audience-neutral. That neutrality is what gives the architecture its durability.</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b="1" dirty="0">
                <a:solidFill>
                  <a:srgbClr val="0F1A24"/>
                </a:solidFill>
                <a:latin typeface="Arial" pitchFamily="34" charset="0"/>
                <a:ea typeface="Arial" pitchFamily="34" charset="-122"/>
                <a:cs typeface="Arial" pitchFamily="34" charset="-120"/>
              </a:rPr>
              <a:t>It also creates a problem.</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Most executives accountable for AI do not work from structural specifications. They work from their own frameworks, their regulatory environment, the questions on their desk this quarter.</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Without translation, the OIA risks being filed as a security document by the first CISO who picks it up — or as a strategy paper that never reaches the engineers who must build to it.</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b="1" i="1" dirty="0">
                <a:solidFill>
                  <a:srgbClr val="8B7340"/>
                </a:solidFill>
                <a:latin typeface="Arial" pitchFamily="34" charset="0"/>
                <a:ea typeface="Arial" pitchFamily="34" charset="-122"/>
                <a:cs typeface="Arial" pitchFamily="34" charset="-120"/>
              </a:rPr>
              <a:t>The Lens System is the translation.</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HOW A LENS MAP WORKS</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The architecture is invariant. The overlay changes per audience.</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pic>
        <p:nvPicPr>
          <p:cNvPr id="5" name="Image 0" descr="/home/claude/oia-deck/OIA-Lens-Overlay-v0_5_preview-1.png">    </p:cNvPr>
          <p:cNvPicPr>
            <a:picLocks noChangeAspect="1"/>
          </p:cNvPicPr>
          <p:nvPr/>
        </p:nvPicPr>
        <p:blipFill>
          <a:blip r:embed="rId1"/>
          <a:stretch>
            <a:fillRect/>
          </a:stretch>
        </p:blipFill>
        <p:spPr>
          <a:xfrm>
            <a:off x="2743200" y="1691640"/>
            <a:ext cx="6675120" cy="4617720"/>
          </a:xfrm>
          <a:prstGeom prst="rect">
            <a:avLst/>
          </a:prstGeom>
        </p:spPr>
      </p:pic>
      <p:sp>
        <p:nvSpPr>
          <p:cNvPr id="6" name="Shape 3"/>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4"/>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5"/>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THREE LENSES PUBLISHED WITH V0.5</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One architecture. Three audiences. Each in their own language.</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Shape 3"/>
          <p:cNvSpPr/>
          <p:nvPr/>
        </p:nvSpPr>
        <p:spPr>
          <a:xfrm>
            <a:off x="548640" y="2194560"/>
            <a:ext cx="1463040" cy="292608"/>
          </a:xfrm>
          <a:prstGeom prst="roundRect">
            <a:avLst>
              <a:gd name="adj" fmla="val 50000"/>
            </a:avLst>
          </a:prstGeom>
          <a:solidFill>
            <a:srgbClr val="8B1F1F"/>
          </a:solidFill>
          <a:ln w="12700">
            <a:solidFill>
              <a:srgbClr val="8B1F1F"/>
            </a:solidFill>
            <a:prstDash val="solid"/>
          </a:ln>
        </p:spPr>
      </p:sp>
      <p:sp>
        <p:nvSpPr>
          <p:cNvPr id="6" name="Text 4"/>
          <p:cNvSpPr/>
          <p:nvPr/>
        </p:nvSpPr>
        <p:spPr>
          <a:xfrm>
            <a:off x="548640" y="2194560"/>
            <a:ext cx="1463040" cy="292608"/>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THE SECURITY ORGANISATION</a:t>
            </a:r>
            <a:endParaRPr lang="en-US" sz="800" dirty="0"/>
          </a:p>
        </p:txBody>
      </p:sp>
      <p:sp>
        <p:nvSpPr>
          <p:cNvPr id="7" name="Text 5"/>
          <p:cNvSpPr/>
          <p:nvPr/>
        </p:nvSpPr>
        <p:spPr>
          <a:xfrm>
            <a:off x="548640" y="2651760"/>
            <a:ext cx="3393338" cy="45720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The CISO Lens</a:t>
            </a:r>
            <a:endParaRPr lang="en-US" sz="1600" dirty="0"/>
          </a:p>
        </p:txBody>
      </p:sp>
      <p:sp>
        <p:nvSpPr>
          <p:cNvPr id="8" name="Text 6"/>
          <p:cNvSpPr/>
          <p:nvPr/>
        </p:nvSpPr>
        <p:spPr>
          <a:xfrm>
            <a:off x="548640" y="3200400"/>
            <a:ext cx="3393338" cy="201168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Calibrated to the threat surfaces, frameworks, and planning questions of CISOs in 2026. Three actors to govern: humans, agents, and the foundation models themselves.</a:t>
            </a:r>
            <a:endParaRPr lang="en-US" sz="1300" dirty="0"/>
          </a:p>
        </p:txBody>
      </p:sp>
      <p:sp>
        <p:nvSpPr>
          <p:cNvPr id="9" name="Text 7"/>
          <p:cNvSpPr/>
          <p:nvPr/>
        </p:nvSpPr>
        <p:spPr>
          <a:xfrm>
            <a:off x="548640" y="5394960"/>
            <a:ext cx="3393338" cy="228600"/>
          </a:xfrm>
          <a:prstGeom prst="rect">
            <a:avLst/>
          </a:prstGeom>
          <a:noFill/>
          <a:ln/>
        </p:spPr>
        <p:txBody>
          <a:bodyPr wrap="square" rtlCol="0" anchor="ctr"/>
          <a:lstStyle/>
          <a:p>
            <a:pPr indent="0" marL="0">
              <a:buNone/>
            </a:pPr>
            <a:r>
              <a:rPr lang="en-US" sz="800" b="1" spc="100" kern="0" dirty="0">
                <a:solidFill>
                  <a:srgbClr val="8B7340"/>
                </a:solidFill>
                <a:latin typeface="Arial" pitchFamily="34" charset="0"/>
                <a:ea typeface="Arial" pitchFamily="34" charset="-122"/>
                <a:cs typeface="Arial" pitchFamily="34" charset="-120"/>
              </a:rPr>
              <a:t>FRAMEWORK ANCHORS</a:t>
            </a:r>
            <a:endParaRPr lang="en-US" sz="800" dirty="0"/>
          </a:p>
        </p:txBody>
      </p:sp>
      <p:sp>
        <p:nvSpPr>
          <p:cNvPr id="10" name="Text 8"/>
          <p:cNvSpPr/>
          <p:nvPr/>
        </p:nvSpPr>
        <p:spPr>
          <a:xfrm>
            <a:off x="548640" y="5669280"/>
            <a:ext cx="3393338" cy="914400"/>
          </a:xfrm>
          <a:prstGeom prst="rect">
            <a:avLst/>
          </a:prstGeom>
          <a:noFill/>
          <a:ln/>
        </p:spPr>
        <p:txBody>
          <a:bodyPr wrap="square" rtlCol="0" anchor="ctr"/>
          <a:lstStyle/>
          <a:p>
            <a:pPr indent="0" marL="0">
              <a:buNone/>
            </a:pPr>
            <a:r>
              <a:rPr lang="en-US" sz="1100" dirty="0">
                <a:solidFill>
                  <a:srgbClr val="4A5562"/>
                </a:solidFill>
                <a:latin typeface="Arial" pitchFamily="34" charset="0"/>
                <a:ea typeface="Arial" pitchFamily="34" charset="-122"/>
                <a:cs typeface="Arial" pitchFamily="34" charset="-120"/>
              </a:rPr>
              <a:t>NIST CSF · NIST AI RMF · MITRE ATLAS · MITRE D3FEND · OWASP LLM · CCC</a:t>
            </a:r>
            <a:endParaRPr lang="en-US" sz="1100" dirty="0"/>
          </a:p>
        </p:txBody>
      </p:sp>
      <p:sp>
        <p:nvSpPr>
          <p:cNvPr id="11" name="Shape 9"/>
          <p:cNvSpPr/>
          <p:nvPr/>
        </p:nvSpPr>
        <p:spPr>
          <a:xfrm>
            <a:off x="4399178" y="2194560"/>
            <a:ext cx="1463040" cy="292608"/>
          </a:xfrm>
          <a:prstGeom prst="roundRect">
            <a:avLst>
              <a:gd name="adj" fmla="val 50000"/>
            </a:avLst>
          </a:prstGeom>
          <a:solidFill>
            <a:srgbClr val="1B5050"/>
          </a:solidFill>
          <a:ln w="12700">
            <a:solidFill>
              <a:srgbClr val="1B5050"/>
            </a:solidFill>
            <a:prstDash val="solid"/>
          </a:ln>
        </p:spPr>
      </p:sp>
      <p:sp>
        <p:nvSpPr>
          <p:cNvPr id="12" name="Text 10"/>
          <p:cNvSpPr/>
          <p:nvPr/>
        </p:nvSpPr>
        <p:spPr>
          <a:xfrm>
            <a:off x="4399178" y="2194560"/>
            <a:ext cx="1463040" cy="292608"/>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THE TECHNOLOGY ORGANISATION</a:t>
            </a:r>
            <a:endParaRPr lang="en-US" sz="800" dirty="0"/>
          </a:p>
        </p:txBody>
      </p:sp>
      <p:sp>
        <p:nvSpPr>
          <p:cNvPr id="13" name="Text 11"/>
          <p:cNvSpPr/>
          <p:nvPr/>
        </p:nvSpPr>
        <p:spPr>
          <a:xfrm>
            <a:off x="4399178" y="2651760"/>
            <a:ext cx="3393338" cy="45720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The CIO/CTO Lens</a:t>
            </a:r>
            <a:endParaRPr lang="en-US" sz="1600" dirty="0"/>
          </a:p>
        </p:txBody>
      </p:sp>
      <p:sp>
        <p:nvSpPr>
          <p:cNvPr id="14" name="Text 12"/>
          <p:cNvSpPr/>
          <p:nvPr/>
        </p:nvSpPr>
        <p:spPr>
          <a:xfrm>
            <a:off x="4399178" y="3200400"/>
            <a:ext cx="3393338" cy="201168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Calibrated to the conversations about coherence, capital allocation, vendor concentration, and architectural debt that the technology executive is having now.</a:t>
            </a:r>
            <a:endParaRPr lang="en-US" sz="1300" dirty="0"/>
          </a:p>
        </p:txBody>
      </p:sp>
      <p:sp>
        <p:nvSpPr>
          <p:cNvPr id="15" name="Text 13"/>
          <p:cNvSpPr/>
          <p:nvPr/>
        </p:nvSpPr>
        <p:spPr>
          <a:xfrm>
            <a:off x="4399178" y="5394960"/>
            <a:ext cx="3393338" cy="228600"/>
          </a:xfrm>
          <a:prstGeom prst="rect">
            <a:avLst/>
          </a:prstGeom>
          <a:noFill/>
          <a:ln/>
        </p:spPr>
        <p:txBody>
          <a:bodyPr wrap="square" rtlCol="0" anchor="ctr"/>
          <a:lstStyle/>
          <a:p>
            <a:pPr indent="0" marL="0">
              <a:buNone/>
            </a:pPr>
            <a:r>
              <a:rPr lang="en-US" sz="800" b="1" spc="100" kern="0" dirty="0">
                <a:solidFill>
                  <a:srgbClr val="8B7340"/>
                </a:solidFill>
                <a:latin typeface="Arial" pitchFamily="34" charset="0"/>
                <a:ea typeface="Arial" pitchFamily="34" charset="-122"/>
                <a:cs typeface="Arial" pitchFamily="34" charset="-120"/>
              </a:rPr>
              <a:t>FRAMEWORK ANCHORS</a:t>
            </a:r>
            <a:endParaRPr lang="en-US" sz="800" dirty="0"/>
          </a:p>
        </p:txBody>
      </p:sp>
      <p:sp>
        <p:nvSpPr>
          <p:cNvPr id="16" name="Text 14"/>
          <p:cNvSpPr/>
          <p:nvPr/>
        </p:nvSpPr>
        <p:spPr>
          <a:xfrm>
            <a:off x="4399178" y="5669280"/>
            <a:ext cx="3393338" cy="914400"/>
          </a:xfrm>
          <a:prstGeom prst="rect">
            <a:avLst/>
          </a:prstGeom>
          <a:noFill/>
          <a:ln/>
        </p:spPr>
        <p:txBody>
          <a:bodyPr wrap="square" rtlCol="0" anchor="ctr"/>
          <a:lstStyle/>
          <a:p>
            <a:pPr indent="0" marL="0">
              <a:buNone/>
            </a:pPr>
            <a:r>
              <a:rPr lang="en-US" sz="1100" dirty="0">
                <a:solidFill>
                  <a:srgbClr val="4A5562"/>
                </a:solidFill>
                <a:latin typeface="Arial" pitchFamily="34" charset="0"/>
                <a:ea typeface="Arial" pitchFamily="34" charset="-122"/>
                <a:cs typeface="Arial" pitchFamily="34" charset="-120"/>
              </a:rPr>
              <a:t>TOGAF · ITIL · FinOps · ISO/IEC 42001 · platform engineering · SRE</a:t>
            </a:r>
            <a:endParaRPr lang="en-US" sz="1100" dirty="0"/>
          </a:p>
        </p:txBody>
      </p:sp>
      <p:sp>
        <p:nvSpPr>
          <p:cNvPr id="17" name="Shape 15"/>
          <p:cNvSpPr/>
          <p:nvPr/>
        </p:nvSpPr>
        <p:spPr>
          <a:xfrm>
            <a:off x="8249717" y="2194560"/>
            <a:ext cx="1463040" cy="292608"/>
          </a:xfrm>
          <a:prstGeom prst="roundRect">
            <a:avLst>
              <a:gd name="adj" fmla="val 50000"/>
            </a:avLst>
          </a:prstGeom>
          <a:solidFill>
            <a:srgbClr val="5B3E7E"/>
          </a:solidFill>
          <a:ln w="12700">
            <a:solidFill>
              <a:srgbClr val="5B3E7E"/>
            </a:solidFill>
            <a:prstDash val="solid"/>
          </a:ln>
        </p:spPr>
      </p:sp>
      <p:sp>
        <p:nvSpPr>
          <p:cNvPr id="18" name="Text 16"/>
          <p:cNvSpPr/>
          <p:nvPr/>
        </p:nvSpPr>
        <p:spPr>
          <a:xfrm>
            <a:off x="8249717" y="2194560"/>
            <a:ext cx="1463040" cy="292608"/>
          </a:xfrm>
          <a:prstGeom prst="rect">
            <a:avLst/>
          </a:prstGeom>
          <a:noFill/>
          <a:ln/>
        </p:spPr>
        <p:txBody>
          <a:bodyPr wrap="square" rtlCol="0" anchor="ctr"/>
          <a:lstStyle/>
          <a:p>
            <a:pPr algn="ctr" indent="0" marL="0">
              <a:buNone/>
            </a:pPr>
            <a:r>
              <a:rPr lang="en-US" sz="800" b="1" spc="100" kern="0" dirty="0">
                <a:solidFill>
                  <a:srgbClr val="FFFFFF"/>
                </a:solidFill>
                <a:latin typeface="Arial" pitchFamily="34" charset="0"/>
                <a:ea typeface="Arial" pitchFamily="34" charset="-122"/>
                <a:cs typeface="Arial" pitchFamily="34" charset="-120"/>
              </a:rPr>
              <a:t>DIRECTORS, RISK COMMITTEES, CROS</a:t>
            </a:r>
            <a:endParaRPr lang="en-US" sz="800" dirty="0"/>
          </a:p>
        </p:txBody>
      </p:sp>
      <p:sp>
        <p:nvSpPr>
          <p:cNvPr id="19" name="Text 17"/>
          <p:cNvSpPr/>
          <p:nvPr/>
        </p:nvSpPr>
        <p:spPr>
          <a:xfrm>
            <a:off x="8249717" y="2651760"/>
            <a:ext cx="3393338" cy="45720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The Board &amp; Risk Lens</a:t>
            </a:r>
            <a:endParaRPr lang="en-US" sz="1600" dirty="0"/>
          </a:p>
        </p:txBody>
      </p:sp>
      <p:sp>
        <p:nvSpPr>
          <p:cNvPr id="20" name="Text 18"/>
          <p:cNvSpPr/>
          <p:nvPr/>
        </p:nvSpPr>
        <p:spPr>
          <a:xfrm>
            <a:off x="8249717" y="3200400"/>
            <a:ext cx="3393338" cy="201168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Calibrated to accountability and exposure. Treats the cross-layer spans as primary, the layers as substrate. Built to support the conversations directors are actually having.</a:t>
            </a:r>
            <a:endParaRPr lang="en-US" sz="1300" dirty="0"/>
          </a:p>
        </p:txBody>
      </p:sp>
      <p:sp>
        <p:nvSpPr>
          <p:cNvPr id="21" name="Text 19"/>
          <p:cNvSpPr/>
          <p:nvPr/>
        </p:nvSpPr>
        <p:spPr>
          <a:xfrm>
            <a:off x="8249717" y="5394960"/>
            <a:ext cx="3393338" cy="228600"/>
          </a:xfrm>
          <a:prstGeom prst="rect">
            <a:avLst/>
          </a:prstGeom>
          <a:noFill/>
          <a:ln/>
        </p:spPr>
        <p:txBody>
          <a:bodyPr wrap="square" rtlCol="0" anchor="ctr"/>
          <a:lstStyle/>
          <a:p>
            <a:pPr indent="0" marL="0">
              <a:buNone/>
            </a:pPr>
            <a:r>
              <a:rPr lang="en-US" sz="800" b="1" spc="100" kern="0" dirty="0">
                <a:solidFill>
                  <a:srgbClr val="8B7340"/>
                </a:solidFill>
                <a:latin typeface="Arial" pitchFamily="34" charset="0"/>
                <a:ea typeface="Arial" pitchFamily="34" charset="-122"/>
                <a:cs typeface="Arial" pitchFamily="34" charset="-120"/>
              </a:rPr>
              <a:t>FRAMEWORK ANCHORS</a:t>
            </a:r>
            <a:endParaRPr lang="en-US" sz="800" dirty="0"/>
          </a:p>
        </p:txBody>
      </p:sp>
      <p:sp>
        <p:nvSpPr>
          <p:cNvPr id="22" name="Text 20"/>
          <p:cNvSpPr/>
          <p:nvPr/>
        </p:nvSpPr>
        <p:spPr>
          <a:xfrm>
            <a:off x="8249717" y="5669280"/>
            <a:ext cx="3393338" cy="914400"/>
          </a:xfrm>
          <a:prstGeom prst="rect">
            <a:avLst/>
          </a:prstGeom>
          <a:noFill/>
          <a:ln/>
        </p:spPr>
        <p:txBody>
          <a:bodyPr wrap="square" rtlCol="0" anchor="ctr"/>
          <a:lstStyle/>
          <a:p>
            <a:pPr indent="0" marL="0">
              <a:buNone/>
            </a:pPr>
            <a:r>
              <a:rPr lang="en-US" sz="1100" dirty="0">
                <a:solidFill>
                  <a:srgbClr val="4A5562"/>
                </a:solidFill>
                <a:latin typeface="Arial" pitchFamily="34" charset="0"/>
                <a:ea typeface="Arial" pitchFamily="34" charset="-122"/>
                <a:cs typeface="Arial" pitchFamily="34" charset="-120"/>
              </a:rPr>
              <a:t>NIST AI RMF · ISO/IEC 42001 · EU AI Act · SEC disclosure · fiduciary frameworks</a:t>
            </a:r>
            <a:endParaRPr lang="en-US" sz="1100" dirty="0"/>
          </a:p>
        </p:txBody>
      </p:sp>
      <p:sp>
        <p:nvSpPr>
          <p:cNvPr id="23" name="Shape 21"/>
          <p:cNvSpPr/>
          <p:nvPr/>
        </p:nvSpPr>
        <p:spPr>
          <a:xfrm>
            <a:off x="548640" y="6400800"/>
            <a:ext cx="11094415" cy="4572"/>
          </a:xfrm>
          <a:prstGeom prst="rect">
            <a:avLst/>
          </a:prstGeom>
          <a:solidFill>
            <a:srgbClr val="C9C0AD"/>
          </a:solidFill>
          <a:ln w="12700">
            <a:solidFill>
              <a:srgbClr val="C9C0AD"/>
            </a:solidFill>
            <a:prstDash val="solid"/>
          </a:ln>
        </p:spPr>
      </p:sp>
      <p:sp>
        <p:nvSpPr>
          <p:cNvPr id="24" name="Text 22"/>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25" name="Text 23"/>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WHAT THE LENS WORK REVEALS ABOUT THE ARCHITECTURE</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An architecture that holds its shape across audiences is drawn against the structural shape of the problem.</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1828800"/>
            <a:ext cx="11094415" cy="4572000"/>
          </a:xfrm>
          <a:prstGeom prst="rect">
            <a:avLst/>
          </a:prstGeom>
          <a:noFill/>
          <a:ln/>
        </p:spPr>
        <p:txBody>
          <a:bodyPr wrap="square" rtlCol="0" anchor="ctr"/>
          <a:lstStyle/>
          <a:p>
            <a:pPr indent="0" marL="0">
              <a:spcAft>
                <a:spcPts val="600"/>
              </a:spcAft>
              <a:buNone/>
            </a:pPr>
            <a:r>
              <a:rPr lang="en-US" sz="1600" b="1" dirty="0">
                <a:solidFill>
                  <a:srgbClr val="0F1A24"/>
                </a:solidFill>
                <a:latin typeface="Arial" pitchFamily="34" charset="0"/>
                <a:ea typeface="Arial" pitchFamily="34" charset="-122"/>
                <a:cs typeface="Arial" pitchFamily="34" charset="-120"/>
              </a:rPr>
              <a:t>Different audiences foreground different layers. The architecture supports all of them — without distortion.</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Security audience reads Layers 9, 7, 5, 3 as primary.</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Technology audience reads Layers 0–2 as primary, with Layer 8 as the unowned territory.</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Governance audience reads the cross-layer spans as primary, the layers as substrate.</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None of these readings distorts the architecture. None requires it to be redrawn to fit.</a:t>
            </a:r>
            <a:endParaRPr lang="en-US" sz="1600" dirty="0"/>
          </a:p>
          <a:p>
            <a:pPr indent="0" marL="0">
              <a:spcAft>
                <a:spcPts val="6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600"/>
              </a:spcAft>
              <a:buNone/>
            </a:pPr>
            <a:r>
              <a:rPr lang="en-US" sz="1600" i="1" dirty="0">
                <a:solidFill>
                  <a:srgbClr val="0F1A24"/>
                </a:solidFill>
                <a:latin typeface="Arial" pitchFamily="34" charset="0"/>
                <a:ea typeface="Arial" pitchFamily="34" charset="-122"/>
                <a:cs typeface="Arial" pitchFamily="34" charset="-120"/>
              </a:rPr>
              <a:t>The Lens Maps are not the proof of the architecture.</a:t>
            </a:r>
            <a:endParaRPr lang="en-US" sz="1600" dirty="0"/>
          </a:p>
          <a:p>
            <a:pPr indent="0" marL="0">
              <a:spcAft>
                <a:spcPts val="600"/>
              </a:spcAft>
              <a:buNone/>
            </a:pPr>
            <a:r>
              <a:rPr lang="en-US" sz="1600" b="1" i="1" dirty="0">
                <a:solidFill>
                  <a:srgbClr val="8B7340"/>
                </a:solidFill>
                <a:latin typeface="Arial" pitchFamily="34" charset="0"/>
                <a:ea typeface="Arial" pitchFamily="34" charset="-122"/>
                <a:cs typeface="Arial" pitchFamily="34" charset="-120"/>
              </a:rPr>
              <a:t>The audiences finding themselves on the page is the proof.</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WHAT COMES NEXT</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The lens roster grows as practitioner engagement supports it.</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2011680"/>
            <a:ext cx="5547208"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PUBLISHED IN V0.5</a:t>
            </a:r>
            <a:endParaRPr lang="en-US" sz="1100" dirty="0"/>
          </a:p>
        </p:txBody>
      </p:sp>
      <p:sp>
        <p:nvSpPr>
          <p:cNvPr id="6" name="Text 4"/>
          <p:cNvSpPr/>
          <p:nvPr/>
        </p:nvSpPr>
        <p:spPr>
          <a:xfrm>
            <a:off x="548640" y="2377440"/>
            <a:ext cx="5547208" cy="1828800"/>
          </a:xfrm>
          <a:prstGeom prst="rect">
            <a:avLst/>
          </a:prstGeom>
          <a:noFill/>
          <a:ln/>
        </p:spPr>
        <p:txBody>
          <a:bodyPr wrap="square" rtlCol="0" anchor="ctr"/>
          <a:lstStyle/>
          <a:p>
            <a:pPr indent="0" marL="0">
              <a:spcAft>
                <a:spcPts val="800"/>
              </a:spcAft>
              <a:buNone/>
            </a:pPr>
            <a:r>
              <a:rPr lang="en-US" sz="1600" dirty="0">
                <a:solidFill>
                  <a:srgbClr val="0F1A24"/>
                </a:solidFill>
                <a:latin typeface="Arial" pitchFamily="34" charset="0"/>
                <a:ea typeface="Arial" pitchFamily="34" charset="-122"/>
                <a:cs typeface="Arial" pitchFamily="34" charset="-120"/>
              </a:rPr>
              <a:t>•  The CISO Lens</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The CIO/CTO Lens</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The Board and Risk Lens</a:t>
            </a:r>
            <a:endParaRPr lang="en-US" sz="1600" dirty="0"/>
          </a:p>
        </p:txBody>
      </p:sp>
      <p:sp>
        <p:nvSpPr>
          <p:cNvPr id="7" name="Text 5"/>
          <p:cNvSpPr/>
          <p:nvPr/>
        </p:nvSpPr>
        <p:spPr>
          <a:xfrm>
            <a:off x="6095848" y="2011680"/>
            <a:ext cx="5547208"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ANTICIPATED</a:t>
            </a:r>
            <a:endParaRPr lang="en-US" sz="1100" dirty="0"/>
          </a:p>
        </p:txBody>
      </p:sp>
      <p:sp>
        <p:nvSpPr>
          <p:cNvPr id="8" name="Text 6"/>
          <p:cNvSpPr/>
          <p:nvPr/>
        </p:nvSpPr>
        <p:spPr>
          <a:xfrm>
            <a:off x="6095848" y="2377440"/>
            <a:ext cx="5547208" cy="1828800"/>
          </a:xfrm>
          <a:prstGeom prst="rect">
            <a:avLst/>
          </a:prstGeom>
          <a:noFill/>
          <a:ln/>
        </p:spPr>
        <p:txBody>
          <a:bodyPr wrap="square" rtlCol="0" anchor="ctr"/>
          <a:lstStyle/>
          <a:p>
            <a:pPr indent="0" marL="0">
              <a:spcAft>
                <a:spcPts val="800"/>
              </a:spcAft>
              <a:buNone/>
            </a:pPr>
            <a:r>
              <a:rPr lang="en-US" sz="1600" dirty="0">
                <a:solidFill>
                  <a:srgbClr val="0F1A24"/>
                </a:solidFill>
                <a:latin typeface="Arial" pitchFamily="34" charset="0"/>
                <a:ea typeface="Arial" pitchFamily="34" charset="-122"/>
                <a:cs typeface="Arial" pitchFamily="34" charset="-120"/>
              </a:rPr>
              <a:t>•  The CFO Lens — capital allocation, unit economics</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The General Counsel Lens — liability, regulatory exposure</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The CHRO Lens — agents as workforce, governance</a:t>
            </a:r>
            <a:endParaRPr lang="en-US" sz="1600" dirty="0"/>
          </a:p>
        </p:txBody>
      </p:sp>
      <p:sp>
        <p:nvSpPr>
          <p:cNvPr id="9" name="Text 7"/>
          <p:cNvSpPr/>
          <p:nvPr/>
        </p:nvSpPr>
        <p:spPr>
          <a:xfrm>
            <a:off x="548640" y="4572000"/>
            <a:ext cx="11094415" cy="1371600"/>
          </a:xfrm>
          <a:prstGeom prst="rect">
            <a:avLst/>
          </a:prstGeom>
          <a:noFill/>
          <a:ln/>
        </p:spPr>
        <p:txBody>
          <a:bodyPr wrap="square" rtlCol="0" anchor="ctr"/>
          <a:lstStyle/>
          <a:p>
            <a:pPr indent="0" marL="0">
              <a:buNone/>
            </a:pPr>
            <a:r>
              <a:rPr lang="en-US" sz="1300" i="1" dirty="0">
                <a:solidFill>
                  <a:srgbClr val="4A5562"/>
                </a:solidFill>
                <a:latin typeface="Arial" pitchFamily="34" charset="0"/>
                <a:ea typeface="Arial" pitchFamily="34" charset="-122"/>
                <a:cs typeface="Arial" pitchFamily="34" charset="-120"/>
              </a:rPr>
              <a:t>Other lenses are possible — chief data officer, regulated-industry, public-sector, line-of-business.</a:t>
            </a:r>
            <a:endParaRPr lang="en-US" sz="1300" dirty="0"/>
          </a:p>
          <a:p>
            <a:pPr indent="0" marL="0">
              <a:buNone/>
            </a:pPr>
            <a:r>
              <a:rPr lang="en-US" sz="1300" i="1" dirty="0">
                <a:solidFill>
                  <a:srgbClr val="4A5562"/>
                </a:solidFill>
                <a:latin typeface="Arial" pitchFamily="34" charset="0"/>
                <a:ea typeface="Arial" pitchFamily="34" charset="-122"/>
                <a:cs typeface="Arial" pitchFamily="34" charset="-120"/>
              </a:rPr>
              <a:t> </a:t>
            </a:r>
            <a:endParaRPr lang="en-US" sz="1300" dirty="0"/>
          </a:p>
          <a:p>
            <a:pPr indent="0" marL="0">
              <a:buNone/>
            </a:pPr>
            <a:r>
              <a:rPr lang="en-US" sz="1300" i="1" dirty="0">
                <a:solidFill>
                  <a:srgbClr val="4A5562"/>
                </a:solidFill>
                <a:latin typeface="Arial" pitchFamily="34" charset="0"/>
                <a:ea typeface="Arial" pitchFamily="34" charset="-122"/>
                <a:cs typeface="Arial" pitchFamily="34" charset="-120"/>
              </a:rPr>
              <a:t>The Foundation will publish lenses for any audience where the work meets the discipline of the approach. Practitioners with deep audience expertise are invited to contribute proposals.</a:t>
            </a:r>
            <a:endParaRPr lang="en-US" sz="1300" dirty="0"/>
          </a:p>
        </p:txBody>
      </p:sp>
      <p:sp>
        <p:nvSpPr>
          <p:cNvPr id="10" name="Shape 8"/>
          <p:cNvSpPr/>
          <p:nvPr/>
        </p:nvSpPr>
        <p:spPr>
          <a:xfrm>
            <a:off x="548640" y="6400800"/>
            <a:ext cx="11094415" cy="4572"/>
          </a:xfrm>
          <a:prstGeom prst="rect">
            <a:avLst/>
          </a:prstGeom>
          <a:solidFill>
            <a:srgbClr val="C9C0AD"/>
          </a:solidFill>
          <a:ln w="12700">
            <a:solidFill>
              <a:srgbClr val="C9C0AD"/>
            </a:solidFill>
            <a:prstDash val="solid"/>
          </a:ln>
        </p:spPr>
      </p:sp>
      <p:sp>
        <p:nvSpPr>
          <p:cNvPr id="11" name="Text 9"/>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12" name="Text 10"/>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2286000"/>
            <a:ext cx="11094415" cy="36576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PART THREE</a:t>
            </a:r>
            <a:endParaRPr lang="en-US" sz="1100" dirty="0"/>
          </a:p>
        </p:txBody>
      </p:sp>
      <p:sp>
        <p:nvSpPr>
          <p:cNvPr id="3" name="Text 1"/>
          <p:cNvSpPr/>
          <p:nvPr/>
        </p:nvSpPr>
        <p:spPr>
          <a:xfrm>
            <a:off x="548640" y="2743200"/>
            <a:ext cx="11094415" cy="914400"/>
          </a:xfrm>
          <a:prstGeom prst="rect">
            <a:avLst/>
          </a:prstGeom>
          <a:noFill/>
          <a:ln/>
        </p:spPr>
        <p:txBody>
          <a:bodyPr wrap="square" rtlCol="0" anchor="ctr"/>
          <a:lstStyle/>
          <a:p>
            <a:pPr indent="0" marL="0">
              <a:buNone/>
            </a:pPr>
            <a:r>
              <a:rPr lang="en-US" sz="3600" dirty="0">
                <a:solidFill>
                  <a:srgbClr val="0F1A24"/>
                </a:solidFill>
                <a:latin typeface="Arial" pitchFamily="34" charset="0"/>
                <a:ea typeface="Arial" pitchFamily="34" charset="-122"/>
                <a:cs typeface="Arial" pitchFamily="34" charset="-120"/>
              </a:rPr>
              <a:t>What This Means for You</a:t>
            </a:r>
            <a:endParaRPr lang="en-US" sz="3600" dirty="0"/>
          </a:p>
        </p:txBody>
      </p:sp>
      <p:sp>
        <p:nvSpPr>
          <p:cNvPr id="4" name="Text 2"/>
          <p:cNvSpPr/>
          <p:nvPr/>
        </p:nvSpPr>
        <p:spPr>
          <a:xfrm>
            <a:off x="548640" y="3749040"/>
            <a:ext cx="11094415" cy="548640"/>
          </a:xfrm>
          <a:prstGeom prst="rect">
            <a:avLst/>
          </a:prstGeom>
          <a:noFill/>
          <a:ln/>
        </p:spPr>
        <p:txBody>
          <a:bodyPr wrap="square" rtlCol="0" anchor="ctr"/>
          <a:lstStyle/>
          <a:p>
            <a:pPr indent="0" marL="0">
              <a:buNone/>
            </a:pPr>
            <a:r>
              <a:rPr lang="en-US" sz="1600" i="1" dirty="0">
                <a:solidFill>
                  <a:srgbClr val="4A5562"/>
                </a:solidFill>
                <a:latin typeface="Arial" pitchFamily="34" charset="0"/>
                <a:ea typeface="Arial" pitchFamily="34" charset="-122"/>
                <a:cs typeface="Arial" pitchFamily="34" charset="-120"/>
              </a:rPr>
              <a:t>Engaging with the OIA across the executive team.</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THE BODY OF WORK AT V0.5</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Five artifacts. One coherent release.</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Shape 3"/>
          <p:cNvSpPr/>
          <p:nvPr/>
        </p:nvSpPr>
        <p:spPr>
          <a:xfrm>
            <a:off x="548640" y="2011680"/>
            <a:ext cx="54864" cy="548640"/>
          </a:xfrm>
          <a:prstGeom prst="rect">
            <a:avLst/>
          </a:prstGeom>
          <a:solidFill>
            <a:srgbClr val="8B7340"/>
          </a:solidFill>
          <a:ln w="12700">
            <a:solidFill>
              <a:srgbClr val="8B7340"/>
            </a:solidFill>
            <a:prstDash val="solid"/>
          </a:ln>
        </p:spPr>
      </p:sp>
      <p:sp>
        <p:nvSpPr>
          <p:cNvPr id="6" name="Text 4"/>
          <p:cNvSpPr/>
          <p:nvPr/>
        </p:nvSpPr>
        <p:spPr>
          <a:xfrm>
            <a:off x="777240" y="2011680"/>
            <a:ext cx="36576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OIA Reference Paper</a:t>
            </a:r>
            <a:endParaRPr lang="en-US" sz="1600" dirty="0"/>
          </a:p>
        </p:txBody>
      </p:sp>
      <p:sp>
        <p:nvSpPr>
          <p:cNvPr id="7" name="Text 5"/>
          <p:cNvSpPr/>
          <p:nvPr/>
        </p:nvSpPr>
        <p:spPr>
          <a:xfrm>
            <a:off x="4663440" y="2011680"/>
            <a:ext cx="6979615" cy="45720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The architectural specification in full. ~40 pages. The authoritative reference.</a:t>
            </a:r>
            <a:endParaRPr lang="en-US" sz="1300" dirty="0"/>
          </a:p>
        </p:txBody>
      </p:sp>
      <p:sp>
        <p:nvSpPr>
          <p:cNvPr id="8" name="Shape 6"/>
          <p:cNvSpPr/>
          <p:nvPr/>
        </p:nvSpPr>
        <p:spPr>
          <a:xfrm>
            <a:off x="548640" y="2697480"/>
            <a:ext cx="54864" cy="548640"/>
          </a:xfrm>
          <a:prstGeom prst="rect">
            <a:avLst/>
          </a:prstGeom>
          <a:solidFill>
            <a:srgbClr val="8B7340"/>
          </a:solidFill>
          <a:ln w="12700">
            <a:solidFill>
              <a:srgbClr val="8B7340"/>
            </a:solidFill>
            <a:prstDash val="solid"/>
          </a:ln>
        </p:spPr>
      </p:sp>
      <p:sp>
        <p:nvSpPr>
          <p:cNvPr id="9" name="Text 7"/>
          <p:cNvSpPr/>
          <p:nvPr/>
        </p:nvSpPr>
        <p:spPr>
          <a:xfrm>
            <a:off x="777240" y="2697480"/>
            <a:ext cx="36576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OIA Lens System</a:t>
            </a:r>
            <a:endParaRPr lang="en-US" sz="1600" dirty="0"/>
          </a:p>
        </p:txBody>
      </p:sp>
      <p:sp>
        <p:nvSpPr>
          <p:cNvPr id="10" name="Text 8"/>
          <p:cNvSpPr/>
          <p:nvPr/>
        </p:nvSpPr>
        <p:spPr>
          <a:xfrm>
            <a:off x="4663440" y="2697480"/>
            <a:ext cx="6979615" cy="45720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Three audience-specific Lens Maps. CISO, CIO/CTO, Board and Risk.</a:t>
            </a:r>
            <a:endParaRPr lang="en-US" sz="1300" dirty="0"/>
          </a:p>
        </p:txBody>
      </p:sp>
      <p:sp>
        <p:nvSpPr>
          <p:cNvPr id="11" name="Shape 9"/>
          <p:cNvSpPr/>
          <p:nvPr/>
        </p:nvSpPr>
        <p:spPr>
          <a:xfrm>
            <a:off x="548640" y="3383280"/>
            <a:ext cx="54864" cy="548640"/>
          </a:xfrm>
          <a:prstGeom prst="rect">
            <a:avLst/>
          </a:prstGeom>
          <a:solidFill>
            <a:srgbClr val="8B7340"/>
          </a:solidFill>
          <a:ln w="12700">
            <a:solidFill>
              <a:srgbClr val="8B7340"/>
            </a:solidFill>
            <a:prstDash val="solid"/>
          </a:ln>
        </p:spPr>
      </p:sp>
      <p:sp>
        <p:nvSpPr>
          <p:cNvPr id="12" name="Text 10"/>
          <p:cNvSpPr/>
          <p:nvPr/>
        </p:nvSpPr>
        <p:spPr>
          <a:xfrm>
            <a:off x="777240" y="3383280"/>
            <a:ext cx="36576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OIA Visual Reference</a:t>
            </a:r>
            <a:endParaRPr lang="en-US" sz="1600" dirty="0"/>
          </a:p>
        </p:txBody>
      </p:sp>
      <p:sp>
        <p:nvSpPr>
          <p:cNvPr id="13" name="Text 11"/>
          <p:cNvSpPr/>
          <p:nvPr/>
        </p:nvSpPr>
        <p:spPr>
          <a:xfrm>
            <a:off x="4663440" y="3383280"/>
            <a:ext cx="6979615" cy="45720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Three diagrams that render the architecture and its applications visually.</a:t>
            </a:r>
            <a:endParaRPr lang="en-US" sz="1300" dirty="0"/>
          </a:p>
        </p:txBody>
      </p:sp>
      <p:sp>
        <p:nvSpPr>
          <p:cNvPr id="14" name="Shape 12"/>
          <p:cNvSpPr/>
          <p:nvPr/>
        </p:nvSpPr>
        <p:spPr>
          <a:xfrm>
            <a:off x="548640" y="4069080"/>
            <a:ext cx="54864" cy="548640"/>
          </a:xfrm>
          <a:prstGeom prst="rect">
            <a:avLst/>
          </a:prstGeom>
          <a:solidFill>
            <a:srgbClr val="8B7340"/>
          </a:solidFill>
          <a:ln w="12700">
            <a:solidFill>
              <a:srgbClr val="8B7340"/>
            </a:solidFill>
            <a:prstDash val="solid"/>
          </a:ln>
        </p:spPr>
      </p:sp>
      <p:sp>
        <p:nvSpPr>
          <p:cNvPr id="15" name="Text 13"/>
          <p:cNvSpPr/>
          <p:nvPr/>
        </p:nvSpPr>
        <p:spPr>
          <a:xfrm>
            <a:off x="777240" y="4069080"/>
            <a:ext cx="36576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OIA Body of Work Framing</a:t>
            </a:r>
            <a:endParaRPr lang="en-US" sz="1600" dirty="0"/>
          </a:p>
        </p:txBody>
      </p:sp>
      <p:sp>
        <p:nvSpPr>
          <p:cNvPr id="16" name="Text 14"/>
          <p:cNvSpPr/>
          <p:nvPr/>
        </p:nvSpPr>
        <p:spPr>
          <a:xfrm>
            <a:off x="4663440" y="4069080"/>
            <a:ext cx="6979615" cy="45720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Reading guide and overview. Where to start by role.</a:t>
            </a:r>
            <a:endParaRPr lang="en-US" sz="1300" dirty="0"/>
          </a:p>
        </p:txBody>
      </p:sp>
      <p:sp>
        <p:nvSpPr>
          <p:cNvPr id="17" name="Shape 15"/>
          <p:cNvSpPr/>
          <p:nvPr/>
        </p:nvSpPr>
        <p:spPr>
          <a:xfrm>
            <a:off x="548640" y="4754880"/>
            <a:ext cx="54864" cy="548640"/>
          </a:xfrm>
          <a:prstGeom prst="rect">
            <a:avLst/>
          </a:prstGeom>
          <a:solidFill>
            <a:srgbClr val="8B7340"/>
          </a:solidFill>
          <a:ln w="12700">
            <a:solidFill>
              <a:srgbClr val="8B7340"/>
            </a:solidFill>
            <a:prstDash val="solid"/>
          </a:ln>
        </p:spPr>
      </p:sp>
      <p:sp>
        <p:nvSpPr>
          <p:cNvPr id="18" name="Text 16"/>
          <p:cNvSpPr/>
          <p:nvPr/>
        </p:nvSpPr>
        <p:spPr>
          <a:xfrm>
            <a:off x="777240" y="4754880"/>
            <a:ext cx="3657600" cy="320040"/>
          </a:xfrm>
          <a:prstGeom prst="rect">
            <a:avLst/>
          </a:prstGeom>
          <a:noFill/>
          <a:ln/>
        </p:spPr>
        <p:txBody>
          <a:bodyPr wrap="square" rtlCol="0" anchor="ctr"/>
          <a:lstStyle/>
          <a:p>
            <a:pPr indent="0" marL="0">
              <a:buNone/>
            </a:pPr>
            <a:r>
              <a:rPr lang="en-US" sz="1600" b="1" dirty="0">
                <a:solidFill>
                  <a:srgbClr val="0F1A24"/>
                </a:solidFill>
                <a:latin typeface="Arial" pitchFamily="34" charset="0"/>
                <a:ea typeface="Arial" pitchFamily="34" charset="-122"/>
                <a:cs typeface="Arial" pitchFamily="34" charset="-120"/>
              </a:rPr>
              <a:t>Thought Leadership Deck</a:t>
            </a:r>
            <a:endParaRPr lang="en-US" sz="1600" dirty="0"/>
          </a:p>
        </p:txBody>
      </p:sp>
      <p:sp>
        <p:nvSpPr>
          <p:cNvPr id="19" name="Text 17"/>
          <p:cNvSpPr/>
          <p:nvPr/>
        </p:nvSpPr>
        <p:spPr>
          <a:xfrm>
            <a:off x="4663440" y="4754880"/>
            <a:ext cx="6979615" cy="457200"/>
          </a:xfrm>
          <a:prstGeom prst="rect">
            <a:avLst/>
          </a:prstGeom>
          <a:noFill/>
          <a:ln/>
        </p:spPr>
        <p:txBody>
          <a:bodyPr wrap="square" rtlCol="0" anchor="ctr"/>
          <a:lstStyle/>
          <a:p>
            <a:pPr indent="0" marL="0">
              <a:buNone/>
            </a:pPr>
            <a:r>
              <a:rPr lang="en-US" sz="1300" dirty="0">
                <a:solidFill>
                  <a:srgbClr val="4A5562"/>
                </a:solidFill>
                <a:latin typeface="Arial" pitchFamily="34" charset="0"/>
                <a:ea typeface="Arial" pitchFamily="34" charset="-122"/>
                <a:cs typeface="Arial" pitchFamily="34" charset="-120"/>
              </a:rPr>
              <a:t>This presentation. Calibrated to board and executive audiences.</a:t>
            </a:r>
            <a:endParaRPr lang="en-US" sz="1300" dirty="0"/>
          </a:p>
        </p:txBody>
      </p:sp>
      <p:sp>
        <p:nvSpPr>
          <p:cNvPr id="20" name="Shape 18"/>
          <p:cNvSpPr/>
          <p:nvPr/>
        </p:nvSpPr>
        <p:spPr>
          <a:xfrm>
            <a:off x="548640" y="6400800"/>
            <a:ext cx="11094415" cy="4572"/>
          </a:xfrm>
          <a:prstGeom prst="rect">
            <a:avLst/>
          </a:prstGeom>
          <a:solidFill>
            <a:srgbClr val="C9C0AD"/>
          </a:solidFill>
          <a:ln w="12700">
            <a:solidFill>
              <a:srgbClr val="C9C0AD"/>
            </a:solidFill>
            <a:prstDash val="solid"/>
          </a:ln>
        </p:spPr>
      </p:sp>
      <p:sp>
        <p:nvSpPr>
          <p:cNvPr id="21" name="Text 19"/>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22" name="Text 20"/>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HOW TO ENGAGE BY ROLE</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Different roles. Different entry points. Same architecture.</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2103120"/>
            <a:ext cx="3200400" cy="365760"/>
          </a:xfrm>
          <a:prstGeom prst="rect">
            <a:avLst/>
          </a:prstGeom>
          <a:noFill/>
          <a:ln/>
        </p:spPr>
        <p:txBody>
          <a:bodyPr wrap="square" rtlCol="0" anchor="ctr"/>
          <a:lstStyle/>
          <a:p>
            <a:pPr indent="0" marL="0">
              <a:buNone/>
            </a:pPr>
            <a:r>
              <a:rPr lang="en-US" sz="1600" b="1" dirty="0">
                <a:solidFill>
                  <a:srgbClr val="8B7340"/>
                </a:solidFill>
                <a:latin typeface="Arial" pitchFamily="34" charset="0"/>
                <a:ea typeface="Arial" pitchFamily="34" charset="-122"/>
                <a:cs typeface="Arial" pitchFamily="34" charset="-120"/>
              </a:rPr>
              <a:t>CISO</a:t>
            </a:r>
            <a:endParaRPr lang="en-US" sz="1600" dirty="0"/>
          </a:p>
        </p:txBody>
      </p:sp>
      <p:sp>
        <p:nvSpPr>
          <p:cNvPr id="6" name="Text 4"/>
          <p:cNvSpPr/>
          <p:nvPr/>
        </p:nvSpPr>
        <p:spPr>
          <a:xfrm>
            <a:off x="3749040" y="2103120"/>
            <a:ext cx="7894015" cy="54864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The CISO Lens, then Reference Paper §15 (threats) and §14 (spans).</a:t>
            </a:r>
            <a:endParaRPr lang="en-US" sz="1300" dirty="0"/>
          </a:p>
        </p:txBody>
      </p:sp>
      <p:sp>
        <p:nvSpPr>
          <p:cNvPr id="7" name="Text 5"/>
          <p:cNvSpPr/>
          <p:nvPr/>
        </p:nvSpPr>
        <p:spPr>
          <a:xfrm>
            <a:off x="548640" y="2743200"/>
            <a:ext cx="3200400" cy="365760"/>
          </a:xfrm>
          <a:prstGeom prst="rect">
            <a:avLst/>
          </a:prstGeom>
          <a:noFill/>
          <a:ln/>
        </p:spPr>
        <p:txBody>
          <a:bodyPr wrap="square" rtlCol="0" anchor="ctr"/>
          <a:lstStyle/>
          <a:p>
            <a:pPr indent="0" marL="0">
              <a:buNone/>
            </a:pPr>
            <a:r>
              <a:rPr lang="en-US" sz="1600" b="1" dirty="0">
                <a:solidFill>
                  <a:srgbClr val="8B7340"/>
                </a:solidFill>
                <a:latin typeface="Arial" pitchFamily="34" charset="0"/>
                <a:ea typeface="Arial" pitchFamily="34" charset="-122"/>
                <a:cs typeface="Arial" pitchFamily="34" charset="-120"/>
              </a:rPr>
              <a:t>CIO / CTO</a:t>
            </a:r>
            <a:endParaRPr lang="en-US" sz="1600" dirty="0"/>
          </a:p>
        </p:txBody>
      </p:sp>
      <p:sp>
        <p:nvSpPr>
          <p:cNvPr id="8" name="Text 6"/>
          <p:cNvSpPr/>
          <p:nvPr/>
        </p:nvSpPr>
        <p:spPr>
          <a:xfrm>
            <a:off x="3749040" y="2743200"/>
            <a:ext cx="7894015" cy="54864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The CIO/CTO Lens, then Reference Paper layer chapters most acute to current planning.</a:t>
            </a:r>
            <a:endParaRPr lang="en-US" sz="1300" dirty="0"/>
          </a:p>
        </p:txBody>
      </p:sp>
      <p:sp>
        <p:nvSpPr>
          <p:cNvPr id="9" name="Text 7"/>
          <p:cNvSpPr/>
          <p:nvPr/>
        </p:nvSpPr>
        <p:spPr>
          <a:xfrm>
            <a:off x="548640" y="3383280"/>
            <a:ext cx="3200400" cy="365760"/>
          </a:xfrm>
          <a:prstGeom prst="rect">
            <a:avLst/>
          </a:prstGeom>
          <a:noFill/>
          <a:ln/>
        </p:spPr>
        <p:txBody>
          <a:bodyPr wrap="square" rtlCol="0" anchor="ctr"/>
          <a:lstStyle/>
          <a:p>
            <a:pPr indent="0" marL="0">
              <a:buNone/>
            </a:pPr>
            <a:r>
              <a:rPr lang="en-US" sz="1600" b="1" dirty="0">
                <a:solidFill>
                  <a:srgbClr val="8B7340"/>
                </a:solidFill>
                <a:latin typeface="Arial" pitchFamily="34" charset="0"/>
                <a:ea typeface="Arial" pitchFamily="34" charset="-122"/>
                <a:cs typeface="Arial" pitchFamily="34" charset="-120"/>
              </a:rPr>
              <a:t>Board, Risk Committee, CRO</a:t>
            </a:r>
            <a:endParaRPr lang="en-US" sz="1600" dirty="0"/>
          </a:p>
        </p:txBody>
      </p:sp>
      <p:sp>
        <p:nvSpPr>
          <p:cNvPr id="10" name="Text 8"/>
          <p:cNvSpPr/>
          <p:nvPr/>
        </p:nvSpPr>
        <p:spPr>
          <a:xfrm>
            <a:off x="3749040" y="3383280"/>
            <a:ext cx="7894015" cy="54864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The Board and Risk Lens, then Reference Paper §14 (spans) and §17 (open questions).</a:t>
            </a:r>
            <a:endParaRPr lang="en-US" sz="1300" dirty="0"/>
          </a:p>
        </p:txBody>
      </p:sp>
      <p:sp>
        <p:nvSpPr>
          <p:cNvPr id="11" name="Text 9"/>
          <p:cNvSpPr/>
          <p:nvPr/>
        </p:nvSpPr>
        <p:spPr>
          <a:xfrm>
            <a:off x="548640" y="4023360"/>
            <a:ext cx="3200400" cy="365760"/>
          </a:xfrm>
          <a:prstGeom prst="rect">
            <a:avLst/>
          </a:prstGeom>
          <a:noFill/>
          <a:ln/>
        </p:spPr>
        <p:txBody>
          <a:bodyPr wrap="square" rtlCol="0" anchor="ctr"/>
          <a:lstStyle/>
          <a:p>
            <a:pPr indent="0" marL="0">
              <a:buNone/>
            </a:pPr>
            <a:r>
              <a:rPr lang="en-US" sz="1600" b="1" dirty="0">
                <a:solidFill>
                  <a:srgbClr val="8B7340"/>
                </a:solidFill>
                <a:latin typeface="Arial" pitchFamily="34" charset="0"/>
                <a:ea typeface="Arial" pitchFamily="34" charset="-122"/>
                <a:cs typeface="Arial" pitchFamily="34" charset="-120"/>
              </a:rPr>
              <a:t>CEO and Operating Executives</a:t>
            </a:r>
            <a:endParaRPr lang="en-US" sz="1600" dirty="0"/>
          </a:p>
        </p:txBody>
      </p:sp>
      <p:sp>
        <p:nvSpPr>
          <p:cNvPr id="12" name="Text 10"/>
          <p:cNvSpPr/>
          <p:nvPr/>
        </p:nvSpPr>
        <p:spPr>
          <a:xfrm>
            <a:off x="3749040" y="4023360"/>
            <a:ext cx="7894015" cy="54864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This deck. Then the Foreword, Introduction, and Closing of the Reference Paper.</a:t>
            </a:r>
            <a:endParaRPr lang="en-US" sz="1300" dirty="0"/>
          </a:p>
        </p:txBody>
      </p:sp>
      <p:sp>
        <p:nvSpPr>
          <p:cNvPr id="13" name="Text 11"/>
          <p:cNvSpPr/>
          <p:nvPr/>
        </p:nvSpPr>
        <p:spPr>
          <a:xfrm>
            <a:off x="548640" y="4663440"/>
            <a:ext cx="3200400" cy="365760"/>
          </a:xfrm>
          <a:prstGeom prst="rect">
            <a:avLst/>
          </a:prstGeom>
          <a:noFill/>
          <a:ln/>
        </p:spPr>
        <p:txBody>
          <a:bodyPr wrap="square" rtlCol="0" anchor="ctr"/>
          <a:lstStyle/>
          <a:p>
            <a:pPr indent="0" marL="0">
              <a:buNone/>
            </a:pPr>
            <a:r>
              <a:rPr lang="en-US" sz="1600" b="1" dirty="0">
                <a:solidFill>
                  <a:srgbClr val="8B7340"/>
                </a:solidFill>
                <a:latin typeface="Arial" pitchFamily="34" charset="0"/>
                <a:ea typeface="Arial" pitchFamily="34" charset="-122"/>
                <a:cs typeface="Arial" pitchFamily="34" charset="-120"/>
              </a:rPr>
              <a:t>Practitioners and Contributors</a:t>
            </a:r>
            <a:endParaRPr lang="en-US" sz="1600" dirty="0"/>
          </a:p>
        </p:txBody>
      </p:sp>
      <p:sp>
        <p:nvSpPr>
          <p:cNvPr id="14" name="Text 12"/>
          <p:cNvSpPr/>
          <p:nvPr/>
        </p:nvSpPr>
        <p:spPr>
          <a:xfrm>
            <a:off x="3749040" y="4663440"/>
            <a:ext cx="7894015" cy="548640"/>
          </a:xfrm>
          <a:prstGeom prst="rect">
            <a:avLst/>
          </a:prstGeom>
          <a:noFill/>
          <a:ln/>
        </p:spPr>
        <p:txBody>
          <a:bodyPr wrap="square" rtlCol="0" anchor="ctr"/>
          <a:lstStyle/>
          <a:p>
            <a:pPr indent="0" marL="0">
              <a:buNone/>
            </a:pPr>
            <a:r>
              <a:rPr lang="en-US" sz="1300" dirty="0">
                <a:solidFill>
                  <a:srgbClr val="0F1A24"/>
                </a:solidFill>
                <a:latin typeface="Arial" pitchFamily="34" charset="0"/>
                <a:ea typeface="Arial" pitchFamily="34" charset="-122"/>
                <a:cs typeface="Arial" pitchFamily="34" charset="-120"/>
              </a:rPr>
              <a:t>Everything. The full Reference Paper, all Lenses, and the Architecture Lock.</a:t>
            </a:r>
            <a:endParaRPr lang="en-US" sz="1300" dirty="0"/>
          </a:p>
        </p:txBody>
      </p:sp>
      <p:sp>
        <p:nvSpPr>
          <p:cNvPr id="15" name="Shape 13"/>
          <p:cNvSpPr/>
          <p:nvPr/>
        </p:nvSpPr>
        <p:spPr>
          <a:xfrm>
            <a:off x="548640" y="6400800"/>
            <a:ext cx="11094415" cy="4572"/>
          </a:xfrm>
          <a:prstGeom prst="rect">
            <a:avLst/>
          </a:prstGeom>
          <a:solidFill>
            <a:srgbClr val="C9C0AD"/>
          </a:solidFill>
          <a:ln w="12700">
            <a:solidFill>
              <a:srgbClr val="C9C0AD"/>
            </a:solidFill>
            <a:prstDash val="solid"/>
          </a:ln>
        </p:spPr>
      </p:sp>
      <p:sp>
        <p:nvSpPr>
          <p:cNvPr id="16" name="Text 14"/>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17" name="Text 15"/>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WHAT THE MODEL DELIBERATELY DOES NOT YET CLOSE</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The open questions are where the work concentrates next.</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1828800"/>
            <a:ext cx="11094415" cy="4572000"/>
          </a:xfrm>
          <a:prstGeom prst="rect">
            <a:avLst/>
          </a:prstGeom>
          <a:noFill/>
          <a:ln/>
        </p:spPr>
        <p:txBody>
          <a:bodyPr wrap="square" rtlCol="0" anchor="ctr"/>
          <a:lstStyle/>
          <a:p>
            <a:pPr indent="0" marL="0">
              <a:spcAft>
                <a:spcPts val="400"/>
              </a:spcAft>
              <a:buNone/>
            </a:pPr>
            <a:r>
              <a:rPr lang="en-US" sz="1600" b="1" dirty="0">
                <a:solidFill>
                  <a:srgbClr val="0F1A24"/>
                </a:solidFill>
                <a:latin typeface="Arial" pitchFamily="34" charset="0"/>
                <a:ea typeface="Arial" pitchFamily="34" charset="-122"/>
                <a:cs typeface="Arial" pitchFamily="34" charset="-120"/>
              </a:rPr>
              <a:t>Layer 8 — Continuity Fabric.</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Continuity primitives that work across agent frameworks. Witness-chain implementations at scale. The most architecturally consequential gap in the present technology stack.</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400"/>
              </a:spcAft>
              <a:buNone/>
            </a:pPr>
            <a:r>
              <a:rPr lang="en-US" sz="1600" b="1" dirty="0">
                <a:solidFill>
                  <a:srgbClr val="0F1A24"/>
                </a:solidFill>
                <a:latin typeface="Arial" pitchFamily="34" charset="0"/>
                <a:ea typeface="Arial" pitchFamily="34" charset="-122"/>
                <a:cs typeface="Arial" pitchFamily="34" charset="-120"/>
              </a:rPr>
              <a:t>Layer 7 — Agent identity at architectural scope.</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Onboarding, scope assignment, behavioural baselining, offboarding. The MCP security architecture as it matures.</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400"/>
              </a:spcAft>
              <a:buNone/>
            </a:pPr>
            <a:r>
              <a:rPr lang="en-US" sz="1600" b="1" dirty="0">
                <a:solidFill>
                  <a:srgbClr val="0F1A24"/>
                </a:solidFill>
                <a:latin typeface="Arial" pitchFamily="34" charset="0"/>
                <a:ea typeface="Arial" pitchFamily="34" charset="-122"/>
                <a:cs typeface="Arial" pitchFamily="34" charset="-120"/>
              </a:rPr>
              <a:t>Layer 5 — Continuous model trust scoring.</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Foundation models as actors whose trustworthiness is dynamic and must be governed dynamically.</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400"/>
              </a:spcAft>
              <a:buNone/>
            </a:pPr>
            <a:r>
              <a:rPr lang="en-US" sz="1600" b="1" dirty="0">
                <a:solidFill>
                  <a:srgbClr val="0F1A24"/>
                </a:solidFill>
                <a:latin typeface="Arial" pitchFamily="34" charset="0"/>
                <a:ea typeface="Arial" pitchFamily="34" charset="-122"/>
                <a:cs typeface="Arial" pitchFamily="34" charset="-120"/>
              </a:rPr>
              <a:t>Verifiability span.</a:t>
            </a:r>
            <a:endParaRPr lang="en-US" sz="1600" dirty="0"/>
          </a:p>
          <a:p>
            <a:pPr indent="0" marL="0">
              <a:spcAft>
                <a:spcPts val="400"/>
              </a:spcAft>
              <a:buNone/>
            </a:pPr>
            <a:r>
              <a:rPr lang="en-US" sz="1600" dirty="0">
                <a:solidFill>
                  <a:srgbClr val="0F1A24"/>
                </a:solidFill>
                <a:latin typeface="Arial" pitchFamily="34" charset="0"/>
                <a:ea typeface="Arial" pitchFamily="34" charset="-122"/>
                <a:cs typeface="Arial" pitchFamily="34" charset="-120"/>
              </a:rPr>
              <a:t>Whether trust verified rather than asserted becomes an enterprise default — or remains a regulated-workload specialty.</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CLOSING</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Reference architectures earn their place when the people who must apply them can find their work in the language.</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2011680"/>
            <a:ext cx="11094415" cy="4114800"/>
          </a:xfrm>
          <a:prstGeom prst="rect">
            <a:avLst/>
          </a:prstGeom>
          <a:noFill/>
          <a:ln/>
        </p:spPr>
        <p:txBody>
          <a:bodyPr wrap="square" rtlCol="0" anchor="ctr"/>
          <a:lstStyle/>
          <a:p>
            <a:pPr indent="0" marL="0">
              <a:spcAft>
                <a:spcPts val="800"/>
              </a:spcAft>
              <a:buNone/>
            </a:pPr>
            <a:r>
              <a:rPr lang="en-US" sz="1600" dirty="0">
                <a:solidFill>
                  <a:srgbClr val="0F1A24"/>
                </a:solidFill>
                <a:latin typeface="Arial" pitchFamily="34" charset="0"/>
                <a:ea typeface="Arial" pitchFamily="34" charset="-122"/>
                <a:cs typeface="Arial" pitchFamily="34" charset="-120"/>
              </a:rPr>
              <a:t>The OIA Reference Model is meant to be foundational. Foundational means open — to the audiences that will use it, to the practitioners who will refine it, and to the technological progress that will keep changing what enterprise intelligence can do.</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The Foundation invites you to read the architecture. Read the Lens that fits your role. Push back on what does not fit. Tell us what is missing.</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800"/>
              </a:spcAft>
              <a:buNone/>
            </a:pPr>
            <a:r>
              <a:rPr lang="en-US" sz="1600" i="1" dirty="0">
                <a:solidFill>
                  <a:srgbClr val="8B7340"/>
                </a:solidFill>
                <a:latin typeface="Arial" pitchFamily="34" charset="0"/>
                <a:ea typeface="Arial" pitchFamily="34" charset="-122"/>
                <a:cs typeface="Arial" pitchFamily="34" charset="-120"/>
              </a:rPr>
              <a:t>We will keep developing the model. The body of work will keep growing.</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11094415" cy="274320"/>
          </a:xfrm>
          <a:prstGeom prst="rect">
            <a:avLst/>
          </a:prstGeom>
          <a:noFill/>
          <a:ln/>
        </p:spPr>
        <p:txBody>
          <a:bodyPr wrap="square" rtlCol="0" anchor="ctr"/>
          <a:lstStyle/>
          <a:p>
            <a:pPr indent="0" marL="0">
              <a:buNone/>
            </a:pPr>
            <a:r>
              <a:rPr lang="en-US" sz="1100" b="1" spc="200" kern="0" dirty="0">
                <a:solidFill>
                  <a:srgbClr val="8B7340"/>
                </a:solidFill>
                <a:latin typeface="Arial" pitchFamily="34" charset="0"/>
                <a:ea typeface="Arial" pitchFamily="34" charset="-122"/>
                <a:cs typeface="Arial" pitchFamily="34" charset="-120"/>
              </a:rPr>
              <a:t>WITH THANKS</a:t>
            </a:r>
            <a:endParaRPr lang="en-US" sz="1100" dirty="0"/>
          </a:p>
        </p:txBody>
      </p:sp>
      <p:sp>
        <p:nvSpPr>
          <p:cNvPr id="3" name="Text 1"/>
          <p:cNvSpPr/>
          <p:nvPr/>
        </p:nvSpPr>
        <p:spPr>
          <a:xfrm>
            <a:off x="548640" y="868680"/>
            <a:ext cx="11094415" cy="640080"/>
          </a:xfrm>
          <a:prstGeom prst="rect">
            <a:avLst/>
          </a:prstGeom>
          <a:noFill/>
          <a:ln/>
        </p:spPr>
        <p:txBody>
          <a:bodyPr wrap="square" rtlCol="0" anchor="ctr"/>
          <a:lstStyle/>
          <a:p>
            <a:pPr indent="0" marL="0">
              <a:buNone/>
            </a:pPr>
            <a:r>
              <a:rPr lang="en-US" sz="2800" dirty="0">
                <a:solidFill>
                  <a:srgbClr val="0F1A24"/>
                </a:solidFill>
                <a:latin typeface="Arial" pitchFamily="34" charset="0"/>
                <a:ea typeface="Arial" pitchFamily="34" charset="-122"/>
                <a:cs typeface="Arial" pitchFamily="34" charset="-120"/>
              </a:rPr>
              <a:t>Acknowledgments</a:t>
            </a:r>
            <a:endParaRPr lang="en-US" sz="2800" dirty="0"/>
          </a:p>
        </p:txBody>
      </p:sp>
      <p:sp>
        <p:nvSpPr>
          <p:cNvPr id="4" name="Shape 2"/>
          <p:cNvSpPr/>
          <p:nvPr/>
        </p:nvSpPr>
        <p:spPr>
          <a:xfrm>
            <a:off x="548640" y="1508760"/>
            <a:ext cx="11094415" cy="3658"/>
          </a:xfrm>
          <a:prstGeom prst="rect">
            <a:avLst/>
          </a:prstGeom>
          <a:solidFill>
            <a:srgbClr val="C9C0AD"/>
          </a:solidFill>
          <a:ln w="12700">
            <a:solidFill>
              <a:srgbClr val="C9C0AD"/>
            </a:solidFill>
            <a:prstDash val="solid"/>
          </a:ln>
        </p:spPr>
      </p:sp>
      <p:sp>
        <p:nvSpPr>
          <p:cNvPr id="5" name="Text 3"/>
          <p:cNvSpPr/>
          <p:nvPr/>
        </p:nvSpPr>
        <p:spPr>
          <a:xfrm>
            <a:off x="548640" y="1828800"/>
            <a:ext cx="11094415" cy="4572000"/>
          </a:xfrm>
          <a:prstGeom prst="rect">
            <a:avLst/>
          </a:prstGeom>
          <a:noFill/>
          <a:ln/>
        </p:spPr>
        <p:txBody>
          <a:bodyPr wrap="square" rtlCol="0" anchor="ctr"/>
          <a:lstStyle/>
          <a:p>
            <a:pPr indent="0" marL="0">
              <a:spcAft>
                <a:spcPts val="800"/>
              </a:spcAft>
              <a:buNone/>
            </a:pPr>
            <a:r>
              <a:rPr lang="en-US" sz="1600" dirty="0">
                <a:solidFill>
                  <a:srgbClr val="0F1A24"/>
                </a:solidFill>
                <a:latin typeface="Arial" pitchFamily="34" charset="0"/>
                <a:ea typeface="Arial" pitchFamily="34" charset="-122"/>
                <a:cs typeface="Arial" pitchFamily="34" charset="-120"/>
              </a:rPr>
              <a:t>The OIA Reference Model is the product of many minds. The architecture builds on the agentic infrastructure thinking of Reuven Cohen. The pressure-testing and practitioner perspectives came from John McKinley, Greg Lavender, and the CISO colleagues who took the time to read drafts.</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The customer and partner perspectives that grounded the architecture in real deployment came from friends at:</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800"/>
              </a:spcAft>
              <a:buNone/>
            </a:pPr>
            <a:r>
              <a:rPr lang="en-US" sz="1600" b="1" dirty="0">
                <a:solidFill>
                  <a:srgbClr val="8B7340"/>
                </a:solidFill>
                <a:latin typeface="Arial" pitchFamily="34" charset="0"/>
                <a:ea typeface="Arial" pitchFamily="34" charset="-122"/>
                <a:cs typeface="Arial" pitchFamily="34" charset="-120"/>
              </a:rPr>
              <a:t>Arista Networks  ·  Nutanix  ·  Proofpoint  ·  Reltio  ·  Thoma Bravo  ·  ACIUM</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a:t>
            </a:r>
            <a:endParaRPr lang="en-US" sz="1600" dirty="0"/>
          </a:p>
          <a:p>
            <a:pPr indent="0" marL="0">
              <a:spcAft>
                <a:spcPts val="800"/>
              </a:spcAft>
              <a:buNone/>
            </a:pPr>
            <a:r>
              <a:rPr lang="en-US" sz="1600" dirty="0">
                <a:solidFill>
                  <a:srgbClr val="0F1A24"/>
                </a:solidFill>
                <a:latin typeface="Arial" pitchFamily="34" charset="0"/>
                <a:ea typeface="Arial" pitchFamily="34" charset="-122"/>
                <a:cs typeface="Arial" pitchFamily="34" charset="-120"/>
              </a:rPr>
              <a:t>— each contributing technological insights, customer perspectives, and the sage advice that comes from people who have actually had to ship enterprise software at scale. The model is better for all of it.</a:t>
            </a:r>
            <a:endParaRPr lang="en-US" sz="1600" dirty="0"/>
          </a:p>
        </p:txBody>
      </p:sp>
      <p:sp>
        <p:nvSpPr>
          <p:cNvPr id="6" name="Shape 4"/>
          <p:cNvSpPr/>
          <p:nvPr/>
        </p:nvSpPr>
        <p:spPr>
          <a:xfrm>
            <a:off x="548640" y="6400800"/>
            <a:ext cx="11094415" cy="4572"/>
          </a:xfrm>
          <a:prstGeom prst="rect">
            <a:avLst/>
          </a:prstGeom>
          <a:solidFill>
            <a:srgbClr val="C9C0AD"/>
          </a:solidFill>
          <a:ln w="12700">
            <a:solidFill>
              <a:srgbClr val="C9C0AD"/>
            </a:solidFill>
            <a:prstDash val="solid"/>
          </a:ln>
        </p:spPr>
      </p:sp>
      <p:sp>
        <p:nvSpPr>
          <p:cNvPr id="7" name="Text 5"/>
          <p:cNvSpPr/>
          <p:nvPr/>
        </p:nvSpPr>
        <p:spPr>
          <a:xfrm>
            <a:off x="548640" y="6483096"/>
            <a:ext cx="7315200" cy="274320"/>
          </a:xfrm>
          <a:prstGeom prst="rect">
            <a:avLst/>
          </a:prstGeom>
          <a:noFill/>
          <a:ln/>
        </p:spPr>
        <p:txBody>
          <a:bodyPr wrap="square" rtlCol="0" anchor="ctr"/>
          <a:lstStyle/>
          <a:p>
            <a:pPr indent="0" marL="0">
              <a:buNone/>
            </a:pPr>
            <a:r>
              <a:rPr lang="en-US" sz="900" i="1" spc="100" kern="0" dirty="0">
                <a:solidFill>
                  <a:srgbClr val="7A8390"/>
                </a:solidFill>
                <a:latin typeface="Arial" pitchFamily="34" charset="0"/>
                <a:ea typeface="Arial" pitchFamily="34" charset="-122"/>
                <a:cs typeface="Arial" pitchFamily="34" charset="-120"/>
              </a:rPr>
              <a:t>AGENTICS FOUNDATION  ·  THE OIA REFERENCE MODEL  ·  V0.5</a:t>
            </a:r>
            <a:endParaRPr lang="en-US" sz="900" dirty="0"/>
          </a:p>
        </p:txBody>
      </p:sp>
      <p:sp>
        <p:nvSpPr>
          <p:cNvPr id="8" name="Text 6"/>
          <p:cNvSpPr/>
          <p:nvPr/>
        </p:nvSpPr>
        <p:spPr>
          <a:xfrm>
            <a:off x="7985455" y="6483096"/>
            <a:ext cx="3657600" cy="274320"/>
          </a:xfrm>
          <a:prstGeom prst="rect">
            <a:avLst/>
          </a:prstGeom>
          <a:noFill/>
          <a:ln/>
        </p:spPr>
        <p:txBody>
          <a:bodyPr wrap="square" rtlCol="0" anchor="ctr"/>
          <a:lstStyle/>
          <a:p>
            <a:pPr algn="r" indent="0" marL="0">
              <a:buNone/>
            </a:pPr>
            <a:r>
              <a:rPr lang="en-US" sz="900" i="1" spc="100" kern="0" dirty="0">
                <a:solidFill>
                  <a:srgbClr val="E5DFD0"/>
                </a:solidFill>
                <a:latin typeface="Arial" pitchFamily="34" charset="0"/>
                <a:ea typeface="Arial" pitchFamily="34" charset="-122"/>
                <a:cs typeface="Arial" pitchFamily="34" charset="-120"/>
              </a:rPr>
              <a:t>[ supporting company slot ]</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548640" y="2377440"/>
            <a:ext cx="11094415" cy="365760"/>
          </a:xfrm>
          <a:prstGeom prst="rect">
            <a:avLst/>
          </a:prstGeom>
          <a:noFill/>
          <a:ln/>
        </p:spPr>
        <p:txBody>
          <a:bodyPr wrap="square" rtlCol="0" anchor="ctr"/>
          <a:lstStyle/>
          <a:p>
            <a:pPr algn="ctr" indent="0" marL="0">
              <a:buNone/>
            </a:pPr>
            <a:r>
              <a:rPr lang="en-US" sz="1100" b="1" spc="200" kern="0" dirty="0">
                <a:solidFill>
                  <a:srgbClr val="8B7340"/>
                </a:solidFill>
                <a:latin typeface="Arial" pitchFamily="34" charset="0"/>
                <a:ea typeface="Arial" pitchFamily="34" charset="-122"/>
                <a:cs typeface="Arial" pitchFamily="34" charset="-120"/>
              </a:rPr>
              <a:t>PUBLISHED BY THE AGENTICS FOUNDATION</a:t>
            </a:r>
            <a:endParaRPr lang="en-US" sz="1100" dirty="0"/>
          </a:p>
        </p:txBody>
      </p:sp>
      <p:sp>
        <p:nvSpPr>
          <p:cNvPr id="3" name="Text 1"/>
          <p:cNvSpPr/>
          <p:nvPr/>
        </p:nvSpPr>
        <p:spPr>
          <a:xfrm>
            <a:off x="548640" y="2834640"/>
            <a:ext cx="11094415" cy="914400"/>
          </a:xfrm>
          <a:prstGeom prst="rect">
            <a:avLst/>
          </a:prstGeom>
          <a:noFill/>
          <a:ln/>
        </p:spPr>
        <p:txBody>
          <a:bodyPr wrap="square" rtlCol="0" anchor="ctr"/>
          <a:lstStyle/>
          <a:p>
            <a:pPr algn="ctr" indent="0" marL="0">
              <a:buNone/>
            </a:pPr>
            <a:r>
              <a:rPr lang="en-US" sz="4800" dirty="0">
                <a:solidFill>
                  <a:srgbClr val="0F1A24"/>
                </a:solidFill>
                <a:latin typeface="Arial" pitchFamily="34" charset="0"/>
                <a:ea typeface="Arial" pitchFamily="34" charset="-122"/>
                <a:cs typeface="Arial" pitchFamily="34" charset="-120"/>
              </a:rPr>
              <a:t>Discussion</a:t>
            </a:r>
            <a:endParaRPr lang="en-US" sz="4800" dirty="0"/>
          </a:p>
        </p:txBody>
      </p:sp>
      <p:sp>
        <p:nvSpPr>
          <p:cNvPr id="4" name="Text 2"/>
          <p:cNvSpPr/>
          <p:nvPr/>
        </p:nvSpPr>
        <p:spPr>
          <a:xfrm>
            <a:off x="548640" y="3931920"/>
            <a:ext cx="11094415" cy="457200"/>
          </a:xfrm>
          <a:prstGeom prst="rect">
            <a:avLst/>
          </a:prstGeom>
          <a:noFill/>
          <a:ln/>
        </p:spPr>
        <p:txBody>
          <a:bodyPr wrap="square" rtlCol="0" anchor="ctr"/>
          <a:lstStyle/>
          <a:p>
            <a:pPr algn="ctr" indent="0" marL="0">
              <a:buNone/>
            </a:pPr>
            <a:r>
              <a:rPr lang="en-US" sz="1600" i="1" dirty="0">
                <a:solidFill>
                  <a:srgbClr val="4A5562"/>
                </a:solidFill>
                <a:latin typeface="Arial" pitchFamily="34" charset="0"/>
                <a:ea typeface="Arial" pitchFamily="34" charset="-122"/>
                <a:cs typeface="Arial" pitchFamily="34" charset="-120"/>
              </a:rPr>
              <a:t>The OIA Reference Model  ·  v0.5  ·  2026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Agentics Foundation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OIA Reference Model</dc:title>
  <dc:subject>Thought Leadership Presentation</dc:subject>
  <dc:creator>Mark Templeton</dc:creator>
  <cp:lastModifiedBy>Mark Templeton</cp:lastModifiedBy>
  <cp:revision>1</cp:revision>
  <dcterms:created xsi:type="dcterms:W3CDTF">2026-05-09T20:28:00Z</dcterms:created>
  <dcterms:modified xsi:type="dcterms:W3CDTF">2026-05-09T20:28:00Z</dcterms:modified>
</cp:coreProperties>
</file>