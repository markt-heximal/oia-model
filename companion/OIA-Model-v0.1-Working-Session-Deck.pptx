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731520"/>
            <a:ext cx="10972800" cy="274320"/>
          </a:xfrm>
          <a:prstGeom prst="rect">
            <a:avLst/>
          </a:prstGeom>
          <a:noFill/>
          <a:ln/>
        </p:spPr>
        <p:txBody>
          <a:bodyPr wrap="square" rtlCol="0" anchor="ctr"/>
          <a:lstStyle/>
          <a:p>
            <a:pPr algn="ctr" indent="0" marL="0">
              <a:buNone/>
            </a:pPr>
            <a:r>
              <a:rPr lang="en-US" sz="1000" spc="400" kern="0" dirty="0">
                <a:solidFill>
                  <a:srgbClr val="6E6E73"/>
                </a:solidFill>
                <a:latin typeface="Helvetica Neue" pitchFamily="34" charset="0"/>
                <a:ea typeface="Helvetica Neue" pitchFamily="34" charset="-122"/>
                <a:cs typeface="Helvetica Neue" pitchFamily="34" charset="-120"/>
              </a:rPr>
              <a:t>PUBLISHED BY THE AGENTICS FOUNDATION</a:t>
            </a:r>
            <a:endParaRPr lang="en-US" sz="1000" dirty="0"/>
          </a:p>
        </p:txBody>
      </p:sp>
      <p:sp>
        <p:nvSpPr>
          <p:cNvPr id="3" name="Text 1"/>
          <p:cNvSpPr/>
          <p:nvPr/>
        </p:nvSpPr>
        <p:spPr>
          <a:xfrm>
            <a:off x="548640" y="2560320"/>
            <a:ext cx="10972800" cy="1280160"/>
          </a:xfrm>
          <a:prstGeom prst="rect">
            <a:avLst/>
          </a:prstGeom>
          <a:noFill/>
          <a:ln/>
        </p:spPr>
        <p:txBody>
          <a:bodyPr wrap="square" rtlCol="0" anchor="ctr"/>
          <a:lstStyle/>
          <a:p>
            <a:pPr algn="ctr" indent="0" marL="0">
              <a:buNone/>
            </a:pPr>
            <a:r>
              <a:rPr lang="en-US" sz="7200" dirty="0">
                <a:solidFill>
                  <a:srgbClr val="000000"/>
                </a:solidFill>
                <a:latin typeface="Helvetica Neue" pitchFamily="34" charset="0"/>
                <a:ea typeface="Helvetica Neue" pitchFamily="34" charset="-122"/>
                <a:cs typeface="Helvetica Neue" pitchFamily="34" charset="-120"/>
              </a:rPr>
              <a:t>The OIA Model</a:t>
            </a:r>
            <a:endParaRPr lang="en-US" sz="7200" dirty="0"/>
          </a:p>
        </p:txBody>
      </p:sp>
      <p:sp>
        <p:nvSpPr>
          <p:cNvPr id="4" name="Text 2"/>
          <p:cNvSpPr/>
          <p:nvPr/>
        </p:nvSpPr>
        <p:spPr>
          <a:xfrm>
            <a:off x="548640" y="3749040"/>
            <a:ext cx="10972800" cy="457200"/>
          </a:xfrm>
          <a:prstGeom prst="rect">
            <a:avLst/>
          </a:prstGeom>
          <a:noFill/>
          <a:ln/>
        </p:spPr>
        <p:txBody>
          <a:bodyPr wrap="square" rtlCol="0" anchor="ctr"/>
          <a:lstStyle/>
          <a:p>
            <a:pPr algn="ctr" indent="0" marL="0">
              <a:buNone/>
            </a:pPr>
            <a:r>
              <a:rPr lang="en-US" sz="2400" dirty="0">
                <a:solidFill>
                  <a:srgbClr val="1C1C1E"/>
                </a:solidFill>
                <a:latin typeface="Helvetica Neue" pitchFamily="34" charset="0"/>
                <a:ea typeface="Helvetica Neue" pitchFamily="34" charset="-122"/>
                <a:cs typeface="Helvetica Neue" pitchFamily="34" charset="-120"/>
              </a:rPr>
              <a:t>Open Intelligence Architecture</a:t>
            </a:r>
            <a:endParaRPr lang="en-US" sz="2400" dirty="0"/>
          </a:p>
        </p:txBody>
      </p:sp>
      <p:sp>
        <p:nvSpPr>
          <p:cNvPr id="5" name="Text 3"/>
          <p:cNvSpPr/>
          <p:nvPr/>
        </p:nvSpPr>
        <p:spPr>
          <a:xfrm>
            <a:off x="548640" y="4389120"/>
            <a:ext cx="10972800" cy="365760"/>
          </a:xfrm>
          <a:prstGeom prst="rect">
            <a:avLst/>
          </a:prstGeom>
          <a:noFill/>
          <a:ln/>
        </p:spPr>
        <p:txBody>
          <a:bodyPr wrap="square" rtlCol="0" anchor="ctr"/>
          <a:lstStyle/>
          <a:p>
            <a:pPr algn="ctr" indent="0" marL="0">
              <a:buNone/>
            </a:pPr>
            <a:r>
              <a:rPr lang="en-US" sz="1600" i="1" dirty="0">
                <a:solidFill>
                  <a:srgbClr val="6E6E73"/>
                </a:solidFill>
                <a:latin typeface="Helvetica Neue" pitchFamily="34" charset="0"/>
                <a:ea typeface="Helvetica Neue" pitchFamily="34" charset="-122"/>
                <a:cs typeface="Helvetica Neue" pitchFamily="34" charset="-120"/>
              </a:rPr>
              <a:t>Working Session Reference Deck</a:t>
            </a:r>
            <a:endParaRPr lang="en-US" sz="1600" dirty="0"/>
          </a:p>
        </p:txBody>
      </p:sp>
      <p:sp>
        <p:nvSpPr>
          <p:cNvPr id="6" name="Text 4"/>
          <p:cNvSpPr/>
          <p:nvPr/>
        </p:nvSpPr>
        <p:spPr>
          <a:xfrm>
            <a:off x="548640" y="6217920"/>
            <a:ext cx="10972800" cy="274320"/>
          </a:xfrm>
          <a:prstGeom prst="rect">
            <a:avLst/>
          </a:prstGeom>
          <a:noFill/>
          <a:ln/>
        </p:spPr>
        <p:txBody>
          <a:bodyPr wrap="square" rtlCol="0" anchor="ctr"/>
          <a:lstStyle/>
          <a:p>
            <a:pPr algn="ctr" indent="0" marL="0">
              <a:buNone/>
            </a:pPr>
            <a:r>
              <a:rPr lang="en-US" sz="1100" dirty="0">
                <a:solidFill>
                  <a:srgbClr val="6E6E73"/>
                </a:solidFill>
                <a:latin typeface="Helvetica Neue" pitchFamily="34" charset="0"/>
                <a:ea typeface="Helvetica Neue" pitchFamily="34" charset="-122"/>
                <a:cs typeface="Helvetica Neue" pitchFamily="34" charset="-120"/>
              </a:rPr>
              <a:t>Version 0.1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NAVIGATION</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How to Use This Deck</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A reference companion to the Reader's Digest.</a:t>
            </a:r>
            <a:endParaRPr lang="en-US" sz="1600" dirty="0"/>
          </a:p>
        </p:txBody>
      </p:sp>
      <p:sp>
        <p:nvSpPr>
          <p:cNvPr id="5" name="Text 3"/>
          <p:cNvSpPr/>
          <p:nvPr/>
        </p:nvSpPr>
        <p:spPr>
          <a:xfrm>
            <a:off x="1097280" y="274320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3</a:t>
            </a:r>
            <a:endParaRPr lang="en-US" sz="1400" dirty="0"/>
          </a:p>
        </p:txBody>
      </p:sp>
      <p:sp>
        <p:nvSpPr>
          <p:cNvPr id="6" name="Text 4"/>
          <p:cNvSpPr/>
          <p:nvPr/>
        </p:nvSpPr>
        <p:spPr>
          <a:xfrm>
            <a:off x="3291840" y="274320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 thesis — three properties of intelligent systems</a:t>
            </a:r>
            <a:endParaRPr lang="en-US" sz="1400" dirty="0"/>
          </a:p>
        </p:txBody>
      </p:sp>
      <p:sp>
        <p:nvSpPr>
          <p:cNvPr id="7" name="Text 5"/>
          <p:cNvSpPr/>
          <p:nvPr/>
        </p:nvSpPr>
        <p:spPr>
          <a:xfrm>
            <a:off x="1097280" y="315468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4</a:t>
            </a:r>
            <a:endParaRPr lang="en-US" sz="1400" dirty="0"/>
          </a:p>
        </p:txBody>
      </p:sp>
      <p:sp>
        <p:nvSpPr>
          <p:cNvPr id="8" name="Text 6"/>
          <p:cNvSpPr/>
          <p:nvPr/>
        </p:nvSpPr>
        <p:spPr>
          <a:xfrm>
            <a:off x="3291840" y="315468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 nine-layer architectural diagram</a:t>
            </a:r>
            <a:endParaRPr lang="en-US" sz="1400" dirty="0"/>
          </a:p>
        </p:txBody>
      </p:sp>
      <p:sp>
        <p:nvSpPr>
          <p:cNvPr id="9" name="Text 7"/>
          <p:cNvSpPr/>
          <p:nvPr/>
        </p:nvSpPr>
        <p:spPr>
          <a:xfrm>
            <a:off x="1097280" y="356616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Slides 5–14</a:t>
            </a:r>
            <a:endParaRPr lang="en-US" sz="1400" dirty="0"/>
          </a:p>
        </p:txBody>
      </p:sp>
      <p:sp>
        <p:nvSpPr>
          <p:cNvPr id="10" name="Text 8"/>
          <p:cNvSpPr/>
          <p:nvPr/>
        </p:nvSpPr>
        <p:spPr>
          <a:xfrm>
            <a:off x="3291840" y="356616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 ten layer positions, one slide each (Layers 0–9)</a:t>
            </a:r>
            <a:endParaRPr lang="en-US" sz="1400" dirty="0"/>
          </a:p>
        </p:txBody>
      </p:sp>
      <p:sp>
        <p:nvSpPr>
          <p:cNvPr id="11" name="Text 9"/>
          <p:cNvSpPr/>
          <p:nvPr/>
        </p:nvSpPr>
        <p:spPr>
          <a:xfrm>
            <a:off x="1097280" y="397764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15</a:t>
            </a:r>
            <a:endParaRPr lang="en-US" sz="1400" dirty="0"/>
          </a:p>
        </p:txBody>
      </p:sp>
      <p:sp>
        <p:nvSpPr>
          <p:cNvPr id="12" name="Text 10"/>
          <p:cNvSpPr/>
          <p:nvPr/>
        </p:nvSpPr>
        <p:spPr>
          <a:xfrm>
            <a:off x="3291840" y="397764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Cross-layer spans</a:t>
            </a:r>
            <a:endParaRPr lang="en-US" sz="1400" dirty="0"/>
          </a:p>
        </p:txBody>
      </p:sp>
      <p:sp>
        <p:nvSpPr>
          <p:cNvPr id="13" name="Text 11"/>
          <p:cNvSpPr/>
          <p:nvPr/>
        </p:nvSpPr>
        <p:spPr>
          <a:xfrm>
            <a:off x="1097280" y="438912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16</a:t>
            </a:r>
            <a:endParaRPr lang="en-US" sz="1400" dirty="0"/>
          </a:p>
        </p:txBody>
      </p:sp>
      <p:sp>
        <p:nvSpPr>
          <p:cNvPr id="14" name="Text 12"/>
          <p:cNvSpPr/>
          <p:nvPr/>
        </p:nvSpPr>
        <p:spPr>
          <a:xfrm>
            <a:off x="3291840" y="438912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Framework composition</a:t>
            </a:r>
            <a:endParaRPr lang="en-US" sz="1400" dirty="0"/>
          </a:p>
        </p:txBody>
      </p:sp>
      <p:sp>
        <p:nvSpPr>
          <p:cNvPr id="15" name="Text 13"/>
          <p:cNvSpPr/>
          <p:nvPr/>
        </p:nvSpPr>
        <p:spPr>
          <a:xfrm>
            <a:off x="1097280" y="480060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Slides 17–19</a:t>
            </a:r>
            <a:endParaRPr lang="en-US" sz="1400" dirty="0"/>
          </a:p>
        </p:txBody>
      </p:sp>
      <p:sp>
        <p:nvSpPr>
          <p:cNvPr id="16" name="Text 14"/>
          <p:cNvSpPr/>
          <p:nvPr/>
        </p:nvSpPr>
        <p:spPr>
          <a:xfrm>
            <a:off x="3291840" y="480060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Decisions worth re-opening</a:t>
            </a:r>
            <a:endParaRPr lang="en-US" sz="1400" dirty="0"/>
          </a:p>
        </p:txBody>
      </p:sp>
      <p:sp>
        <p:nvSpPr>
          <p:cNvPr id="17" name="Text 15"/>
          <p:cNvSpPr/>
          <p:nvPr/>
        </p:nvSpPr>
        <p:spPr>
          <a:xfrm>
            <a:off x="1097280" y="521208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20</a:t>
            </a:r>
            <a:endParaRPr lang="en-US" sz="1400" dirty="0"/>
          </a:p>
        </p:txBody>
      </p:sp>
      <p:sp>
        <p:nvSpPr>
          <p:cNvPr id="18" name="Text 16"/>
          <p:cNvSpPr/>
          <p:nvPr/>
        </p:nvSpPr>
        <p:spPr>
          <a:xfrm>
            <a:off x="3291840" y="521208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Open questions across the stack</a:t>
            </a:r>
            <a:endParaRPr lang="en-US" sz="1400" dirty="0"/>
          </a:p>
        </p:txBody>
      </p:sp>
      <p:sp>
        <p:nvSpPr>
          <p:cNvPr id="19" name="Text 17"/>
          <p:cNvSpPr/>
          <p:nvPr/>
        </p:nvSpPr>
        <p:spPr>
          <a:xfrm>
            <a:off x="1097280" y="5623560"/>
            <a:ext cx="201168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Slide 21</a:t>
            </a:r>
            <a:endParaRPr lang="en-US" sz="1400" dirty="0"/>
          </a:p>
        </p:txBody>
      </p:sp>
      <p:sp>
        <p:nvSpPr>
          <p:cNvPr id="20" name="Text 18"/>
          <p:cNvSpPr/>
          <p:nvPr/>
        </p:nvSpPr>
        <p:spPr>
          <a:xfrm>
            <a:off x="3291840" y="5623560"/>
            <a:ext cx="76809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Companion documents and next steps</a:t>
            </a:r>
            <a:endParaRPr lang="en-US" sz="1400" dirty="0"/>
          </a:p>
        </p:txBody>
      </p:sp>
      <p:sp>
        <p:nvSpPr>
          <p:cNvPr id="21" name="Text 19"/>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2 / 21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THE THESIS</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Three Properties Motivate Nine Layers</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Intelligent systems differ from prior paradigms in ways that require explicit architectural space.</a:t>
            </a:r>
            <a:endParaRPr lang="en-US" sz="1600" dirty="0"/>
          </a:p>
        </p:txBody>
      </p:sp>
      <p:sp>
        <p:nvSpPr>
          <p:cNvPr id="5" name="Shape 3"/>
          <p:cNvSpPr/>
          <p:nvPr/>
        </p:nvSpPr>
        <p:spPr>
          <a:xfrm>
            <a:off x="548640" y="2651760"/>
            <a:ext cx="3566160" cy="45720"/>
          </a:xfrm>
          <a:prstGeom prst="rect">
            <a:avLst/>
          </a:prstGeom>
          <a:solidFill>
            <a:srgbClr val="1D4ED8"/>
          </a:solidFill>
          <a:ln/>
        </p:spPr>
      </p:sp>
      <p:sp>
        <p:nvSpPr>
          <p:cNvPr id="6" name="Text 4"/>
          <p:cNvSpPr/>
          <p:nvPr/>
        </p:nvSpPr>
        <p:spPr>
          <a:xfrm>
            <a:off x="548640" y="2834640"/>
            <a:ext cx="3566160" cy="548640"/>
          </a:xfrm>
          <a:prstGeom prst="rect">
            <a:avLst/>
          </a:prstGeom>
          <a:noFill/>
          <a:ln/>
        </p:spPr>
        <p:txBody>
          <a:bodyPr wrap="square" rtlCol="0" anchor="ctr"/>
          <a:lstStyle/>
          <a:p>
            <a:pPr indent="0" marL="0">
              <a:buNone/>
            </a:pPr>
            <a:r>
              <a:rPr lang="en-US" sz="2800" dirty="0">
                <a:solidFill>
                  <a:srgbClr val="000000"/>
                </a:solidFill>
                <a:latin typeface="Helvetica Neue" pitchFamily="34" charset="0"/>
                <a:ea typeface="Helvetica Neue" pitchFamily="34" charset="-122"/>
                <a:cs typeface="Helvetica Neue" pitchFamily="34" charset="-120"/>
              </a:rPr>
              <a:t>Persistence</a:t>
            </a:r>
            <a:endParaRPr lang="en-US" sz="2800" dirty="0"/>
          </a:p>
        </p:txBody>
      </p:sp>
      <p:sp>
        <p:nvSpPr>
          <p:cNvPr id="7" name="Text 5"/>
          <p:cNvSpPr/>
          <p:nvPr/>
        </p:nvSpPr>
        <p:spPr>
          <a:xfrm>
            <a:off x="548640" y="3474720"/>
            <a:ext cx="3566160" cy="1645920"/>
          </a:xfrm>
          <a:prstGeom prst="rect">
            <a:avLst/>
          </a:prstGeom>
          <a:noFill/>
          <a:ln/>
        </p:spPr>
        <p:txBody>
          <a:bodyPr wrap="square" rtlCol="0" anchor="t"/>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They maintain state — memory, learned behaviour, accumulated context — across interactions, sessions, and lifecycles.</a:t>
            </a:r>
            <a:endParaRPr lang="en-US" sz="1400" dirty="0"/>
          </a:p>
        </p:txBody>
      </p:sp>
      <p:sp>
        <p:nvSpPr>
          <p:cNvPr id="8" name="Text 6"/>
          <p:cNvSpPr/>
          <p:nvPr/>
        </p:nvSpPr>
        <p:spPr>
          <a:xfrm>
            <a:off x="548640" y="5303520"/>
            <a:ext cx="3566160" cy="365760"/>
          </a:xfrm>
          <a:prstGeom prst="rect">
            <a:avLst/>
          </a:prstGeom>
          <a:noFill/>
          <a:ln/>
        </p:spPr>
        <p:txBody>
          <a:bodyPr wrap="square" rtlCol="0" anchor="ctr"/>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Anchored at Layer 8</a:t>
            </a:r>
            <a:endParaRPr lang="en-US" sz="1100" dirty="0"/>
          </a:p>
        </p:txBody>
      </p:sp>
      <p:sp>
        <p:nvSpPr>
          <p:cNvPr id="9" name="Shape 7"/>
          <p:cNvSpPr/>
          <p:nvPr/>
        </p:nvSpPr>
        <p:spPr>
          <a:xfrm>
            <a:off x="4343400" y="2651760"/>
            <a:ext cx="3566160" cy="45720"/>
          </a:xfrm>
          <a:prstGeom prst="rect">
            <a:avLst/>
          </a:prstGeom>
          <a:solidFill>
            <a:srgbClr val="1D4ED8"/>
          </a:solidFill>
          <a:ln/>
        </p:spPr>
      </p:sp>
      <p:sp>
        <p:nvSpPr>
          <p:cNvPr id="10" name="Text 8"/>
          <p:cNvSpPr/>
          <p:nvPr/>
        </p:nvSpPr>
        <p:spPr>
          <a:xfrm>
            <a:off x="4343400" y="2834640"/>
            <a:ext cx="3566160" cy="548640"/>
          </a:xfrm>
          <a:prstGeom prst="rect">
            <a:avLst/>
          </a:prstGeom>
          <a:noFill/>
          <a:ln/>
        </p:spPr>
        <p:txBody>
          <a:bodyPr wrap="square" rtlCol="0" anchor="ctr"/>
          <a:lstStyle/>
          <a:p>
            <a:pPr indent="0" marL="0">
              <a:buNone/>
            </a:pPr>
            <a:r>
              <a:rPr lang="en-US" sz="2800" dirty="0">
                <a:solidFill>
                  <a:srgbClr val="000000"/>
                </a:solidFill>
                <a:latin typeface="Helvetica Neue" pitchFamily="34" charset="0"/>
                <a:ea typeface="Helvetica Neue" pitchFamily="34" charset="-122"/>
                <a:cs typeface="Helvetica Neue" pitchFamily="34" charset="-120"/>
              </a:rPr>
              <a:t>Autonomy</a:t>
            </a:r>
            <a:endParaRPr lang="en-US" sz="2800" dirty="0"/>
          </a:p>
        </p:txBody>
      </p:sp>
      <p:sp>
        <p:nvSpPr>
          <p:cNvPr id="11" name="Text 9"/>
          <p:cNvSpPr/>
          <p:nvPr/>
        </p:nvSpPr>
        <p:spPr>
          <a:xfrm>
            <a:off x="4343400" y="3474720"/>
            <a:ext cx="3566160" cy="1645920"/>
          </a:xfrm>
          <a:prstGeom prst="rect">
            <a:avLst/>
          </a:prstGeom>
          <a:noFill/>
          <a:ln/>
        </p:spPr>
        <p:txBody>
          <a:bodyPr wrap="square" rtlCol="0" anchor="t"/>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They act with goals and judgment that may exceed the parameters of explicit instruction.</a:t>
            </a:r>
            <a:endParaRPr lang="en-US" sz="1400" dirty="0"/>
          </a:p>
        </p:txBody>
      </p:sp>
      <p:sp>
        <p:nvSpPr>
          <p:cNvPr id="12" name="Text 10"/>
          <p:cNvSpPr/>
          <p:nvPr/>
        </p:nvSpPr>
        <p:spPr>
          <a:xfrm>
            <a:off x="4343400" y="5303520"/>
            <a:ext cx="3566160" cy="365760"/>
          </a:xfrm>
          <a:prstGeom prst="rect">
            <a:avLst/>
          </a:prstGeom>
          <a:noFill/>
          <a:ln/>
        </p:spPr>
        <p:txBody>
          <a:bodyPr wrap="square" rtlCol="0" anchor="ctr"/>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Anchored at Layer 7</a:t>
            </a:r>
            <a:endParaRPr lang="en-US" sz="1100" dirty="0"/>
          </a:p>
        </p:txBody>
      </p:sp>
      <p:sp>
        <p:nvSpPr>
          <p:cNvPr id="13" name="Shape 11"/>
          <p:cNvSpPr/>
          <p:nvPr/>
        </p:nvSpPr>
        <p:spPr>
          <a:xfrm>
            <a:off x="8138160" y="2651760"/>
            <a:ext cx="3566160" cy="45720"/>
          </a:xfrm>
          <a:prstGeom prst="rect">
            <a:avLst/>
          </a:prstGeom>
          <a:solidFill>
            <a:srgbClr val="1D4ED8"/>
          </a:solidFill>
          <a:ln/>
        </p:spPr>
      </p:sp>
      <p:sp>
        <p:nvSpPr>
          <p:cNvPr id="14" name="Text 12"/>
          <p:cNvSpPr/>
          <p:nvPr/>
        </p:nvSpPr>
        <p:spPr>
          <a:xfrm>
            <a:off x="8138160" y="2834640"/>
            <a:ext cx="3566160" cy="548640"/>
          </a:xfrm>
          <a:prstGeom prst="rect">
            <a:avLst/>
          </a:prstGeom>
          <a:noFill/>
          <a:ln/>
        </p:spPr>
        <p:txBody>
          <a:bodyPr wrap="square" rtlCol="0" anchor="ctr"/>
          <a:lstStyle/>
          <a:p>
            <a:pPr indent="0" marL="0">
              <a:buNone/>
            </a:pPr>
            <a:r>
              <a:rPr lang="en-US" sz="2800" dirty="0">
                <a:solidFill>
                  <a:srgbClr val="000000"/>
                </a:solidFill>
                <a:latin typeface="Helvetica Neue" pitchFamily="34" charset="0"/>
                <a:ea typeface="Helvetica Neue" pitchFamily="34" charset="-122"/>
                <a:cs typeface="Helvetica Neue" pitchFamily="34" charset="-120"/>
              </a:rPr>
              <a:t>Consequence</a:t>
            </a:r>
            <a:endParaRPr lang="en-US" sz="2800" dirty="0"/>
          </a:p>
        </p:txBody>
      </p:sp>
      <p:sp>
        <p:nvSpPr>
          <p:cNvPr id="15" name="Text 13"/>
          <p:cNvSpPr/>
          <p:nvPr/>
        </p:nvSpPr>
        <p:spPr>
          <a:xfrm>
            <a:off x="8138160" y="3474720"/>
            <a:ext cx="3566160" cy="1645920"/>
          </a:xfrm>
          <a:prstGeom prst="rect">
            <a:avLst/>
          </a:prstGeom>
          <a:noFill/>
          <a:ln/>
        </p:spPr>
        <p:txBody>
          <a:bodyPr wrap="square" rtlCol="0" anchor="t"/>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They produce outputs and actions whose correctness, accountability, and auditability must be demonstrable.</a:t>
            </a:r>
            <a:endParaRPr lang="en-US" sz="1400" dirty="0"/>
          </a:p>
        </p:txBody>
      </p:sp>
      <p:sp>
        <p:nvSpPr>
          <p:cNvPr id="16" name="Text 14"/>
          <p:cNvSpPr/>
          <p:nvPr/>
        </p:nvSpPr>
        <p:spPr>
          <a:xfrm>
            <a:off x="8138160" y="5303520"/>
            <a:ext cx="3566160" cy="365760"/>
          </a:xfrm>
          <a:prstGeom prst="rect">
            <a:avLst/>
          </a:prstGeom>
          <a:noFill/>
          <a:ln/>
        </p:spPr>
        <p:txBody>
          <a:bodyPr wrap="square" rtlCol="0" anchor="ctr"/>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Cross-layer</a:t>
            </a:r>
            <a:endParaRPr lang="en-US" sz="1100" dirty="0"/>
          </a:p>
        </p:txBody>
      </p:sp>
      <p:sp>
        <p:nvSpPr>
          <p:cNvPr id="17" name="Text 1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3 / 21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THE ARCHITECTURE</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The Nine Layers</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Bottom-up, with state-holding layers bracketing the operational layers.</a:t>
            </a:r>
            <a:endParaRPr lang="en-US" sz="1600" dirty="0"/>
          </a:p>
        </p:txBody>
      </p:sp>
      <p:sp>
        <p:nvSpPr>
          <p:cNvPr id="5" name="Shape 3"/>
          <p:cNvSpPr/>
          <p:nvPr/>
        </p:nvSpPr>
        <p:spPr>
          <a:xfrm>
            <a:off x="9098280" y="3200400"/>
            <a:ext cx="0" cy="1463040"/>
          </a:xfrm>
          <a:prstGeom prst="line">
            <a:avLst/>
          </a:prstGeom>
          <a:noFill/>
          <a:ln w="25400">
            <a:solidFill>
              <a:srgbClr val="1D4ED8"/>
            </a:solidFill>
            <a:prstDash val="solid"/>
          </a:ln>
        </p:spPr>
      </p:sp>
      <p:sp>
        <p:nvSpPr>
          <p:cNvPr id="6" name="Shape 4"/>
          <p:cNvSpPr/>
          <p:nvPr/>
        </p:nvSpPr>
        <p:spPr>
          <a:xfrm>
            <a:off x="9098280" y="3200400"/>
            <a:ext cx="137160" cy="0"/>
          </a:xfrm>
          <a:prstGeom prst="line">
            <a:avLst/>
          </a:prstGeom>
          <a:noFill/>
          <a:ln w="25400">
            <a:solidFill>
              <a:srgbClr val="1D4ED8"/>
            </a:solidFill>
            <a:prstDash val="solid"/>
          </a:ln>
        </p:spPr>
      </p:sp>
      <p:sp>
        <p:nvSpPr>
          <p:cNvPr id="7" name="Shape 5"/>
          <p:cNvSpPr/>
          <p:nvPr/>
        </p:nvSpPr>
        <p:spPr>
          <a:xfrm>
            <a:off x="9098280" y="4663440"/>
            <a:ext cx="137160" cy="0"/>
          </a:xfrm>
          <a:prstGeom prst="line">
            <a:avLst/>
          </a:prstGeom>
          <a:noFill/>
          <a:ln w="25400">
            <a:solidFill>
              <a:srgbClr val="1D4ED8"/>
            </a:solidFill>
            <a:prstDash val="solid"/>
          </a:ln>
        </p:spPr>
      </p:sp>
      <p:sp>
        <p:nvSpPr>
          <p:cNvPr id="8" name="Text 6"/>
          <p:cNvSpPr/>
          <p:nvPr/>
        </p:nvSpPr>
        <p:spPr>
          <a:xfrm>
            <a:off x="9372600" y="3794760"/>
            <a:ext cx="2011680" cy="27432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Operational layers</a:t>
            </a:r>
            <a:endParaRPr lang="en-US" sz="1100" dirty="0"/>
          </a:p>
        </p:txBody>
      </p:sp>
      <p:sp>
        <p:nvSpPr>
          <p:cNvPr id="9" name="Shape 7"/>
          <p:cNvSpPr/>
          <p:nvPr/>
        </p:nvSpPr>
        <p:spPr>
          <a:xfrm>
            <a:off x="2011680" y="2468880"/>
            <a:ext cx="6858000" cy="365760"/>
          </a:xfrm>
          <a:prstGeom prst="rect">
            <a:avLst/>
          </a:prstGeom>
          <a:solidFill>
            <a:srgbClr val="FFFFFF"/>
          </a:solidFill>
          <a:ln w="6350">
            <a:solidFill>
              <a:srgbClr val="D1D5DB"/>
            </a:solidFill>
            <a:prstDash val="solid"/>
          </a:ln>
        </p:spPr>
      </p:sp>
      <p:sp>
        <p:nvSpPr>
          <p:cNvPr id="10" name="Text 8"/>
          <p:cNvSpPr/>
          <p:nvPr/>
        </p:nvSpPr>
        <p:spPr>
          <a:xfrm>
            <a:off x="2148840" y="246888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9</a:t>
            </a:r>
            <a:endParaRPr lang="en-US" sz="1400" dirty="0"/>
          </a:p>
        </p:txBody>
      </p:sp>
      <p:sp>
        <p:nvSpPr>
          <p:cNvPr id="11" name="Text 9"/>
          <p:cNvSpPr/>
          <p:nvPr/>
        </p:nvSpPr>
        <p:spPr>
          <a:xfrm>
            <a:off x="2880360" y="246888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Human and Browser Interface</a:t>
            </a:r>
            <a:endParaRPr lang="en-US" sz="1400" dirty="0"/>
          </a:p>
        </p:txBody>
      </p:sp>
      <p:sp>
        <p:nvSpPr>
          <p:cNvPr id="12" name="Shape 10"/>
          <p:cNvSpPr/>
          <p:nvPr/>
        </p:nvSpPr>
        <p:spPr>
          <a:xfrm>
            <a:off x="2011680" y="2834640"/>
            <a:ext cx="6858000" cy="365760"/>
          </a:xfrm>
          <a:prstGeom prst="rect">
            <a:avLst/>
          </a:prstGeom>
          <a:solidFill>
            <a:srgbClr val="DBEAFE"/>
          </a:solidFill>
          <a:ln w="6350">
            <a:solidFill>
              <a:srgbClr val="3B82F6"/>
            </a:solidFill>
            <a:prstDash val="solid"/>
          </a:ln>
        </p:spPr>
      </p:sp>
      <p:sp>
        <p:nvSpPr>
          <p:cNvPr id="13" name="Text 11"/>
          <p:cNvSpPr/>
          <p:nvPr/>
        </p:nvSpPr>
        <p:spPr>
          <a:xfrm>
            <a:off x="2148840" y="2834640"/>
            <a:ext cx="640080" cy="365760"/>
          </a:xfrm>
          <a:prstGeom prst="rect">
            <a:avLst/>
          </a:prstGeom>
          <a:noFill/>
          <a:ln/>
        </p:spPr>
        <p:txBody>
          <a:bodyPr wrap="square" rtlCol="0" anchor="ctr"/>
          <a:lstStyle/>
          <a:p>
            <a:pPr algn="ctr" indent="0" marL="0">
              <a:buNone/>
            </a:pPr>
            <a:r>
              <a:rPr lang="en-US" sz="1400" b="1" dirty="0">
                <a:solidFill>
                  <a:srgbClr val="1D4ED8"/>
                </a:solidFill>
                <a:latin typeface="Helvetica Neue" pitchFamily="34" charset="0"/>
                <a:ea typeface="Helvetica Neue" pitchFamily="34" charset="-122"/>
                <a:cs typeface="Helvetica Neue" pitchFamily="34" charset="-120"/>
              </a:rPr>
              <a:t>8</a:t>
            </a:r>
            <a:endParaRPr lang="en-US" sz="1400" dirty="0"/>
          </a:p>
        </p:txBody>
      </p:sp>
      <p:sp>
        <p:nvSpPr>
          <p:cNvPr id="14" name="Text 12"/>
          <p:cNvSpPr/>
          <p:nvPr/>
        </p:nvSpPr>
        <p:spPr>
          <a:xfrm>
            <a:off x="2880360" y="2834640"/>
            <a:ext cx="585216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Continuity Fabric</a:t>
            </a:r>
            <a:endParaRPr lang="en-US" sz="1400" dirty="0"/>
          </a:p>
        </p:txBody>
      </p:sp>
      <p:sp>
        <p:nvSpPr>
          <p:cNvPr id="15" name="Shape 13"/>
          <p:cNvSpPr/>
          <p:nvPr/>
        </p:nvSpPr>
        <p:spPr>
          <a:xfrm>
            <a:off x="2011680" y="3200400"/>
            <a:ext cx="6858000" cy="365760"/>
          </a:xfrm>
          <a:prstGeom prst="rect">
            <a:avLst/>
          </a:prstGeom>
          <a:solidFill>
            <a:srgbClr val="F5F5F7"/>
          </a:solidFill>
          <a:ln w="6350">
            <a:solidFill>
              <a:srgbClr val="D1D5DB"/>
            </a:solidFill>
            <a:prstDash val="solid"/>
          </a:ln>
        </p:spPr>
      </p:sp>
      <p:sp>
        <p:nvSpPr>
          <p:cNvPr id="16" name="Text 14"/>
          <p:cNvSpPr/>
          <p:nvPr/>
        </p:nvSpPr>
        <p:spPr>
          <a:xfrm>
            <a:off x="2148840" y="320040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7</a:t>
            </a:r>
            <a:endParaRPr lang="en-US" sz="1400" dirty="0"/>
          </a:p>
        </p:txBody>
      </p:sp>
      <p:sp>
        <p:nvSpPr>
          <p:cNvPr id="17" name="Text 15"/>
          <p:cNvSpPr/>
          <p:nvPr/>
        </p:nvSpPr>
        <p:spPr>
          <a:xfrm>
            <a:off x="2880360" y="320040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Orchestration and Workflow</a:t>
            </a:r>
            <a:endParaRPr lang="en-US" sz="1400" dirty="0"/>
          </a:p>
        </p:txBody>
      </p:sp>
      <p:sp>
        <p:nvSpPr>
          <p:cNvPr id="18" name="Shape 16"/>
          <p:cNvSpPr/>
          <p:nvPr/>
        </p:nvSpPr>
        <p:spPr>
          <a:xfrm>
            <a:off x="2011680" y="3566160"/>
            <a:ext cx="6858000" cy="365760"/>
          </a:xfrm>
          <a:prstGeom prst="rect">
            <a:avLst/>
          </a:prstGeom>
          <a:solidFill>
            <a:srgbClr val="F5F5F7"/>
          </a:solidFill>
          <a:ln w="6350">
            <a:solidFill>
              <a:srgbClr val="D1D5DB"/>
            </a:solidFill>
            <a:prstDash val="solid"/>
          </a:ln>
        </p:spPr>
      </p:sp>
      <p:sp>
        <p:nvSpPr>
          <p:cNvPr id="19" name="Text 17"/>
          <p:cNvSpPr/>
          <p:nvPr/>
        </p:nvSpPr>
        <p:spPr>
          <a:xfrm>
            <a:off x="2148840" y="356616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6</a:t>
            </a:r>
            <a:endParaRPr lang="en-US" sz="1400" dirty="0"/>
          </a:p>
        </p:txBody>
      </p:sp>
      <p:sp>
        <p:nvSpPr>
          <p:cNvPr id="20" name="Text 18"/>
          <p:cNvSpPr/>
          <p:nvPr/>
        </p:nvSpPr>
        <p:spPr>
          <a:xfrm>
            <a:off x="2880360" y="356616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Context and Knowledge</a:t>
            </a:r>
            <a:endParaRPr lang="en-US" sz="1400" dirty="0"/>
          </a:p>
        </p:txBody>
      </p:sp>
      <p:sp>
        <p:nvSpPr>
          <p:cNvPr id="21" name="Shape 19"/>
          <p:cNvSpPr/>
          <p:nvPr/>
        </p:nvSpPr>
        <p:spPr>
          <a:xfrm>
            <a:off x="2011680" y="3931920"/>
            <a:ext cx="6858000" cy="365760"/>
          </a:xfrm>
          <a:prstGeom prst="rect">
            <a:avLst/>
          </a:prstGeom>
          <a:solidFill>
            <a:srgbClr val="F5F5F7"/>
          </a:solidFill>
          <a:ln w="6350">
            <a:solidFill>
              <a:srgbClr val="D1D5DB"/>
            </a:solidFill>
            <a:prstDash val="solid"/>
          </a:ln>
        </p:spPr>
      </p:sp>
      <p:sp>
        <p:nvSpPr>
          <p:cNvPr id="22" name="Text 20"/>
          <p:cNvSpPr/>
          <p:nvPr/>
        </p:nvSpPr>
        <p:spPr>
          <a:xfrm>
            <a:off x="2148840" y="393192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5</a:t>
            </a:r>
            <a:endParaRPr lang="en-US" sz="1400" dirty="0"/>
          </a:p>
        </p:txBody>
      </p:sp>
      <p:sp>
        <p:nvSpPr>
          <p:cNvPr id="23" name="Text 21"/>
          <p:cNvSpPr/>
          <p:nvPr/>
        </p:nvSpPr>
        <p:spPr>
          <a:xfrm>
            <a:off x="2880360" y="393192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Inference and Retrieval</a:t>
            </a:r>
            <a:endParaRPr lang="en-US" sz="1400" dirty="0"/>
          </a:p>
        </p:txBody>
      </p:sp>
      <p:sp>
        <p:nvSpPr>
          <p:cNvPr id="24" name="Shape 22"/>
          <p:cNvSpPr/>
          <p:nvPr/>
        </p:nvSpPr>
        <p:spPr>
          <a:xfrm>
            <a:off x="2011680" y="4297680"/>
            <a:ext cx="6858000" cy="365760"/>
          </a:xfrm>
          <a:prstGeom prst="rect">
            <a:avLst/>
          </a:prstGeom>
          <a:solidFill>
            <a:srgbClr val="F5F5F7"/>
          </a:solidFill>
          <a:ln w="6350">
            <a:solidFill>
              <a:srgbClr val="D1D5DB"/>
            </a:solidFill>
            <a:prstDash val="solid"/>
          </a:ln>
        </p:spPr>
      </p:sp>
      <p:sp>
        <p:nvSpPr>
          <p:cNvPr id="25" name="Text 23"/>
          <p:cNvSpPr/>
          <p:nvPr/>
        </p:nvSpPr>
        <p:spPr>
          <a:xfrm>
            <a:off x="2148840" y="429768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4</a:t>
            </a:r>
            <a:endParaRPr lang="en-US" sz="1400" dirty="0"/>
          </a:p>
        </p:txBody>
      </p:sp>
      <p:sp>
        <p:nvSpPr>
          <p:cNvPr id="26" name="Text 24"/>
          <p:cNvSpPr/>
          <p:nvPr/>
        </p:nvSpPr>
        <p:spPr>
          <a:xfrm>
            <a:off x="2880360" y="429768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Model Training and Adaptation</a:t>
            </a:r>
            <a:endParaRPr lang="en-US" sz="1400" dirty="0"/>
          </a:p>
        </p:txBody>
      </p:sp>
      <p:sp>
        <p:nvSpPr>
          <p:cNvPr id="27" name="Shape 25"/>
          <p:cNvSpPr/>
          <p:nvPr/>
        </p:nvSpPr>
        <p:spPr>
          <a:xfrm>
            <a:off x="2011680" y="4663440"/>
            <a:ext cx="6858000" cy="365760"/>
          </a:xfrm>
          <a:prstGeom prst="rect">
            <a:avLst/>
          </a:prstGeom>
          <a:solidFill>
            <a:srgbClr val="DBEAFE"/>
          </a:solidFill>
          <a:ln w="6350">
            <a:solidFill>
              <a:srgbClr val="3B82F6"/>
            </a:solidFill>
            <a:prstDash val="solid"/>
          </a:ln>
        </p:spPr>
      </p:sp>
      <p:sp>
        <p:nvSpPr>
          <p:cNvPr id="28" name="Text 26"/>
          <p:cNvSpPr/>
          <p:nvPr/>
        </p:nvSpPr>
        <p:spPr>
          <a:xfrm>
            <a:off x="2148840" y="4663440"/>
            <a:ext cx="640080" cy="365760"/>
          </a:xfrm>
          <a:prstGeom prst="rect">
            <a:avLst/>
          </a:prstGeom>
          <a:noFill/>
          <a:ln/>
        </p:spPr>
        <p:txBody>
          <a:bodyPr wrap="square" rtlCol="0" anchor="ctr"/>
          <a:lstStyle/>
          <a:p>
            <a:pPr algn="ctr" indent="0" marL="0">
              <a:buNone/>
            </a:pPr>
            <a:r>
              <a:rPr lang="en-US" sz="1400" b="1" dirty="0">
                <a:solidFill>
                  <a:srgbClr val="1D4ED8"/>
                </a:solidFill>
                <a:latin typeface="Helvetica Neue" pitchFamily="34" charset="0"/>
                <a:ea typeface="Helvetica Neue" pitchFamily="34" charset="-122"/>
                <a:cs typeface="Helvetica Neue" pitchFamily="34" charset="-120"/>
              </a:rPr>
              <a:t>3</a:t>
            </a:r>
            <a:endParaRPr lang="en-US" sz="1400" dirty="0"/>
          </a:p>
        </p:txBody>
      </p:sp>
      <p:sp>
        <p:nvSpPr>
          <p:cNvPr id="29" name="Text 27"/>
          <p:cNvSpPr/>
          <p:nvPr/>
        </p:nvSpPr>
        <p:spPr>
          <a:xfrm>
            <a:off x="2880360" y="4663440"/>
            <a:ext cx="5852160" cy="365760"/>
          </a:xfrm>
          <a:prstGeom prst="rect">
            <a:avLst/>
          </a:prstGeom>
          <a:noFill/>
          <a:ln/>
        </p:spPr>
        <p:txBody>
          <a:bodyPr wrap="square" rtlCol="0" anchor="ctr"/>
          <a:lstStyle/>
          <a:p>
            <a:pPr indent="0" marL="0">
              <a:buNone/>
            </a:pPr>
            <a:r>
              <a:rPr lang="en-US" sz="1400" b="1" dirty="0">
                <a:solidFill>
                  <a:srgbClr val="1D4ED8"/>
                </a:solidFill>
                <a:latin typeface="Helvetica Neue" pitchFamily="34" charset="0"/>
                <a:ea typeface="Helvetica Neue" pitchFamily="34" charset="-122"/>
                <a:cs typeface="Helvetica Neue" pitchFamily="34" charset="-120"/>
              </a:rPr>
              <a:t>Agent Data Substrate</a:t>
            </a:r>
            <a:endParaRPr lang="en-US" sz="1400" dirty="0"/>
          </a:p>
        </p:txBody>
      </p:sp>
      <p:sp>
        <p:nvSpPr>
          <p:cNvPr id="30" name="Shape 28"/>
          <p:cNvSpPr/>
          <p:nvPr/>
        </p:nvSpPr>
        <p:spPr>
          <a:xfrm>
            <a:off x="2011680" y="5029200"/>
            <a:ext cx="6858000" cy="365760"/>
          </a:xfrm>
          <a:prstGeom prst="rect">
            <a:avLst/>
          </a:prstGeom>
          <a:solidFill>
            <a:srgbClr val="FFFFFF"/>
          </a:solidFill>
          <a:ln w="6350">
            <a:solidFill>
              <a:srgbClr val="D1D5DB"/>
            </a:solidFill>
            <a:prstDash val="solid"/>
          </a:ln>
        </p:spPr>
      </p:sp>
      <p:sp>
        <p:nvSpPr>
          <p:cNvPr id="31" name="Text 29"/>
          <p:cNvSpPr/>
          <p:nvPr/>
        </p:nvSpPr>
        <p:spPr>
          <a:xfrm>
            <a:off x="2148840" y="502920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2</a:t>
            </a:r>
            <a:endParaRPr lang="en-US" sz="1400" dirty="0"/>
          </a:p>
        </p:txBody>
      </p:sp>
      <p:sp>
        <p:nvSpPr>
          <p:cNvPr id="32" name="Text 30"/>
          <p:cNvSpPr/>
          <p:nvPr/>
        </p:nvSpPr>
        <p:spPr>
          <a:xfrm>
            <a:off x="2880360" y="502920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Sovereign Infrastructure</a:t>
            </a:r>
            <a:endParaRPr lang="en-US" sz="1400" dirty="0"/>
          </a:p>
        </p:txBody>
      </p:sp>
      <p:sp>
        <p:nvSpPr>
          <p:cNvPr id="33" name="Shape 31"/>
          <p:cNvSpPr/>
          <p:nvPr/>
        </p:nvSpPr>
        <p:spPr>
          <a:xfrm>
            <a:off x="2011680" y="5394960"/>
            <a:ext cx="6858000" cy="365760"/>
          </a:xfrm>
          <a:prstGeom prst="rect">
            <a:avLst/>
          </a:prstGeom>
          <a:solidFill>
            <a:srgbClr val="FFFFFF"/>
          </a:solidFill>
          <a:ln w="6350">
            <a:solidFill>
              <a:srgbClr val="D1D5DB"/>
            </a:solidFill>
            <a:prstDash val="solid"/>
          </a:ln>
        </p:spPr>
      </p:sp>
      <p:sp>
        <p:nvSpPr>
          <p:cNvPr id="34" name="Text 32"/>
          <p:cNvSpPr/>
          <p:nvPr/>
        </p:nvSpPr>
        <p:spPr>
          <a:xfrm>
            <a:off x="2148840" y="539496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1</a:t>
            </a:r>
            <a:endParaRPr lang="en-US" sz="1400" dirty="0"/>
          </a:p>
        </p:txBody>
      </p:sp>
      <p:sp>
        <p:nvSpPr>
          <p:cNvPr id="35" name="Text 33"/>
          <p:cNvSpPr/>
          <p:nvPr/>
        </p:nvSpPr>
        <p:spPr>
          <a:xfrm>
            <a:off x="2880360" y="539496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Silicon Abstraction</a:t>
            </a:r>
            <a:endParaRPr lang="en-US" sz="1400" dirty="0"/>
          </a:p>
        </p:txBody>
      </p:sp>
      <p:sp>
        <p:nvSpPr>
          <p:cNvPr id="36" name="Shape 34"/>
          <p:cNvSpPr/>
          <p:nvPr/>
        </p:nvSpPr>
        <p:spPr>
          <a:xfrm>
            <a:off x="2011680" y="5760720"/>
            <a:ext cx="6858000" cy="365760"/>
          </a:xfrm>
          <a:prstGeom prst="rect">
            <a:avLst/>
          </a:prstGeom>
          <a:solidFill>
            <a:srgbClr val="FFFFFF"/>
          </a:solidFill>
          <a:ln w="6350">
            <a:solidFill>
              <a:srgbClr val="D1D5DB"/>
            </a:solidFill>
            <a:prstDash val="solid"/>
          </a:ln>
        </p:spPr>
      </p:sp>
      <p:sp>
        <p:nvSpPr>
          <p:cNvPr id="37" name="Text 35"/>
          <p:cNvSpPr/>
          <p:nvPr/>
        </p:nvSpPr>
        <p:spPr>
          <a:xfrm>
            <a:off x="2148840" y="5760720"/>
            <a:ext cx="640080" cy="365760"/>
          </a:xfrm>
          <a:prstGeom prst="rect">
            <a:avLst/>
          </a:prstGeom>
          <a:noFill/>
          <a:ln/>
        </p:spPr>
        <p:txBody>
          <a:bodyPr wrap="square" rtlCol="0" anchor="ctr"/>
          <a:lstStyle/>
          <a:p>
            <a:pPr algn="ctr" indent="0" marL="0">
              <a:buNone/>
            </a:pPr>
            <a:r>
              <a:rPr lang="en-US" sz="1400" b="1" dirty="0">
                <a:solidFill>
                  <a:srgbClr val="6E6E73"/>
                </a:solidFill>
                <a:latin typeface="Helvetica Neue" pitchFamily="34" charset="0"/>
                <a:ea typeface="Helvetica Neue" pitchFamily="34" charset="-122"/>
                <a:cs typeface="Helvetica Neue" pitchFamily="34" charset="-120"/>
              </a:rPr>
              <a:t>0</a:t>
            </a:r>
            <a:endParaRPr lang="en-US" sz="1400" dirty="0"/>
          </a:p>
        </p:txBody>
      </p:sp>
      <p:sp>
        <p:nvSpPr>
          <p:cNvPr id="38" name="Text 36"/>
          <p:cNvSpPr/>
          <p:nvPr/>
        </p:nvSpPr>
        <p:spPr>
          <a:xfrm>
            <a:off x="2880360" y="5760720"/>
            <a:ext cx="5852160" cy="36576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Physical Compute</a:t>
            </a:r>
            <a:endParaRPr lang="en-US" sz="1400" dirty="0"/>
          </a:p>
        </p:txBody>
      </p:sp>
      <p:sp>
        <p:nvSpPr>
          <p:cNvPr id="39" name="Text 37"/>
          <p:cNvSpPr/>
          <p:nvPr/>
        </p:nvSpPr>
        <p:spPr>
          <a:xfrm>
            <a:off x="548640" y="2468880"/>
            <a:ext cx="12801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KEY</a:t>
            </a:r>
            <a:endParaRPr lang="en-US" sz="900" dirty="0"/>
          </a:p>
        </p:txBody>
      </p:sp>
      <p:sp>
        <p:nvSpPr>
          <p:cNvPr id="40" name="Shape 38"/>
          <p:cNvSpPr/>
          <p:nvPr/>
        </p:nvSpPr>
        <p:spPr>
          <a:xfrm>
            <a:off x="548640" y="2834640"/>
            <a:ext cx="228600" cy="228600"/>
          </a:xfrm>
          <a:prstGeom prst="rect">
            <a:avLst/>
          </a:prstGeom>
          <a:solidFill>
            <a:srgbClr val="DBEAFE"/>
          </a:solidFill>
          <a:ln w="6350">
            <a:solidFill>
              <a:srgbClr val="3B82F6"/>
            </a:solidFill>
            <a:prstDash val="solid"/>
          </a:ln>
        </p:spPr>
      </p:sp>
      <p:sp>
        <p:nvSpPr>
          <p:cNvPr id="41" name="Text 39"/>
          <p:cNvSpPr/>
          <p:nvPr/>
        </p:nvSpPr>
        <p:spPr>
          <a:xfrm>
            <a:off x="868680" y="2834640"/>
            <a:ext cx="1188720" cy="228600"/>
          </a:xfrm>
          <a:prstGeom prst="rect">
            <a:avLst/>
          </a:prstGeom>
          <a:noFill/>
          <a:ln/>
        </p:spPr>
        <p:txBody>
          <a:bodyPr wrap="square" rtlCol="0" anchor="ctr"/>
          <a:lstStyle/>
          <a:p>
            <a:pPr indent="0" marL="0">
              <a:buNone/>
            </a:pPr>
            <a:r>
              <a:rPr lang="en-US" sz="1000" dirty="0">
                <a:solidFill>
                  <a:srgbClr val="1C1C1E"/>
                </a:solidFill>
                <a:latin typeface="Helvetica Neue" pitchFamily="34" charset="0"/>
                <a:ea typeface="Helvetica Neue" pitchFamily="34" charset="-122"/>
                <a:cs typeface="Helvetica Neue" pitchFamily="34" charset="-120"/>
              </a:rPr>
              <a:t>State-holding</a:t>
            </a:r>
            <a:endParaRPr lang="en-US" sz="1000" dirty="0"/>
          </a:p>
        </p:txBody>
      </p:sp>
      <p:sp>
        <p:nvSpPr>
          <p:cNvPr id="42" name="Shape 40"/>
          <p:cNvSpPr/>
          <p:nvPr/>
        </p:nvSpPr>
        <p:spPr>
          <a:xfrm>
            <a:off x="548640" y="3154680"/>
            <a:ext cx="228600" cy="228600"/>
          </a:xfrm>
          <a:prstGeom prst="rect">
            <a:avLst/>
          </a:prstGeom>
          <a:solidFill>
            <a:srgbClr val="F5F5F7"/>
          </a:solidFill>
          <a:ln w="6350">
            <a:solidFill>
              <a:srgbClr val="D1D5DB"/>
            </a:solidFill>
            <a:prstDash val="solid"/>
          </a:ln>
        </p:spPr>
      </p:sp>
      <p:sp>
        <p:nvSpPr>
          <p:cNvPr id="43" name="Text 41"/>
          <p:cNvSpPr/>
          <p:nvPr/>
        </p:nvSpPr>
        <p:spPr>
          <a:xfrm>
            <a:off x="868680" y="3154680"/>
            <a:ext cx="1188720" cy="228600"/>
          </a:xfrm>
          <a:prstGeom prst="rect">
            <a:avLst/>
          </a:prstGeom>
          <a:noFill/>
          <a:ln/>
        </p:spPr>
        <p:txBody>
          <a:bodyPr wrap="square" rtlCol="0" anchor="ctr"/>
          <a:lstStyle/>
          <a:p>
            <a:pPr indent="0" marL="0">
              <a:buNone/>
            </a:pPr>
            <a:r>
              <a:rPr lang="en-US" sz="1000" dirty="0">
                <a:solidFill>
                  <a:srgbClr val="1C1C1E"/>
                </a:solidFill>
                <a:latin typeface="Helvetica Neue" pitchFamily="34" charset="0"/>
                <a:ea typeface="Helvetica Neue" pitchFamily="34" charset="-122"/>
                <a:cs typeface="Helvetica Neue" pitchFamily="34" charset="-120"/>
              </a:rPr>
              <a:t>Operational</a:t>
            </a:r>
            <a:endParaRPr lang="en-US" sz="1000" dirty="0"/>
          </a:p>
        </p:txBody>
      </p:sp>
      <p:sp>
        <p:nvSpPr>
          <p:cNvPr id="44" name="Shape 42"/>
          <p:cNvSpPr/>
          <p:nvPr/>
        </p:nvSpPr>
        <p:spPr>
          <a:xfrm>
            <a:off x="548640" y="3474720"/>
            <a:ext cx="228600" cy="228600"/>
          </a:xfrm>
          <a:prstGeom prst="rect">
            <a:avLst/>
          </a:prstGeom>
          <a:solidFill>
            <a:srgbClr val="FFFFFF"/>
          </a:solidFill>
          <a:ln w="6350">
            <a:solidFill>
              <a:srgbClr val="D1D5DB"/>
            </a:solidFill>
            <a:prstDash val="solid"/>
          </a:ln>
        </p:spPr>
      </p:sp>
      <p:sp>
        <p:nvSpPr>
          <p:cNvPr id="45" name="Text 43"/>
          <p:cNvSpPr/>
          <p:nvPr/>
        </p:nvSpPr>
        <p:spPr>
          <a:xfrm>
            <a:off x="868680" y="3474720"/>
            <a:ext cx="1463040" cy="228600"/>
          </a:xfrm>
          <a:prstGeom prst="rect">
            <a:avLst/>
          </a:prstGeom>
          <a:noFill/>
          <a:ln/>
        </p:spPr>
        <p:txBody>
          <a:bodyPr wrap="square" rtlCol="0" anchor="ctr"/>
          <a:lstStyle/>
          <a:p>
            <a:pPr indent="0" marL="0">
              <a:buNone/>
            </a:pPr>
            <a:r>
              <a:rPr lang="en-US" sz="1000" dirty="0">
                <a:solidFill>
                  <a:srgbClr val="1C1C1E"/>
                </a:solidFill>
                <a:latin typeface="Helvetica Neue" pitchFamily="34" charset="0"/>
                <a:ea typeface="Helvetica Neue" pitchFamily="34" charset="-122"/>
                <a:cs typeface="Helvetica Neue" pitchFamily="34" charset="-120"/>
              </a:rPr>
              <a:t>Foundation / Interface</a:t>
            </a:r>
            <a:endParaRPr lang="en-US" sz="1000" dirty="0"/>
          </a:p>
        </p:txBody>
      </p:sp>
      <p:sp>
        <p:nvSpPr>
          <p:cNvPr id="46" name="Text 44"/>
          <p:cNvSpPr/>
          <p:nvPr/>
        </p:nvSpPr>
        <p:spPr>
          <a:xfrm>
            <a:off x="548640" y="6400800"/>
            <a:ext cx="10972800" cy="274320"/>
          </a:xfrm>
          <a:prstGeom prst="rect">
            <a:avLst/>
          </a:prstGeom>
          <a:noFill/>
          <a:ln/>
        </p:spPr>
        <p:txBody>
          <a:bodyPr wrap="square" rtlCol="0" anchor="ctr"/>
          <a:lstStyle/>
          <a:p>
            <a:pPr algn="ctr" indent="0" marL="0">
              <a:buNone/>
            </a:pPr>
            <a:r>
              <a:rPr lang="en-US" sz="1000" i="1" dirty="0">
                <a:solidFill>
                  <a:srgbClr val="6E6E73"/>
                </a:solidFill>
                <a:latin typeface="Helvetica Neue" pitchFamily="34" charset="0"/>
                <a:ea typeface="Helvetica Neue" pitchFamily="34" charset="-122"/>
                <a:cs typeface="Helvetica Neue" pitchFamily="34" charset="-120"/>
              </a:rPr>
              <a:t>Layers 3 and 8 are the two state-holding layers, with different architectural character: Layer 3 is a substrate; Layer 8 is a fabric.</a:t>
            </a:r>
            <a:endParaRPr lang="en-US" sz="10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4 / 21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0</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Physical Compute</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physical semiconductor, energy, and facility substrate on which all higher layers depend.</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Availability and geographic siting</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Energy sovereignty and supply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Supply chain resilience</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Physical security and lifecycle</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Numbered zero because the physical substrate is not abstractable for intelligent systems the way it is for networking — energy and silicon supply shape what is architecturally possible at higher layers.</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1D4ED8"/>
          </a:solidFill>
          <a:ln w="6350">
            <a:solidFill>
              <a:srgbClr val="1D4ED8"/>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5 / 21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1</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Silicon Abstraction</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abstraction between the physical substrate and the software layers above. Portability across heterogeneous hardware.</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Portability across diverse silicon</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Performance transparency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Heterogeneity support (GPU, TPU, edge, quantum)</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Attestation pass-through</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Named Silicon Abstraction rather than Hardware Abstraction because the concerns extend to cognitive workload portability across instruction-set architectures and emerging compute paradigms.</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1D4ED8"/>
          </a:solidFill>
          <a:ln w="6350">
            <a:solidFill>
              <a:srgbClr val="1D4ED8"/>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6 / 21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2</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Sovereign Infrastructure</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platform-level compute, storage, and networking infrastructure with explicit treatment of sovereignty concerns.</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Jurisdictional sovereignty</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Operational sovereignty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Energy sovereignty</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Composability and policy enforcement</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Named Sovereign Infrastructure to make explicit that infrastructure for enterprise intelligence cannot be treated as fungible. Sovereignty is architectural, not operational.</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1D4ED8"/>
          </a:solidFill>
          <a:ln w="6350">
            <a:solidFill>
              <a:srgbClr val="1D4ED8"/>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7 / 21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3</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Agent Data Substrate</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persistent, auditable, and access-controlled data environment on which intelligent systems operate.</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Data residency and access control granularity</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Provenance and lineage</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Vector and embedding management</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Temporal consistency</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One of two state-holding layers. Holds the data intelligent systems operate on. Paired with Layer 8 around the operational layers between them.</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1D4ED8"/>
          </a:solidFill>
          <a:ln w="6350">
            <a:solidFill>
              <a:srgbClr val="1D4ED8"/>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8 / 21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4</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Model Training and Adaptation</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training, fine-tuning, and continuous adaptation of intelligent models, with safety constraints.</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Training data provenance</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Adaptation governance and reversibility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Evaluation before release</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Drift detection and training sovereignty</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Named Training and Adaptation because training is no longer a discrete pre-deployment event. Distinguished from Layer 8: adaptation changes the model; cognitive state accumulates in memory.</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1D4ED8"/>
          </a:solidFill>
          <a:ln w="6350">
            <a:solidFill>
              <a:srgbClr val="1D4ED8"/>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9 / 21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5</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Inference and Retrieval</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execution of model inference and the retrieval operations that support it.</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Latency discipline</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Throughput and cost management</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Heterogeneous inference targeting</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Streaming semantics and provenance pass-through</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Inference and retrieval are architecturally coupled in contemporary systems — they share infrastructure, scheduling, and optimisation.</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1D4ED8"/>
          </a:solidFill>
          <a:ln w="6350">
            <a:solidFill>
              <a:srgbClr val="1D4ED8"/>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10 / 21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6</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Context and Knowledge</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How intelligent systems are grounded in the information, knowledge, and context they require to act meaningfully.</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Grounding faithfulness</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Context assembly and citation</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Freshness and temporal validity</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Continuous perception accommodation</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Where retrieval becomes grounding. Must accommodate both today's discrete retrieval patterns and emerging continuous perception.</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1D4ED8"/>
          </a:solidFill>
          <a:ln w="6350">
            <a:solidFill>
              <a:srgbClr val="1D4ED8"/>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11 / 21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7</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Orchestration and Workflow</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coordination of tools, services, and multi-step workflows. The layer at which autonomy becomes operationally real.</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Intent verification and action auditability</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Tool integrity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Long-horizon coherence</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Kill-chain detection and behavioural governance</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The layer most directly addressing autonomy. Malicious or misaligned actions frequently manifest as recognisable kill chains that Layer 7 must detect and block.</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1D4ED8"/>
          </a:solidFill>
          <a:ln w="6350">
            <a:solidFill>
              <a:srgbClr val="1D4ED8"/>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12 / 21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8</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Continuity Fabric</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active layer at which cognitive state — memory, learning, judgment, identity — is preserved, verified, and carried through change.</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Memory integrity and safe learning</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Decision auditability</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Verifiability against self-reporting</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Continuity across model transitions</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Every other layer can change — hardware refreshes, models swap, platforms migrate. Layer 8 is what persists. Paired with Layer 3 with architectural asymmetry: Layer 3 is a substrate, Layer 8 is a fabric.</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1D4ED8"/>
          </a:solidFill>
          <a:ln w="6350">
            <a:solidFill>
              <a:srgbClr val="1D4ED8"/>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FFFFFF"/>
          </a:solidFill>
          <a:ln w="6350">
            <a:solidFill>
              <a:srgbClr val="D1D5DB"/>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13 / 21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LAYER 9</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Human and Browser Interface</a:t>
            </a:r>
            <a:endParaRPr lang="en-US" sz="3200" dirty="0"/>
          </a:p>
        </p:txBody>
      </p:sp>
      <p:sp>
        <p:nvSpPr>
          <p:cNvPr id="4" name="Text 2"/>
          <p:cNvSpPr/>
          <p:nvPr/>
        </p:nvSpPr>
        <p:spPr>
          <a:xfrm>
            <a:off x="548640" y="201168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Purpose</a:t>
            </a:r>
            <a:endParaRPr lang="en-US" sz="1100" dirty="0"/>
          </a:p>
        </p:txBody>
      </p:sp>
      <p:sp>
        <p:nvSpPr>
          <p:cNvPr id="5" name="Text 3"/>
          <p:cNvSpPr/>
          <p:nvPr/>
        </p:nvSpPr>
        <p:spPr>
          <a:xfrm>
            <a:off x="548640" y="2286000"/>
            <a:ext cx="7589520" cy="914400"/>
          </a:xfrm>
          <a:prstGeom prst="rect">
            <a:avLst/>
          </a:prstGeom>
          <a:noFill/>
          <a:ln/>
        </p:spPr>
        <p:txBody>
          <a:bodyPr wrap="square" rtlCol="0" anchor="t"/>
          <a:lstStyle/>
          <a:p>
            <a:pPr indent="0" marL="0">
              <a:buNone/>
            </a:pPr>
            <a:r>
              <a:rPr lang="en-US" sz="1600" dirty="0">
                <a:solidFill>
                  <a:srgbClr val="1C1C1E"/>
                </a:solidFill>
                <a:latin typeface="Helvetica Neue" pitchFamily="34" charset="0"/>
                <a:ea typeface="Helvetica Neue" pitchFamily="34" charset="-122"/>
                <a:cs typeface="Helvetica Neue" pitchFamily="34" charset="-120"/>
              </a:rPr>
              <a:t>The surface at which humans and intelligent systems interact — and the surface at which intelligent systems increasingly act on the world through browsers.</a:t>
            </a:r>
            <a:endParaRPr lang="en-US" sz="1600" dirty="0"/>
          </a:p>
        </p:txBody>
      </p:sp>
      <p:sp>
        <p:nvSpPr>
          <p:cNvPr id="6" name="Text 4"/>
          <p:cNvSpPr/>
          <p:nvPr/>
        </p:nvSpPr>
        <p:spPr>
          <a:xfrm>
            <a:off x="548640" y="3474720"/>
            <a:ext cx="758952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Key concerns</a:t>
            </a:r>
            <a:endParaRPr lang="en-US" sz="1100" dirty="0"/>
          </a:p>
        </p:txBody>
      </p:sp>
      <p:sp>
        <p:nvSpPr>
          <p:cNvPr id="7" name="Shape 5"/>
          <p:cNvSpPr/>
          <p:nvPr/>
        </p:nvSpPr>
        <p:spPr>
          <a:xfrm>
            <a:off x="594360" y="3913632"/>
            <a:ext cx="73152" cy="73152"/>
          </a:xfrm>
          <a:prstGeom prst="ellipse">
            <a:avLst/>
          </a:prstGeom>
          <a:solidFill>
            <a:srgbClr val="1D4ED8"/>
          </a:solidFill>
          <a:ln/>
        </p:spPr>
      </p:sp>
      <p:sp>
        <p:nvSpPr>
          <p:cNvPr id="8" name="Text 6"/>
          <p:cNvSpPr/>
          <p:nvPr/>
        </p:nvSpPr>
        <p:spPr>
          <a:xfrm>
            <a:off x="822960" y="379476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Interface transparency</a:t>
            </a:r>
            <a:endParaRPr lang="en-US" sz="1400" dirty="0"/>
          </a:p>
        </p:txBody>
      </p:sp>
      <p:sp>
        <p:nvSpPr>
          <p:cNvPr id="9" name="Shape 7"/>
          <p:cNvSpPr/>
          <p:nvPr/>
        </p:nvSpPr>
        <p:spPr>
          <a:xfrm>
            <a:off x="594360" y="4279392"/>
            <a:ext cx="73152" cy="73152"/>
          </a:xfrm>
          <a:prstGeom prst="ellipse">
            <a:avLst/>
          </a:prstGeom>
          <a:solidFill>
            <a:srgbClr val="1D4ED8"/>
          </a:solidFill>
          <a:ln/>
        </p:spPr>
      </p:sp>
      <p:sp>
        <p:nvSpPr>
          <p:cNvPr id="10" name="Text 8"/>
          <p:cNvSpPr/>
          <p:nvPr/>
        </p:nvSpPr>
        <p:spPr>
          <a:xfrm>
            <a:off x="822960" y="416052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Identity discrimination (human vs agent)</a:t>
            </a:r>
            <a:endParaRPr lang="en-US" sz="1400" dirty="0"/>
          </a:p>
        </p:txBody>
      </p:sp>
      <p:sp>
        <p:nvSpPr>
          <p:cNvPr id="11" name="Shape 9"/>
          <p:cNvSpPr/>
          <p:nvPr/>
        </p:nvSpPr>
        <p:spPr>
          <a:xfrm>
            <a:off x="594360" y="4645152"/>
            <a:ext cx="73152" cy="73152"/>
          </a:xfrm>
          <a:prstGeom prst="ellipse">
            <a:avLst/>
          </a:prstGeom>
          <a:solidFill>
            <a:srgbClr val="1D4ED8"/>
          </a:solidFill>
          <a:ln/>
        </p:spPr>
      </p:sp>
      <p:sp>
        <p:nvSpPr>
          <p:cNvPr id="12" name="Text 10"/>
          <p:cNvSpPr/>
          <p:nvPr/>
        </p:nvSpPr>
        <p:spPr>
          <a:xfrm>
            <a:off x="822960" y="452628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Browser-as-action-surface integrity</a:t>
            </a:r>
            <a:endParaRPr lang="en-US" sz="1400" dirty="0"/>
          </a:p>
        </p:txBody>
      </p:sp>
      <p:sp>
        <p:nvSpPr>
          <p:cNvPr id="13" name="Shape 11"/>
          <p:cNvSpPr/>
          <p:nvPr/>
        </p:nvSpPr>
        <p:spPr>
          <a:xfrm>
            <a:off x="594360" y="5010912"/>
            <a:ext cx="73152" cy="73152"/>
          </a:xfrm>
          <a:prstGeom prst="ellipse">
            <a:avLst/>
          </a:prstGeom>
          <a:solidFill>
            <a:srgbClr val="1D4ED8"/>
          </a:solidFill>
          <a:ln/>
        </p:spPr>
      </p:sp>
      <p:sp>
        <p:nvSpPr>
          <p:cNvPr id="14" name="Text 12"/>
          <p:cNvSpPr/>
          <p:nvPr/>
        </p:nvSpPr>
        <p:spPr>
          <a:xfrm>
            <a:off x="822960" y="4892040"/>
            <a:ext cx="73152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Consent, authority, and handoff</a:t>
            </a:r>
            <a:endParaRPr lang="en-US" sz="1400" dirty="0"/>
          </a:p>
        </p:txBody>
      </p:sp>
      <p:sp>
        <p:nvSpPr>
          <p:cNvPr id="15" name="Text 13"/>
          <p:cNvSpPr/>
          <p:nvPr/>
        </p:nvSpPr>
        <p:spPr>
          <a:xfrm>
            <a:off x="548640" y="5760720"/>
            <a:ext cx="7589520" cy="731520"/>
          </a:xfrm>
          <a:prstGeom prst="rect">
            <a:avLst/>
          </a:prstGeom>
          <a:noFill/>
          <a:ln/>
        </p:spPr>
        <p:txBody>
          <a:bodyPr wrap="square" rtlCol="0" anchor="t"/>
          <a:lstStyle/>
          <a:p>
            <a:pPr indent="0" marL="0">
              <a:buNone/>
            </a:pPr>
            <a:r>
              <a:rPr lang="en-US" sz="1100" i="1" dirty="0">
                <a:solidFill>
                  <a:srgbClr val="6E6E73"/>
                </a:solidFill>
                <a:latin typeface="Helvetica Neue" pitchFamily="34" charset="0"/>
                <a:ea typeface="Helvetica Neue" pitchFamily="34" charset="-122"/>
                <a:cs typeface="Helvetica Neue" pitchFamily="34" charset="-120"/>
              </a:rPr>
              <a:t>Two converging concerns: how humans use intelligent systems, and how intelligent systems use browsers to take action.</a:t>
            </a:r>
            <a:endParaRPr lang="en-US" sz="1100" dirty="0"/>
          </a:p>
        </p:txBody>
      </p:sp>
      <p:sp>
        <p:nvSpPr>
          <p:cNvPr id="16" name="Text 14"/>
          <p:cNvSpPr/>
          <p:nvPr/>
        </p:nvSpPr>
        <p:spPr>
          <a:xfrm>
            <a:off x="8503920" y="2011680"/>
            <a:ext cx="3108960" cy="274320"/>
          </a:xfrm>
          <a:prstGeom prst="rect">
            <a:avLst/>
          </a:prstGeom>
          <a:noFill/>
          <a:ln/>
        </p:spPr>
        <p:txBody>
          <a:bodyPr wrap="square" rtlCol="0" anchor="ctr"/>
          <a:lstStyle/>
          <a:p>
            <a:pPr indent="0" marL="0">
              <a:buNone/>
            </a:pPr>
            <a:r>
              <a:rPr lang="en-US" sz="900" spc="300" kern="0" dirty="0">
                <a:solidFill>
                  <a:srgbClr val="6E6E73"/>
                </a:solidFill>
                <a:latin typeface="Helvetica Neue" pitchFamily="34" charset="0"/>
                <a:ea typeface="Helvetica Neue" pitchFamily="34" charset="-122"/>
                <a:cs typeface="Helvetica Neue" pitchFamily="34" charset="-120"/>
              </a:rPr>
              <a:t>IN CONTEXT</a:t>
            </a:r>
            <a:endParaRPr lang="en-US" sz="900" dirty="0"/>
          </a:p>
        </p:txBody>
      </p:sp>
      <p:sp>
        <p:nvSpPr>
          <p:cNvPr id="17" name="Shape 15"/>
          <p:cNvSpPr/>
          <p:nvPr/>
        </p:nvSpPr>
        <p:spPr>
          <a:xfrm>
            <a:off x="8503920" y="4919472"/>
            <a:ext cx="3108960" cy="292608"/>
          </a:xfrm>
          <a:prstGeom prst="rect">
            <a:avLst/>
          </a:prstGeom>
          <a:solidFill>
            <a:srgbClr val="FFFFFF"/>
          </a:solidFill>
          <a:ln w="6350">
            <a:solidFill>
              <a:srgbClr val="D1D5DB"/>
            </a:solidFill>
            <a:prstDash val="solid"/>
          </a:ln>
        </p:spPr>
      </p:sp>
      <p:sp>
        <p:nvSpPr>
          <p:cNvPr id="18" name="Text 16"/>
          <p:cNvSpPr/>
          <p:nvPr/>
        </p:nvSpPr>
        <p:spPr>
          <a:xfrm>
            <a:off x="8595360" y="491947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0</a:t>
            </a:r>
            <a:endParaRPr lang="en-US" sz="900" dirty="0"/>
          </a:p>
        </p:txBody>
      </p:sp>
      <p:sp>
        <p:nvSpPr>
          <p:cNvPr id="19" name="Text 17"/>
          <p:cNvSpPr/>
          <p:nvPr/>
        </p:nvSpPr>
        <p:spPr>
          <a:xfrm>
            <a:off x="8915400" y="491947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Physical Compute</a:t>
            </a:r>
            <a:endParaRPr lang="en-US" sz="900" dirty="0"/>
          </a:p>
        </p:txBody>
      </p:sp>
      <p:sp>
        <p:nvSpPr>
          <p:cNvPr id="20" name="Shape 18"/>
          <p:cNvSpPr/>
          <p:nvPr/>
        </p:nvSpPr>
        <p:spPr>
          <a:xfrm>
            <a:off x="8503920" y="4626864"/>
            <a:ext cx="3108960" cy="292608"/>
          </a:xfrm>
          <a:prstGeom prst="rect">
            <a:avLst/>
          </a:prstGeom>
          <a:solidFill>
            <a:srgbClr val="FFFFFF"/>
          </a:solidFill>
          <a:ln w="6350">
            <a:solidFill>
              <a:srgbClr val="D1D5DB"/>
            </a:solidFill>
            <a:prstDash val="solid"/>
          </a:ln>
        </p:spPr>
      </p:sp>
      <p:sp>
        <p:nvSpPr>
          <p:cNvPr id="21" name="Text 19"/>
          <p:cNvSpPr/>
          <p:nvPr/>
        </p:nvSpPr>
        <p:spPr>
          <a:xfrm>
            <a:off x="8595360" y="462686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1</a:t>
            </a:r>
            <a:endParaRPr lang="en-US" sz="900" dirty="0"/>
          </a:p>
        </p:txBody>
      </p:sp>
      <p:sp>
        <p:nvSpPr>
          <p:cNvPr id="22" name="Text 20"/>
          <p:cNvSpPr/>
          <p:nvPr/>
        </p:nvSpPr>
        <p:spPr>
          <a:xfrm>
            <a:off x="8915400" y="462686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Silicon Abstraction</a:t>
            </a:r>
            <a:endParaRPr lang="en-US" sz="900" dirty="0"/>
          </a:p>
        </p:txBody>
      </p:sp>
      <p:sp>
        <p:nvSpPr>
          <p:cNvPr id="23" name="Shape 21"/>
          <p:cNvSpPr/>
          <p:nvPr/>
        </p:nvSpPr>
        <p:spPr>
          <a:xfrm>
            <a:off x="8503920" y="4334256"/>
            <a:ext cx="3108960" cy="292608"/>
          </a:xfrm>
          <a:prstGeom prst="rect">
            <a:avLst/>
          </a:prstGeom>
          <a:solidFill>
            <a:srgbClr val="FFFFFF"/>
          </a:solidFill>
          <a:ln w="6350">
            <a:solidFill>
              <a:srgbClr val="D1D5DB"/>
            </a:solidFill>
            <a:prstDash val="solid"/>
          </a:ln>
        </p:spPr>
      </p:sp>
      <p:sp>
        <p:nvSpPr>
          <p:cNvPr id="24" name="Text 22"/>
          <p:cNvSpPr/>
          <p:nvPr/>
        </p:nvSpPr>
        <p:spPr>
          <a:xfrm>
            <a:off x="8595360" y="433425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2</a:t>
            </a:r>
            <a:endParaRPr lang="en-US" sz="900" dirty="0"/>
          </a:p>
        </p:txBody>
      </p:sp>
      <p:sp>
        <p:nvSpPr>
          <p:cNvPr id="25" name="Text 23"/>
          <p:cNvSpPr/>
          <p:nvPr/>
        </p:nvSpPr>
        <p:spPr>
          <a:xfrm>
            <a:off x="8915400" y="433425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Sovereign Infrastructure</a:t>
            </a:r>
            <a:endParaRPr lang="en-US" sz="900" dirty="0"/>
          </a:p>
        </p:txBody>
      </p:sp>
      <p:sp>
        <p:nvSpPr>
          <p:cNvPr id="26" name="Shape 24"/>
          <p:cNvSpPr/>
          <p:nvPr/>
        </p:nvSpPr>
        <p:spPr>
          <a:xfrm>
            <a:off x="8503920" y="4041648"/>
            <a:ext cx="3108960" cy="292608"/>
          </a:xfrm>
          <a:prstGeom prst="rect">
            <a:avLst/>
          </a:prstGeom>
          <a:solidFill>
            <a:srgbClr val="DBEAFE"/>
          </a:solidFill>
          <a:ln w="6350">
            <a:solidFill>
              <a:srgbClr val="3B82F6"/>
            </a:solidFill>
            <a:prstDash val="solid"/>
          </a:ln>
        </p:spPr>
      </p:sp>
      <p:sp>
        <p:nvSpPr>
          <p:cNvPr id="27" name="Text 25"/>
          <p:cNvSpPr/>
          <p:nvPr/>
        </p:nvSpPr>
        <p:spPr>
          <a:xfrm>
            <a:off x="8595360" y="404164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3</a:t>
            </a:r>
            <a:endParaRPr lang="en-US" sz="900" dirty="0"/>
          </a:p>
        </p:txBody>
      </p:sp>
      <p:sp>
        <p:nvSpPr>
          <p:cNvPr id="28" name="Text 26"/>
          <p:cNvSpPr/>
          <p:nvPr/>
        </p:nvSpPr>
        <p:spPr>
          <a:xfrm>
            <a:off x="8915400" y="404164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Agent Data Substrate</a:t>
            </a:r>
            <a:endParaRPr lang="en-US" sz="900" dirty="0"/>
          </a:p>
        </p:txBody>
      </p:sp>
      <p:sp>
        <p:nvSpPr>
          <p:cNvPr id="29" name="Shape 27"/>
          <p:cNvSpPr/>
          <p:nvPr/>
        </p:nvSpPr>
        <p:spPr>
          <a:xfrm>
            <a:off x="8503920" y="3749040"/>
            <a:ext cx="3108960" cy="292608"/>
          </a:xfrm>
          <a:prstGeom prst="rect">
            <a:avLst/>
          </a:prstGeom>
          <a:solidFill>
            <a:srgbClr val="F5F5F7"/>
          </a:solidFill>
          <a:ln w="6350">
            <a:solidFill>
              <a:srgbClr val="D1D5DB"/>
            </a:solidFill>
            <a:prstDash val="solid"/>
          </a:ln>
        </p:spPr>
      </p:sp>
      <p:sp>
        <p:nvSpPr>
          <p:cNvPr id="30" name="Text 28"/>
          <p:cNvSpPr/>
          <p:nvPr/>
        </p:nvSpPr>
        <p:spPr>
          <a:xfrm>
            <a:off x="8595360" y="3749040"/>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4</a:t>
            </a:r>
            <a:endParaRPr lang="en-US" sz="900" dirty="0"/>
          </a:p>
        </p:txBody>
      </p:sp>
      <p:sp>
        <p:nvSpPr>
          <p:cNvPr id="31" name="Text 29"/>
          <p:cNvSpPr/>
          <p:nvPr/>
        </p:nvSpPr>
        <p:spPr>
          <a:xfrm>
            <a:off x="8915400" y="3749040"/>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Model Training and Adaptation</a:t>
            </a:r>
            <a:endParaRPr lang="en-US" sz="900" dirty="0"/>
          </a:p>
        </p:txBody>
      </p:sp>
      <p:sp>
        <p:nvSpPr>
          <p:cNvPr id="32" name="Shape 30"/>
          <p:cNvSpPr/>
          <p:nvPr/>
        </p:nvSpPr>
        <p:spPr>
          <a:xfrm>
            <a:off x="8503920" y="3456432"/>
            <a:ext cx="3108960" cy="292608"/>
          </a:xfrm>
          <a:prstGeom prst="rect">
            <a:avLst/>
          </a:prstGeom>
          <a:solidFill>
            <a:srgbClr val="F5F5F7"/>
          </a:solidFill>
          <a:ln w="6350">
            <a:solidFill>
              <a:srgbClr val="D1D5DB"/>
            </a:solidFill>
            <a:prstDash val="solid"/>
          </a:ln>
        </p:spPr>
      </p:sp>
      <p:sp>
        <p:nvSpPr>
          <p:cNvPr id="33" name="Text 31"/>
          <p:cNvSpPr/>
          <p:nvPr/>
        </p:nvSpPr>
        <p:spPr>
          <a:xfrm>
            <a:off x="8595360" y="3456432"/>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5</a:t>
            </a:r>
            <a:endParaRPr lang="en-US" sz="900" dirty="0"/>
          </a:p>
        </p:txBody>
      </p:sp>
      <p:sp>
        <p:nvSpPr>
          <p:cNvPr id="34" name="Text 32"/>
          <p:cNvSpPr/>
          <p:nvPr/>
        </p:nvSpPr>
        <p:spPr>
          <a:xfrm>
            <a:off x="8915400" y="3456432"/>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Inference and Retrieval</a:t>
            </a:r>
            <a:endParaRPr lang="en-US" sz="900" dirty="0"/>
          </a:p>
        </p:txBody>
      </p:sp>
      <p:sp>
        <p:nvSpPr>
          <p:cNvPr id="35" name="Shape 33"/>
          <p:cNvSpPr/>
          <p:nvPr/>
        </p:nvSpPr>
        <p:spPr>
          <a:xfrm>
            <a:off x="8503920" y="3163824"/>
            <a:ext cx="3108960" cy="292608"/>
          </a:xfrm>
          <a:prstGeom prst="rect">
            <a:avLst/>
          </a:prstGeom>
          <a:solidFill>
            <a:srgbClr val="F5F5F7"/>
          </a:solidFill>
          <a:ln w="6350">
            <a:solidFill>
              <a:srgbClr val="D1D5DB"/>
            </a:solidFill>
            <a:prstDash val="solid"/>
          </a:ln>
        </p:spPr>
      </p:sp>
      <p:sp>
        <p:nvSpPr>
          <p:cNvPr id="36" name="Text 34"/>
          <p:cNvSpPr/>
          <p:nvPr/>
        </p:nvSpPr>
        <p:spPr>
          <a:xfrm>
            <a:off x="8595360" y="3163824"/>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6</a:t>
            </a:r>
            <a:endParaRPr lang="en-US" sz="900" dirty="0"/>
          </a:p>
        </p:txBody>
      </p:sp>
      <p:sp>
        <p:nvSpPr>
          <p:cNvPr id="37" name="Text 35"/>
          <p:cNvSpPr/>
          <p:nvPr/>
        </p:nvSpPr>
        <p:spPr>
          <a:xfrm>
            <a:off x="8915400" y="3163824"/>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Context and Knowledge</a:t>
            </a:r>
            <a:endParaRPr lang="en-US" sz="900" dirty="0"/>
          </a:p>
        </p:txBody>
      </p:sp>
      <p:sp>
        <p:nvSpPr>
          <p:cNvPr id="38" name="Shape 36"/>
          <p:cNvSpPr/>
          <p:nvPr/>
        </p:nvSpPr>
        <p:spPr>
          <a:xfrm>
            <a:off x="8503920" y="2871216"/>
            <a:ext cx="3108960" cy="292608"/>
          </a:xfrm>
          <a:prstGeom prst="rect">
            <a:avLst/>
          </a:prstGeom>
          <a:solidFill>
            <a:srgbClr val="F5F5F7"/>
          </a:solidFill>
          <a:ln w="6350">
            <a:solidFill>
              <a:srgbClr val="D1D5DB"/>
            </a:solidFill>
            <a:prstDash val="solid"/>
          </a:ln>
        </p:spPr>
      </p:sp>
      <p:sp>
        <p:nvSpPr>
          <p:cNvPr id="39" name="Text 37"/>
          <p:cNvSpPr/>
          <p:nvPr/>
        </p:nvSpPr>
        <p:spPr>
          <a:xfrm>
            <a:off x="8595360" y="2871216"/>
            <a:ext cx="274320" cy="292608"/>
          </a:xfrm>
          <a:prstGeom prst="rect">
            <a:avLst/>
          </a:prstGeom>
          <a:noFill/>
          <a:ln/>
        </p:spPr>
        <p:txBody>
          <a:bodyPr wrap="square" rtlCol="0" anchor="ctr"/>
          <a:lstStyle/>
          <a:p>
            <a:pPr algn="ctr" indent="0" marL="0">
              <a:buNone/>
            </a:pPr>
            <a:r>
              <a:rPr lang="en-US" sz="900" dirty="0">
                <a:solidFill>
                  <a:srgbClr val="1C1C1E"/>
                </a:solidFill>
                <a:latin typeface="Helvetica Neue" pitchFamily="34" charset="0"/>
                <a:ea typeface="Helvetica Neue" pitchFamily="34" charset="-122"/>
                <a:cs typeface="Helvetica Neue" pitchFamily="34" charset="-120"/>
              </a:rPr>
              <a:t>7</a:t>
            </a:r>
            <a:endParaRPr lang="en-US" sz="900" dirty="0"/>
          </a:p>
        </p:txBody>
      </p:sp>
      <p:sp>
        <p:nvSpPr>
          <p:cNvPr id="40" name="Text 38"/>
          <p:cNvSpPr/>
          <p:nvPr/>
        </p:nvSpPr>
        <p:spPr>
          <a:xfrm>
            <a:off x="8915400" y="2871216"/>
            <a:ext cx="2606040" cy="292608"/>
          </a:xfrm>
          <a:prstGeom prst="rect">
            <a:avLst/>
          </a:prstGeom>
          <a:noFill/>
          <a:ln/>
        </p:spPr>
        <p:txBody>
          <a:bodyPr wrap="square" rtlCol="0" anchor="ctr"/>
          <a:lstStyle/>
          <a:p>
            <a:pPr indent="0" marL="0">
              <a:buNone/>
            </a:pPr>
            <a:r>
              <a:rPr lang="en-US" sz="900" dirty="0">
                <a:solidFill>
                  <a:srgbClr val="1C1C1E"/>
                </a:solidFill>
                <a:latin typeface="Helvetica Neue" pitchFamily="34" charset="0"/>
                <a:ea typeface="Helvetica Neue" pitchFamily="34" charset="-122"/>
                <a:cs typeface="Helvetica Neue" pitchFamily="34" charset="-120"/>
              </a:rPr>
              <a:t>Orchestration and Workflow</a:t>
            </a:r>
            <a:endParaRPr lang="en-US" sz="900" dirty="0"/>
          </a:p>
        </p:txBody>
      </p:sp>
      <p:sp>
        <p:nvSpPr>
          <p:cNvPr id="41" name="Shape 39"/>
          <p:cNvSpPr/>
          <p:nvPr/>
        </p:nvSpPr>
        <p:spPr>
          <a:xfrm>
            <a:off x="8503920" y="2578608"/>
            <a:ext cx="3108960" cy="292608"/>
          </a:xfrm>
          <a:prstGeom prst="rect">
            <a:avLst/>
          </a:prstGeom>
          <a:solidFill>
            <a:srgbClr val="DBEAFE"/>
          </a:solidFill>
          <a:ln w="6350">
            <a:solidFill>
              <a:srgbClr val="3B82F6"/>
            </a:solidFill>
            <a:prstDash val="solid"/>
          </a:ln>
        </p:spPr>
      </p:sp>
      <p:sp>
        <p:nvSpPr>
          <p:cNvPr id="42" name="Text 40"/>
          <p:cNvSpPr/>
          <p:nvPr/>
        </p:nvSpPr>
        <p:spPr>
          <a:xfrm>
            <a:off x="8595360" y="2578608"/>
            <a:ext cx="274320" cy="292608"/>
          </a:xfrm>
          <a:prstGeom prst="rect">
            <a:avLst/>
          </a:prstGeom>
          <a:noFill/>
          <a:ln/>
        </p:spPr>
        <p:txBody>
          <a:bodyPr wrap="square" rtlCol="0" anchor="ctr"/>
          <a:lstStyle/>
          <a:p>
            <a:pPr algn="ctr" indent="0" marL="0">
              <a:buNone/>
            </a:pPr>
            <a:r>
              <a:rPr lang="en-US" sz="900" dirty="0">
                <a:solidFill>
                  <a:srgbClr val="1D4ED8"/>
                </a:solidFill>
                <a:latin typeface="Helvetica Neue" pitchFamily="34" charset="0"/>
                <a:ea typeface="Helvetica Neue" pitchFamily="34" charset="-122"/>
                <a:cs typeface="Helvetica Neue" pitchFamily="34" charset="-120"/>
              </a:rPr>
              <a:t>8</a:t>
            </a:r>
            <a:endParaRPr lang="en-US" sz="900" dirty="0"/>
          </a:p>
        </p:txBody>
      </p:sp>
      <p:sp>
        <p:nvSpPr>
          <p:cNvPr id="43" name="Text 41"/>
          <p:cNvSpPr/>
          <p:nvPr/>
        </p:nvSpPr>
        <p:spPr>
          <a:xfrm>
            <a:off x="8915400" y="2578608"/>
            <a:ext cx="2606040" cy="292608"/>
          </a:xfrm>
          <a:prstGeom prst="rect">
            <a:avLst/>
          </a:prstGeom>
          <a:noFill/>
          <a:ln/>
        </p:spPr>
        <p:txBody>
          <a:bodyPr wrap="square" rtlCol="0" anchor="ctr"/>
          <a:lstStyle/>
          <a:p>
            <a:pPr indent="0" marL="0">
              <a:buNone/>
            </a:pPr>
            <a:r>
              <a:rPr lang="en-US" sz="900" dirty="0">
                <a:solidFill>
                  <a:srgbClr val="1D4ED8"/>
                </a:solidFill>
                <a:latin typeface="Helvetica Neue" pitchFamily="34" charset="0"/>
                <a:ea typeface="Helvetica Neue" pitchFamily="34" charset="-122"/>
                <a:cs typeface="Helvetica Neue" pitchFamily="34" charset="-120"/>
              </a:rPr>
              <a:t>Continuity Fabric</a:t>
            </a:r>
            <a:endParaRPr lang="en-US" sz="900" dirty="0"/>
          </a:p>
        </p:txBody>
      </p:sp>
      <p:sp>
        <p:nvSpPr>
          <p:cNvPr id="44" name="Shape 42"/>
          <p:cNvSpPr/>
          <p:nvPr/>
        </p:nvSpPr>
        <p:spPr>
          <a:xfrm>
            <a:off x="8503920" y="2286000"/>
            <a:ext cx="3108960" cy="292608"/>
          </a:xfrm>
          <a:prstGeom prst="rect">
            <a:avLst/>
          </a:prstGeom>
          <a:solidFill>
            <a:srgbClr val="1D4ED8"/>
          </a:solidFill>
          <a:ln w="6350">
            <a:solidFill>
              <a:srgbClr val="1D4ED8"/>
            </a:solidFill>
            <a:prstDash val="solid"/>
          </a:ln>
        </p:spPr>
      </p:sp>
      <p:sp>
        <p:nvSpPr>
          <p:cNvPr id="45" name="Text 43"/>
          <p:cNvSpPr/>
          <p:nvPr/>
        </p:nvSpPr>
        <p:spPr>
          <a:xfrm>
            <a:off x="8595360" y="2286000"/>
            <a:ext cx="274320" cy="292608"/>
          </a:xfrm>
          <a:prstGeom prst="rect">
            <a:avLst/>
          </a:prstGeom>
          <a:noFill/>
          <a:ln/>
        </p:spPr>
        <p:txBody>
          <a:bodyPr wrap="square" rtlCol="0" anchor="ctr"/>
          <a:lstStyle/>
          <a:p>
            <a:pPr algn="ctr" indent="0" marL="0">
              <a:buNone/>
            </a:pPr>
            <a:r>
              <a:rPr lang="en-US" sz="900" b="1" dirty="0">
                <a:solidFill>
                  <a:srgbClr val="FFFFFF"/>
                </a:solidFill>
                <a:latin typeface="Helvetica Neue" pitchFamily="34" charset="0"/>
                <a:ea typeface="Helvetica Neue" pitchFamily="34" charset="-122"/>
                <a:cs typeface="Helvetica Neue" pitchFamily="34" charset="-120"/>
              </a:rPr>
              <a:t>9</a:t>
            </a:r>
            <a:endParaRPr lang="en-US" sz="900" dirty="0"/>
          </a:p>
        </p:txBody>
      </p:sp>
      <p:sp>
        <p:nvSpPr>
          <p:cNvPr id="46" name="Text 44"/>
          <p:cNvSpPr/>
          <p:nvPr/>
        </p:nvSpPr>
        <p:spPr>
          <a:xfrm>
            <a:off x="8915400" y="2286000"/>
            <a:ext cx="2606040" cy="292608"/>
          </a:xfrm>
          <a:prstGeom prst="rect">
            <a:avLst/>
          </a:prstGeom>
          <a:noFill/>
          <a:ln/>
        </p:spPr>
        <p:txBody>
          <a:bodyPr wrap="square" rtlCol="0" anchor="ctr"/>
          <a:lstStyle/>
          <a:p>
            <a:pPr indent="0" marL="0">
              <a:buNone/>
            </a:pPr>
            <a:r>
              <a:rPr lang="en-US" sz="900" b="1" dirty="0">
                <a:solidFill>
                  <a:srgbClr val="FFFFFF"/>
                </a:solidFill>
                <a:latin typeface="Helvetica Neue" pitchFamily="34" charset="0"/>
                <a:ea typeface="Helvetica Neue" pitchFamily="34" charset="-122"/>
                <a:cs typeface="Helvetica Neue" pitchFamily="34" charset="-120"/>
              </a:rPr>
              <a:t>Human and Browser Interface</a:t>
            </a:r>
            <a:endParaRPr lang="en-US" sz="900" dirty="0"/>
          </a:p>
        </p:txBody>
      </p:sp>
      <p:sp>
        <p:nvSpPr>
          <p:cNvPr id="47" name="Text 4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14 / 21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CROSS-LAYER SPANS</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Six Concerns That Cut Across the Stack</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Concerns that cannot be localised to a single layer. Addressed as horizontal spans, not per-layer subsections.</a:t>
            </a:r>
            <a:endParaRPr lang="en-US" sz="1600" dirty="0"/>
          </a:p>
        </p:txBody>
      </p:sp>
      <p:sp>
        <p:nvSpPr>
          <p:cNvPr id="5" name="Shape 3"/>
          <p:cNvSpPr/>
          <p:nvPr/>
        </p:nvSpPr>
        <p:spPr>
          <a:xfrm>
            <a:off x="548640" y="2468880"/>
            <a:ext cx="2926080" cy="320040"/>
          </a:xfrm>
          <a:prstGeom prst="rect">
            <a:avLst/>
          </a:prstGeom>
          <a:solidFill>
            <a:srgbClr val="FFFFFF"/>
          </a:solidFill>
          <a:ln w="6350">
            <a:solidFill>
              <a:srgbClr val="D1D5DB"/>
            </a:solidFill>
            <a:prstDash val="solid"/>
          </a:ln>
        </p:spPr>
      </p:sp>
      <p:sp>
        <p:nvSpPr>
          <p:cNvPr id="6" name="Text 4"/>
          <p:cNvSpPr/>
          <p:nvPr/>
        </p:nvSpPr>
        <p:spPr>
          <a:xfrm>
            <a:off x="640080" y="246888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9</a:t>
            </a:r>
            <a:endParaRPr lang="en-US" sz="1100" dirty="0"/>
          </a:p>
        </p:txBody>
      </p:sp>
      <p:sp>
        <p:nvSpPr>
          <p:cNvPr id="7" name="Text 5"/>
          <p:cNvSpPr/>
          <p:nvPr/>
        </p:nvSpPr>
        <p:spPr>
          <a:xfrm>
            <a:off x="960120" y="246888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Interface</a:t>
            </a:r>
            <a:endParaRPr lang="en-US" sz="1100" dirty="0"/>
          </a:p>
        </p:txBody>
      </p:sp>
      <p:sp>
        <p:nvSpPr>
          <p:cNvPr id="8" name="Shape 6"/>
          <p:cNvSpPr/>
          <p:nvPr/>
        </p:nvSpPr>
        <p:spPr>
          <a:xfrm>
            <a:off x="548640" y="2788920"/>
            <a:ext cx="2926080" cy="320040"/>
          </a:xfrm>
          <a:prstGeom prst="rect">
            <a:avLst/>
          </a:prstGeom>
          <a:solidFill>
            <a:srgbClr val="DBEAFE"/>
          </a:solidFill>
          <a:ln w="6350">
            <a:solidFill>
              <a:srgbClr val="3B82F6"/>
            </a:solidFill>
            <a:prstDash val="solid"/>
          </a:ln>
        </p:spPr>
      </p:sp>
      <p:sp>
        <p:nvSpPr>
          <p:cNvPr id="9" name="Text 7"/>
          <p:cNvSpPr/>
          <p:nvPr/>
        </p:nvSpPr>
        <p:spPr>
          <a:xfrm>
            <a:off x="640080" y="2788920"/>
            <a:ext cx="27432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8</a:t>
            </a:r>
            <a:endParaRPr lang="en-US" sz="1100" dirty="0"/>
          </a:p>
        </p:txBody>
      </p:sp>
      <p:sp>
        <p:nvSpPr>
          <p:cNvPr id="10" name="Text 8"/>
          <p:cNvSpPr/>
          <p:nvPr/>
        </p:nvSpPr>
        <p:spPr>
          <a:xfrm>
            <a:off x="960120" y="2788920"/>
            <a:ext cx="2423160" cy="320040"/>
          </a:xfrm>
          <a:prstGeom prst="rect">
            <a:avLst/>
          </a:prstGeom>
          <a:noFill/>
          <a:ln/>
        </p:spPr>
        <p:txBody>
          <a:bodyPr wrap="square" rtlCol="0" anchor="ctr"/>
          <a:lstStyle/>
          <a:p>
            <a:pPr indent="0" marL="0">
              <a:buNone/>
            </a:pPr>
            <a:r>
              <a:rPr lang="en-US" sz="1100" dirty="0">
                <a:solidFill>
                  <a:srgbClr val="1D4ED8"/>
                </a:solidFill>
                <a:latin typeface="Helvetica Neue" pitchFamily="34" charset="0"/>
                <a:ea typeface="Helvetica Neue" pitchFamily="34" charset="-122"/>
                <a:cs typeface="Helvetica Neue" pitchFamily="34" charset="-120"/>
              </a:rPr>
              <a:t>Continuity</a:t>
            </a:r>
            <a:endParaRPr lang="en-US" sz="1100" dirty="0"/>
          </a:p>
        </p:txBody>
      </p:sp>
      <p:sp>
        <p:nvSpPr>
          <p:cNvPr id="11" name="Shape 9"/>
          <p:cNvSpPr/>
          <p:nvPr/>
        </p:nvSpPr>
        <p:spPr>
          <a:xfrm>
            <a:off x="548640" y="3108960"/>
            <a:ext cx="2926080" cy="320040"/>
          </a:xfrm>
          <a:prstGeom prst="rect">
            <a:avLst/>
          </a:prstGeom>
          <a:solidFill>
            <a:srgbClr val="F5F5F7"/>
          </a:solidFill>
          <a:ln w="6350">
            <a:solidFill>
              <a:srgbClr val="D1D5DB"/>
            </a:solidFill>
            <a:prstDash val="solid"/>
          </a:ln>
        </p:spPr>
      </p:sp>
      <p:sp>
        <p:nvSpPr>
          <p:cNvPr id="12" name="Text 10"/>
          <p:cNvSpPr/>
          <p:nvPr/>
        </p:nvSpPr>
        <p:spPr>
          <a:xfrm>
            <a:off x="640080" y="310896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7</a:t>
            </a:r>
            <a:endParaRPr lang="en-US" sz="1100" dirty="0"/>
          </a:p>
        </p:txBody>
      </p:sp>
      <p:sp>
        <p:nvSpPr>
          <p:cNvPr id="13" name="Text 11"/>
          <p:cNvSpPr/>
          <p:nvPr/>
        </p:nvSpPr>
        <p:spPr>
          <a:xfrm>
            <a:off x="960120" y="310896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Orchestration</a:t>
            </a:r>
            <a:endParaRPr lang="en-US" sz="1100" dirty="0"/>
          </a:p>
        </p:txBody>
      </p:sp>
      <p:sp>
        <p:nvSpPr>
          <p:cNvPr id="14" name="Shape 12"/>
          <p:cNvSpPr/>
          <p:nvPr/>
        </p:nvSpPr>
        <p:spPr>
          <a:xfrm>
            <a:off x="548640" y="3429000"/>
            <a:ext cx="2926080" cy="320040"/>
          </a:xfrm>
          <a:prstGeom prst="rect">
            <a:avLst/>
          </a:prstGeom>
          <a:solidFill>
            <a:srgbClr val="F5F5F7"/>
          </a:solidFill>
          <a:ln w="6350">
            <a:solidFill>
              <a:srgbClr val="D1D5DB"/>
            </a:solidFill>
            <a:prstDash val="solid"/>
          </a:ln>
        </p:spPr>
      </p:sp>
      <p:sp>
        <p:nvSpPr>
          <p:cNvPr id="15" name="Text 13"/>
          <p:cNvSpPr/>
          <p:nvPr/>
        </p:nvSpPr>
        <p:spPr>
          <a:xfrm>
            <a:off x="640080" y="342900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6</a:t>
            </a:r>
            <a:endParaRPr lang="en-US" sz="1100" dirty="0"/>
          </a:p>
        </p:txBody>
      </p:sp>
      <p:sp>
        <p:nvSpPr>
          <p:cNvPr id="16" name="Text 14"/>
          <p:cNvSpPr/>
          <p:nvPr/>
        </p:nvSpPr>
        <p:spPr>
          <a:xfrm>
            <a:off x="960120" y="342900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Context</a:t>
            </a:r>
            <a:endParaRPr lang="en-US" sz="1100" dirty="0"/>
          </a:p>
        </p:txBody>
      </p:sp>
      <p:sp>
        <p:nvSpPr>
          <p:cNvPr id="17" name="Shape 15"/>
          <p:cNvSpPr/>
          <p:nvPr/>
        </p:nvSpPr>
        <p:spPr>
          <a:xfrm>
            <a:off x="548640" y="3749040"/>
            <a:ext cx="2926080" cy="320040"/>
          </a:xfrm>
          <a:prstGeom prst="rect">
            <a:avLst/>
          </a:prstGeom>
          <a:solidFill>
            <a:srgbClr val="F5F5F7"/>
          </a:solidFill>
          <a:ln w="6350">
            <a:solidFill>
              <a:srgbClr val="D1D5DB"/>
            </a:solidFill>
            <a:prstDash val="solid"/>
          </a:ln>
        </p:spPr>
      </p:sp>
      <p:sp>
        <p:nvSpPr>
          <p:cNvPr id="18" name="Text 16"/>
          <p:cNvSpPr/>
          <p:nvPr/>
        </p:nvSpPr>
        <p:spPr>
          <a:xfrm>
            <a:off x="640080" y="374904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5</a:t>
            </a:r>
            <a:endParaRPr lang="en-US" sz="1100" dirty="0"/>
          </a:p>
        </p:txBody>
      </p:sp>
      <p:sp>
        <p:nvSpPr>
          <p:cNvPr id="19" name="Text 17"/>
          <p:cNvSpPr/>
          <p:nvPr/>
        </p:nvSpPr>
        <p:spPr>
          <a:xfrm>
            <a:off x="960120" y="374904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Inference</a:t>
            </a:r>
            <a:endParaRPr lang="en-US" sz="1100" dirty="0"/>
          </a:p>
        </p:txBody>
      </p:sp>
      <p:sp>
        <p:nvSpPr>
          <p:cNvPr id="20" name="Shape 18"/>
          <p:cNvSpPr/>
          <p:nvPr/>
        </p:nvSpPr>
        <p:spPr>
          <a:xfrm>
            <a:off x="548640" y="4069080"/>
            <a:ext cx="2926080" cy="320040"/>
          </a:xfrm>
          <a:prstGeom prst="rect">
            <a:avLst/>
          </a:prstGeom>
          <a:solidFill>
            <a:srgbClr val="F5F5F7"/>
          </a:solidFill>
          <a:ln w="6350">
            <a:solidFill>
              <a:srgbClr val="D1D5DB"/>
            </a:solidFill>
            <a:prstDash val="solid"/>
          </a:ln>
        </p:spPr>
      </p:sp>
      <p:sp>
        <p:nvSpPr>
          <p:cNvPr id="21" name="Text 19"/>
          <p:cNvSpPr/>
          <p:nvPr/>
        </p:nvSpPr>
        <p:spPr>
          <a:xfrm>
            <a:off x="640080" y="406908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4</a:t>
            </a:r>
            <a:endParaRPr lang="en-US" sz="1100" dirty="0"/>
          </a:p>
        </p:txBody>
      </p:sp>
      <p:sp>
        <p:nvSpPr>
          <p:cNvPr id="22" name="Text 20"/>
          <p:cNvSpPr/>
          <p:nvPr/>
        </p:nvSpPr>
        <p:spPr>
          <a:xfrm>
            <a:off x="960120" y="406908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Training</a:t>
            </a:r>
            <a:endParaRPr lang="en-US" sz="1100" dirty="0"/>
          </a:p>
        </p:txBody>
      </p:sp>
      <p:sp>
        <p:nvSpPr>
          <p:cNvPr id="23" name="Shape 21"/>
          <p:cNvSpPr/>
          <p:nvPr/>
        </p:nvSpPr>
        <p:spPr>
          <a:xfrm>
            <a:off x="548640" y="4389120"/>
            <a:ext cx="2926080" cy="320040"/>
          </a:xfrm>
          <a:prstGeom prst="rect">
            <a:avLst/>
          </a:prstGeom>
          <a:solidFill>
            <a:srgbClr val="DBEAFE"/>
          </a:solidFill>
          <a:ln w="6350">
            <a:solidFill>
              <a:srgbClr val="3B82F6"/>
            </a:solidFill>
            <a:prstDash val="solid"/>
          </a:ln>
        </p:spPr>
      </p:sp>
      <p:sp>
        <p:nvSpPr>
          <p:cNvPr id="24" name="Text 22"/>
          <p:cNvSpPr/>
          <p:nvPr/>
        </p:nvSpPr>
        <p:spPr>
          <a:xfrm>
            <a:off x="640080" y="4389120"/>
            <a:ext cx="27432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3</a:t>
            </a:r>
            <a:endParaRPr lang="en-US" sz="1100" dirty="0"/>
          </a:p>
        </p:txBody>
      </p:sp>
      <p:sp>
        <p:nvSpPr>
          <p:cNvPr id="25" name="Text 23"/>
          <p:cNvSpPr/>
          <p:nvPr/>
        </p:nvSpPr>
        <p:spPr>
          <a:xfrm>
            <a:off x="960120" y="4389120"/>
            <a:ext cx="2423160" cy="320040"/>
          </a:xfrm>
          <a:prstGeom prst="rect">
            <a:avLst/>
          </a:prstGeom>
          <a:noFill/>
          <a:ln/>
        </p:spPr>
        <p:txBody>
          <a:bodyPr wrap="square" rtlCol="0" anchor="ctr"/>
          <a:lstStyle/>
          <a:p>
            <a:pPr indent="0" marL="0">
              <a:buNone/>
            </a:pPr>
            <a:r>
              <a:rPr lang="en-US" sz="1100" dirty="0">
                <a:solidFill>
                  <a:srgbClr val="1D4ED8"/>
                </a:solidFill>
                <a:latin typeface="Helvetica Neue" pitchFamily="34" charset="0"/>
                <a:ea typeface="Helvetica Neue" pitchFamily="34" charset="-122"/>
                <a:cs typeface="Helvetica Neue" pitchFamily="34" charset="-120"/>
              </a:rPr>
              <a:t>Data</a:t>
            </a:r>
            <a:endParaRPr lang="en-US" sz="1100" dirty="0"/>
          </a:p>
        </p:txBody>
      </p:sp>
      <p:sp>
        <p:nvSpPr>
          <p:cNvPr id="26" name="Shape 24"/>
          <p:cNvSpPr/>
          <p:nvPr/>
        </p:nvSpPr>
        <p:spPr>
          <a:xfrm>
            <a:off x="548640" y="4709160"/>
            <a:ext cx="2926080" cy="320040"/>
          </a:xfrm>
          <a:prstGeom prst="rect">
            <a:avLst/>
          </a:prstGeom>
          <a:solidFill>
            <a:srgbClr val="FFFFFF"/>
          </a:solidFill>
          <a:ln w="6350">
            <a:solidFill>
              <a:srgbClr val="D1D5DB"/>
            </a:solidFill>
            <a:prstDash val="solid"/>
          </a:ln>
        </p:spPr>
      </p:sp>
      <p:sp>
        <p:nvSpPr>
          <p:cNvPr id="27" name="Text 25"/>
          <p:cNvSpPr/>
          <p:nvPr/>
        </p:nvSpPr>
        <p:spPr>
          <a:xfrm>
            <a:off x="640080" y="470916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2</a:t>
            </a:r>
            <a:endParaRPr lang="en-US" sz="1100" dirty="0"/>
          </a:p>
        </p:txBody>
      </p:sp>
      <p:sp>
        <p:nvSpPr>
          <p:cNvPr id="28" name="Text 26"/>
          <p:cNvSpPr/>
          <p:nvPr/>
        </p:nvSpPr>
        <p:spPr>
          <a:xfrm>
            <a:off x="960120" y="470916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Infrastructure</a:t>
            </a:r>
            <a:endParaRPr lang="en-US" sz="1100" dirty="0"/>
          </a:p>
        </p:txBody>
      </p:sp>
      <p:sp>
        <p:nvSpPr>
          <p:cNvPr id="29" name="Shape 27"/>
          <p:cNvSpPr/>
          <p:nvPr/>
        </p:nvSpPr>
        <p:spPr>
          <a:xfrm>
            <a:off x="548640" y="5029200"/>
            <a:ext cx="2926080" cy="320040"/>
          </a:xfrm>
          <a:prstGeom prst="rect">
            <a:avLst/>
          </a:prstGeom>
          <a:solidFill>
            <a:srgbClr val="FFFFFF"/>
          </a:solidFill>
          <a:ln w="6350">
            <a:solidFill>
              <a:srgbClr val="D1D5DB"/>
            </a:solidFill>
            <a:prstDash val="solid"/>
          </a:ln>
        </p:spPr>
      </p:sp>
      <p:sp>
        <p:nvSpPr>
          <p:cNvPr id="30" name="Text 28"/>
          <p:cNvSpPr/>
          <p:nvPr/>
        </p:nvSpPr>
        <p:spPr>
          <a:xfrm>
            <a:off x="640080" y="502920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1</a:t>
            </a:r>
            <a:endParaRPr lang="en-US" sz="1100" dirty="0"/>
          </a:p>
        </p:txBody>
      </p:sp>
      <p:sp>
        <p:nvSpPr>
          <p:cNvPr id="31" name="Text 29"/>
          <p:cNvSpPr/>
          <p:nvPr/>
        </p:nvSpPr>
        <p:spPr>
          <a:xfrm>
            <a:off x="960120" y="502920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Silicon</a:t>
            </a:r>
            <a:endParaRPr lang="en-US" sz="1100" dirty="0"/>
          </a:p>
        </p:txBody>
      </p:sp>
      <p:sp>
        <p:nvSpPr>
          <p:cNvPr id="32" name="Shape 30"/>
          <p:cNvSpPr/>
          <p:nvPr/>
        </p:nvSpPr>
        <p:spPr>
          <a:xfrm>
            <a:off x="548640" y="5349240"/>
            <a:ext cx="2926080" cy="320040"/>
          </a:xfrm>
          <a:prstGeom prst="rect">
            <a:avLst/>
          </a:prstGeom>
          <a:solidFill>
            <a:srgbClr val="FFFFFF"/>
          </a:solidFill>
          <a:ln w="6350">
            <a:solidFill>
              <a:srgbClr val="D1D5DB"/>
            </a:solidFill>
            <a:prstDash val="solid"/>
          </a:ln>
        </p:spPr>
      </p:sp>
      <p:sp>
        <p:nvSpPr>
          <p:cNvPr id="33" name="Text 31"/>
          <p:cNvSpPr/>
          <p:nvPr/>
        </p:nvSpPr>
        <p:spPr>
          <a:xfrm>
            <a:off x="640080" y="5349240"/>
            <a:ext cx="274320" cy="320040"/>
          </a:xfrm>
          <a:prstGeom prst="rect">
            <a:avLst/>
          </a:prstGeom>
          <a:noFill/>
          <a:ln/>
        </p:spPr>
        <p:txBody>
          <a:bodyPr wrap="square" rtlCol="0" anchor="ctr"/>
          <a:lstStyle/>
          <a:p>
            <a:pPr algn="ctr" indent="0" marL="0">
              <a:buNone/>
            </a:pPr>
            <a:r>
              <a:rPr lang="en-US" sz="1100" b="1" dirty="0">
                <a:solidFill>
                  <a:srgbClr val="1C1C1E"/>
                </a:solidFill>
                <a:latin typeface="Helvetica Neue" pitchFamily="34" charset="0"/>
                <a:ea typeface="Helvetica Neue" pitchFamily="34" charset="-122"/>
                <a:cs typeface="Helvetica Neue" pitchFamily="34" charset="-120"/>
              </a:rPr>
              <a:t>0</a:t>
            </a:r>
            <a:endParaRPr lang="en-US" sz="1100" dirty="0"/>
          </a:p>
        </p:txBody>
      </p:sp>
      <p:sp>
        <p:nvSpPr>
          <p:cNvPr id="34" name="Text 32"/>
          <p:cNvSpPr/>
          <p:nvPr/>
        </p:nvSpPr>
        <p:spPr>
          <a:xfrm>
            <a:off x="960120" y="5349240"/>
            <a:ext cx="2423160" cy="320040"/>
          </a:xfrm>
          <a:prstGeom prst="rect">
            <a:avLst/>
          </a:prstGeom>
          <a:noFill/>
          <a:ln/>
        </p:spPr>
        <p:txBody>
          <a:bodyPr wrap="square" rtlCol="0" anchor="ctr"/>
          <a:lstStyle/>
          <a:p>
            <a:pPr indent="0" marL="0">
              <a:buNone/>
            </a:pPr>
            <a:r>
              <a:rPr lang="en-US" sz="1100" dirty="0">
                <a:solidFill>
                  <a:srgbClr val="1C1C1E"/>
                </a:solidFill>
                <a:latin typeface="Helvetica Neue" pitchFamily="34" charset="0"/>
                <a:ea typeface="Helvetica Neue" pitchFamily="34" charset="-122"/>
                <a:cs typeface="Helvetica Neue" pitchFamily="34" charset="-120"/>
              </a:rPr>
              <a:t>Physical</a:t>
            </a:r>
            <a:endParaRPr lang="en-US" sz="1100" dirty="0"/>
          </a:p>
        </p:txBody>
      </p:sp>
      <p:sp>
        <p:nvSpPr>
          <p:cNvPr id="35" name="Shape 33"/>
          <p:cNvSpPr/>
          <p:nvPr/>
        </p:nvSpPr>
        <p:spPr>
          <a:xfrm>
            <a:off x="4023360" y="2560320"/>
            <a:ext cx="201168" cy="201168"/>
          </a:xfrm>
          <a:prstGeom prst="ellipse">
            <a:avLst/>
          </a:prstGeom>
          <a:solidFill>
            <a:srgbClr val="1D4ED8"/>
          </a:solidFill>
          <a:ln/>
        </p:spPr>
      </p:sp>
      <p:sp>
        <p:nvSpPr>
          <p:cNvPr id="36" name="Text 34"/>
          <p:cNvSpPr/>
          <p:nvPr/>
        </p:nvSpPr>
        <p:spPr>
          <a:xfrm>
            <a:off x="4389120" y="2423160"/>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Security</a:t>
            </a:r>
            <a:endParaRPr lang="en-US" sz="1500" dirty="0"/>
          </a:p>
        </p:txBody>
      </p:sp>
      <p:sp>
        <p:nvSpPr>
          <p:cNvPr id="37" name="Text 35"/>
          <p:cNvSpPr/>
          <p:nvPr/>
        </p:nvSpPr>
        <p:spPr>
          <a:xfrm>
            <a:off x="4389120" y="2679192"/>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Widest scope — every layer has security properties that must cohere across layers.</a:t>
            </a:r>
            <a:endParaRPr lang="en-US" sz="1200" dirty="0"/>
          </a:p>
        </p:txBody>
      </p:sp>
      <p:sp>
        <p:nvSpPr>
          <p:cNvPr id="38" name="Shape 36"/>
          <p:cNvSpPr/>
          <p:nvPr/>
        </p:nvSpPr>
        <p:spPr>
          <a:xfrm>
            <a:off x="4023360" y="3218688"/>
            <a:ext cx="201168" cy="201168"/>
          </a:xfrm>
          <a:prstGeom prst="ellipse">
            <a:avLst/>
          </a:prstGeom>
          <a:solidFill>
            <a:srgbClr val="2563EB"/>
          </a:solidFill>
          <a:ln/>
        </p:spPr>
      </p:sp>
      <p:sp>
        <p:nvSpPr>
          <p:cNvPr id="39" name="Text 37"/>
          <p:cNvSpPr/>
          <p:nvPr/>
        </p:nvSpPr>
        <p:spPr>
          <a:xfrm>
            <a:off x="4389120" y="3081528"/>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Sovereignty</a:t>
            </a:r>
            <a:endParaRPr lang="en-US" sz="1500" dirty="0"/>
          </a:p>
        </p:txBody>
      </p:sp>
      <p:sp>
        <p:nvSpPr>
          <p:cNvPr id="40" name="Text 38"/>
          <p:cNvSpPr/>
          <p:nvPr/>
        </p:nvSpPr>
        <p:spPr>
          <a:xfrm>
            <a:off x="4389120" y="3337560"/>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Jurisdictional, operational, energy. Weakest layer sets the posture.</a:t>
            </a:r>
            <a:endParaRPr lang="en-US" sz="1200" dirty="0"/>
          </a:p>
        </p:txBody>
      </p:sp>
      <p:sp>
        <p:nvSpPr>
          <p:cNvPr id="41" name="Shape 39"/>
          <p:cNvSpPr/>
          <p:nvPr/>
        </p:nvSpPr>
        <p:spPr>
          <a:xfrm>
            <a:off x="4023360" y="3877056"/>
            <a:ext cx="201168" cy="201168"/>
          </a:xfrm>
          <a:prstGeom prst="ellipse">
            <a:avLst/>
          </a:prstGeom>
          <a:solidFill>
            <a:srgbClr val="3B82F6"/>
          </a:solidFill>
          <a:ln/>
        </p:spPr>
      </p:sp>
      <p:sp>
        <p:nvSpPr>
          <p:cNvPr id="42" name="Text 40"/>
          <p:cNvSpPr/>
          <p:nvPr/>
        </p:nvSpPr>
        <p:spPr>
          <a:xfrm>
            <a:off x="4389120" y="3739896"/>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Auditability</a:t>
            </a:r>
            <a:endParaRPr lang="en-US" sz="1500" dirty="0"/>
          </a:p>
        </p:txBody>
      </p:sp>
      <p:sp>
        <p:nvSpPr>
          <p:cNvPr id="43" name="Text 41"/>
          <p:cNvSpPr/>
          <p:nvPr/>
        </p:nvSpPr>
        <p:spPr>
          <a:xfrm>
            <a:off x="4389120" y="3995928"/>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Cannot be retrofitted. Must be designed into every layer.</a:t>
            </a:r>
            <a:endParaRPr lang="en-US" sz="1200" dirty="0"/>
          </a:p>
        </p:txBody>
      </p:sp>
      <p:sp>
        <p:nvSpPr>
          <p:cNvPr id="44" name="Shape 42"/>
          <p:cNvSpPr/>
          <p:nvPr/>
        </p:nvSpPr>
        <p:spPr>
          <a:xfrm>
            <a:off x="4023360" y="4535424"/>
            <a:ext cx="201168" cy="201168"/>
          </a:xfrm>
          <a:prstGeom prst="ellipse">
            <a:avLst/>
          </a:prstGeom>
          <a:solidFill>
            <a:srgbClr val="60A5FA"/>
          </a:solidFill>
          <a:ln/>
        </p:spPr>
      </p:sp>
      <p:sp>
        <p:nvSpPr>
          <p:cNvPr id="45" name="Text 43"/>
          <p:cNvSpPr/>
          <p:nvPr/>
        </p:nvSpPr>
        <p:spPr>
          <a:xfrm>
            <a:off x="4389120" y="4398264"/>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Identity</a:t>
            </a:r>
            <a:endParaRPr lang="en-US" sz="1500" dirty="0"/>
          </a:p>
        </p:txBody>
      </p:sp>
      <p:sp>
        <p:nvSpPr>
          <p:cNvPr id="46" name="Text 44"/>
          <p:cNvSpPr/>
          <p:nvPr/>
        </p:nvSpPr>
        <p:spPr>
          <a:xfrm>
            <a:off x="4389120" y="4654296"/>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Human, agent, service, device — foundational to access control and audit.</a:t>
            </a:r>
            <a:endParaRPr lang="en-US" sz="1200" dirty="0"/>
          </a:p>
        </p:txBody>
      </p:sp>
      <p:sp>
        <p:nvSpPr>
          <p:cNvPr id="47" name="Shape 45"/>
          <p:cNvSpPr/>
          <p:nvPr/>
        </p:nvSpPr>
        <p:spPr>
          <a:xfrm>
            <a:off x="4023360" y="5193792"/>
            <a:ext cx="201168" cy="201168"/>
          </a:xfrm>
          <a:prstGeom prst="ellipse">
            <a:avLst/>
          </a:prstGeom>
          <a:solidFill>
            <a:srgbClr val="93C5FD"/>
          </a:solidFill>
          <a:ln/>
        </p:spPr>
      </p:sp>
      <p:sp>
        <p:nvSpPr>
          <p:cNvPr id="48" name="Text 46"/>
          <p:cNvSpPr/>
          <p:nvPr/>
        </p:nvSpPr>
        <p:spPr>
          <a:xfrm>
            <a:off x="4389120" y="5056632"/>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Energy</a:t>
            </a:r>
            <a:endParaRPr lang="en-US" sz="1500" dirty="0"/>
          </a:p>
        </p:txBody>
      </p:sp>
      <p:sp>
        <p:nvSpPr>
          <p:cNvPr id="49" name="Text 47"/>
          <p:cNvSpPr/>
          <p:nvPr/>
        </p:nvSpPr>
        <p:spPr>
          <a:xfrm>
            <a:off x="4389120" y="5312664"/>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Propagates from Layer 0 as cost, impact, and capacity constraint.</a:t>
            </a:r>
            <a:endParaRPr lang="en-US" sz="1200" dirty="0"/>
          </a:p>
        </p:txBody>
      </p:sp>
      <p:sp>
        <p:nvSpPr>
          <p:cNvPr id="50" name="Shape 48"/>
          <p:cNvSpPr/>
          <p:nvPr/>
        </p:nvSpPr>
        <p:spPr>
          <a:xfrm>
            <a:off x="4023360" y="5852160"/>
            <a:ext cx="201168" cy="201168"/>
          </a:xfrm>
          <a:prstGeom prst="ellipse">
            <a:avLst/>
          </a:prstGeom>
          <a:solidFill>
            <a:srgbClr val="BFDBFE"/>
          </a:solidFill>
          <a:ln/>
        </p:spPr>
      </p:sp>
      <p:sp>
        <p:nvSpPr>
          <p:cNvPr id="51" name="Text 49"/>
          <p:cNvSpPr/>
          <p:nvPr/>
        </p:nvSpPr>
        <p:spPr>
          <a:xfrm>
            <a:off x="4389120" y="5715000"/>
            <a:ext cx="18288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Provenance</a:t>
            </a:r>
            <a:endParaRPr lang="en-US" sz="1500" dirty="0"/>
          </a:p>
        </p:txBody>
      </p:sp>
      <p:sp>
        <p:nvSpPr>
          <p:cNvPr id="52" name="Text 50"/>
          <p:cNvSpPr/>
          <p:nvPr/>
        </p:nvSpPr>
        <p:spPr>
          <a:xfrm>
            <a:off x="4389120" y="5971032"/>
            <a:ext cx="6858000" cy="411480"/>
          </a:xfrm>
          <a:prstGeom prst="rect">
            <a:avLst/>
          </a:prstGeom>
          <a:noFill/>
          <a:ln/>
        </p:spPr>
        <p:txBody>
          <a:bodyPr wrap="square" rtlCol="0" anchor="t"/>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Lineage of data, models, decisions, actions — preserved across transitions.</a:t>
            </a:r>
            <a:endParaRPr lang="en-US" sz="1200" dirty="0"/>
          </a:p>
        </p:txBody>
      </p:sp>
      <p:sp>
        <p:nvSpPr>
          <p:cNvPr id="53" name="Text 51"/>
          <p:cNvSpPr/>
          <p:nvPr/>
        </p:nvSpPr>
        <p:spPr>
          <a:xfrm>
            <a:off x="548640" y="6400800"/>
            <a:ext cx="10972800" cy="274320"/>
          </a:xfrm>
          <a:prstGeom prst="rect">
            <a:avLst/>
          </a:prstGeom>
          <a:noFill/>
          <a:ln/>
        </p:spPr>
        <p:txBody>
          <a:bodyPr wrap="square" rtlCol="0" anchor="ctr"/>
          <a:lstStyle/>
          <a:p>
            <a:pPr algn="ctr" indent="0" marL="0">
              <a:buNone/>
            </a:pPr>
            <a:r>
              <a:rPr lang="en-US" sz="1000" i="1" dirty="0">
                <a:solidFill>
                  <a:srgbClr val="6E6E73"/>
                </a:solidFill>
                <a:latin typeface="Helvetica Neue" pitchFamily="34" charset="0"/>
                <a:ea typeface="Helvetica Neue" pitchFamily="34" charset="-122"/>
                <a:cs typeface="Helvetica Neue" pitchFamily="34" charset="-120"/>
              </a:rPr>
              <a:t>Spans are not independent — security intersects sovereignty, auditability depends on provenance, identity is foundational to audit.</a:t>
            </a:r>
            <a:endParaRPr lang="en-US" sz="1000" dirty="0"/>
          </a:p>
        </p:txBody>
      </p:sp>
      <p:sp>
        <p:nvSpPr>
          <p:cNvPr id="54" name="Text 52"/>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15 / 21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COMPOSITION</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How OIA Sits Alongside Other Frameworks</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Additive to the reference architecture ecosystem — not competitive with it.</a:t>
            </a:r>
            <a:endParaRPr lang="en-US" sz="1600" dirty="0"/>
          </a:p>
        </p:txBody>
      </p:sp>
      <p:sp>
        <p:nvSpPr>
          <p:cNvPr id="5" name="Text 3"/>
          <p:cNvSpPr/>
          <p:nvPr/>
        </p:nvSpPr>
        <p:spPr>
          <a:xfrm>
            <a:off x="548640" y="2377440"/>
            <a:ext cx="2926080" cy="365760"/>
          </a:xfrm>
          <a:prstGeom prst="rect">
            <a:avLst/>
          </a:prstGeom>
          <a:noFill/>
          <a:ln/>
        </p:spPr>
        <p:txBody>
          <a:bodyPr wrap="square" rtlCol="0" anchor="ctr"/>
          <a:lstStyle/>
          <a:p>
            <a:pPr indent="0" marL="0">
              <a:buNone/>
            </a:pPr>
            <a:r>
              <a:rPr lang="en-US" sz="1000" spc="300" kern="0" dirty="0">
                <a:solidFill>
                  <a:srgbClr val="6E6E73"/>
                </a:solidFill>
                <a:latin typeface="Helvetica Neue" pitchFamily="34" charset="0"/>
                <a:ea typeface="Helvetica Neue" pitchFamily="34" charset="-122"/>
                <a:cs typeface="Helvetica Neue" pitchFamily="34" charset="-120"/>
              </a:rPr>
              <a:t>FRAMEWORK</a:t>
            </a:r>
            <a:endParaRPr lang="en-US" sz="1000" dirty="0"/>
          </a:p>
        </p:txBody>
      </p:sp>
      <p:sp>
        <p:nvSpPr>
          <p:cNvPr id="6" name="Text 4"/>
          <p:cNvSpPr/>
          <p:nvPr/>
        </p:nvSpPr>
        <p:spPr>
          <a:xfrm>
            <a:off x="3474720" y="2377440"/>
            <a:ext cx="3474720" cy="365760"/>
          </a:xfrm>
          <a:prstGeom prst="rect">
            <a:avLst/>
          </a:prstGeom>
          <a:noFill/>
          <a:ln/>
        </p:spPr>
        <p:txBody>
          <a:bodyPr wrap="square" rtlCol="0" anchor="ctr"/>
          <a:lstStyle/>
          <a:p>
            <a:pPr indent="0" marL="0">
              <a:buNone/>
            </a:pPr>
            <a:r>
              <a:rPr lang="en-US" sz="1000" spc="300" kern="0" dirty="0">
                <a:solidFill>
                  <a:srgbClr val="6E6E73"/>
                </a:solidFill>
                <a:latin typeface="Helvetica Neue" pitchFamily="34" charset="0"/>
                <a:ea typeface="Helvetica Neue" pitchFamily="34" charset="-122"/>
                <a:cs typeface="Helvetica Neue" pitchFamily="34" charset="-120"/>
              </a:rPr>
              <a:t>DOMAIN</a:t>
            </a:r>
            <a:endParaRPr lang="en-US" sz="1000" dirty="0"/>
          </a:p>
        </p:txBody>
      </p:sp>
      <p:sp>
        <p:nvSpPr>
          <p:cNvPr id="7" name="Text 5"/>
          <p:cNvSpPr/>
          <p:nvPr/>
        </p:nvSpPr>
        <p:spPr>
          <a:xfrm>
            <a:off x="6949440" y="2377440"/>
            <a:ext cx="4572000" cy="365760"/>
          </a:xfrm>
          <a:prstGeom prst="rect">
            <a:avLst/>
          </a:prstGeom>
          <a:noFill/>
          <a:ln/>
        </p:spPr>
        <p:txBody>
          <a:bodyPr wrap="square" rtlCol="0" anchor="ctr"/>
          <a:lstStyle/>
          <a:p>
            <a:pPr indent="0" marL="0">
              <a:buNone/>
            </a:pPr>
            <a:r>
              <a:rPr lang="en-US" sz="1000" spc="300" kern="0" dirty="0">
                <a:solidFill>
                  <a:srgbClr val="6E6E73"/>
                </a:solidFill>
                <a:latin typeface="Helvetica Neue" pitchFamily="34" charset="0"/>
                <a:ea typeface="Helvetica Neue" pitchFamily="34" charset="-122"/>
                <a:cs typeface="Helvetica Neue" pitchFamily="34" charset="-120"/>
              </a:rPr>
              <a:t>RELATIONSHIP TO OIA</a:t>
            </a:r>
            <a:endParaRPr lang="en-US" sz="1000" dirty="0"/>
          </a:p>
        </p:txBody>
      </p:sp>
      <p:sp>
        <p:nvSpPr>
          <p:cNvPr id="8" name="Shape 6"/>
          <p:cNvSpPr/>
          <p:nvPr/>
        </p:nvSpPr>
        <p:spPr>
          <a:xfrm>
            <a:off x="548640" y="2743200"/>
            <a:ext cx="10972800" cy="0"/>
          </a:xfrm>
          <a:prstGeom prst="line">
            <a:avLst/>
          </a:prstGeom>
          <a:noFill/>
          <a:ln w="12700">
            <a:solidFill>
              <a:srgbClr val="1C1C1E"/>
            </a:solidFill>
            <a:prstDash val="solid"/>
          </a:ln>
        </p:spPr>
      </p:sp>
      <p:sp>
        <p:nvSpPr>
          <p:cNvPr id="9" name="Text 7"/>
          <p:cNvSpPr/>
          <p:nvPr/>
        </p:nvSpPr>
        <p:spPr>
          <a:xfrm>
            <a:off x="548640" y="283464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OSI</a:t>
            </a:r>
            <a:endParaRPr lang="en-US" sz="1300" dirty="0"/>
          </a:p>
        </p:txBody>
      </p:sp>
      <p:sp>
        <p:nvSpPr>
          <p:cNvPr id="10" name="Text 8"/>
          <p:cNvSpPr/>
          <p:nvPr/>
        </p:nvSpPr>
        <p:spPr>
          <a:xfrm>
            <a:off x="3474720" y="283464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Networking</a:t>
            </a:r>
            <a:endParaRPr lang="en-US" sz="1300" dirty="0"/>
          </a:p>
        </p:txBody>
      </p:sp>
      <p:sp>
        <p:nvSpPr>
          <p:cNvPr id="11" name="Text 9"/>
          <p:cNvSpPr/>
          <p:nvPr/>
        </p:nvSpPr>
        <p:spPr>
          <a:xfrm>
            <a:off x="6949440" y="283464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Consumed at OIA Layer 2 (Sovereign Infrastructure)</a:t>
            </a:r>
            <a:endParaRPr lang="en-US" sz="1200" dirty="0"/>
          </a:p>
        </p:txBody>
      </p:sp>
      <p:sp>
        <p:nvSpPr>
          <p:cNvPr id="12" name="Shape 10"/>
          <p:cNvSpPr/>
          <p:nvPr/>
        </p:nvSpPr>
        <p:spPr>
          <a:xfrm>
            <a:off x="548640" y="3291840"/>
            <a:ext cx="10972800" cy="0"/>
          </a:xfrm>
          <a:prstGeom prst="line">
            <a:avLst/>
          </a:prstGeom>
          <a:noFill/>
          <a:ln w="6350">
            <a:solidFill>
              <a:srgbClr val="D2D2D7"/>
            </a:solidFill>
            <a:prstDash val="solid"/>
          </a:ln>
        </p:spPr>
      </p:sp>
      <p:sp>
        <p:nvSpPr>
          <p:cNvPr id="13" name="Text 11"/>
          <p:cNvSpPr/>
          <p:nvPr/>
        </p:nvSpPr>
        <p:spPr>
          <a:xfrm>
            <a:off x="548640" y="333756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NIST CSF</a:t>
            </a:r>
            <a:endParaRPr lang="en-US" sz="1300" dirty="0"/>
          </a:p>
        </p:txBody>
      </p:sp>
      <p:sp>
        <p:nvSpPr>
          <p:cNvPr id="14" name="Text 12"/>
          <p:cNvSpPr/>
          <p:nvPr/>
        </p:nvSpPr>
        <p:spPr>
          <a:xfrm>
            <a:off x="3474720" y="333756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Cybersecurity programme</a:t>
            </a:r>
            <a:endParaRPr lang="en-US" sz="1300" dirty="0"/>
          </a:p>
        </p:txBody>
      </p:sp>
      <p:sp>
        <p:nvSpPr>
          <p:cNvPr id="15" name="Text 13"/>
          <p:cNvSpPr/>
          <p:nvPr/>
        </p:nvSpPr>
        <p:spPr>
          <a:xfrm>
            <a:off x="6949440" y="333756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Applies functionally at every OIA layer</a:t>
            </a:r>
            <a:endParaRPr lang="en-US" sz="1200" dirty="0"/>
          </a:p>
        </p:txBody>
      </p:sp>
      <p:sp>
        <p:nvSpPr>
          <p:cNvPr id="16" name="Shape 14"/>
          <p:cNvSpPr/>
          <p:nvPr/>
        </p:nvSpPr>
        <p:spPr>
          <a:xfrm>
            <a:off x="548640" y="3794760"/>
            <a:ext cx="10972800" cy="0"/>
          </a:xfrm>
          <a:prstGeom prst="line">
            <a:avLst/>
          </a:prstGeom>
          <a:noFill/>
          <a:ln w="6350">
            <a:solidFill>
              <a:srgbClr val="D2D2D7"/>
            </a:solidFill>
            <a:prstDash val="solid"/>
          </a:ln>
        </p:spPr>
      </p:sp>
      <p:sp>
        <p:nvSpPr>
          <p:cNvPr id="17" name="Text 15"/>
          <p:cNvSpPr/>
          <p:nvPr/>
        </p:nvSpPr>
        <p:spPr>
          <a:xfrm>
            <a:off x="548640" y="384048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NIST AI RMF</a:t>
            </a:r>
            <a:endParaRPr lang="en-US" sz="1300" dirty="0"/>
          </a:p>
        </p:txBody>
      </p:sp>
      <p:sp>
        <p:nvSpPr>
          <p:cNvPr id="18" name="Text 16"/>
          <p:cNvSpPr/>
          <p:nvPr/>
        </p:nvSpPr>
        <p:spPr>
          <a:xfrm>
            <a:off x="3474720" y="384048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AI risk governance</a:t>
            </a:r>
            <a:endParaRPr lang="en-US" sz="1300" dirty="0"/>
          </a:p>
        </p:txBody>
      </p:sp>
      <p:sp>
        <p:nvSpPr>
          <p:cNvPr id="19" name="Text 17"/>
          <p:cNvSpPr/>
          <p:nvPr/>
        </p:nvSpPr>
        <p:spPr>
          <a:xfrm>
            <a:off x="6949440" y="384048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Strong intersection at auditability, sovereignty, provenance spans</a:t>
            </a:r>
            <a:endParaRPr lang="en-US" sz="1200" dirty="0"/>
          </a:p>
        </p:txBody>
      </p:sp>
      <p:sp>
        <p:nvSpPr>
          <p:cNvPr id="20" name="Shape 18"/>
          <p:cNvSpPr/>
          <p:nvPr/>
        </p:nvSpPr>
        <p:spPr>
          <a:xfrm>
            <a:off x="548640" y="4297680"/>
            <a:ext cx="10972800" cy="0"/>
          </a:xfrm>
          <a:prstGeom prst="line">
            <a:avLst/>
          </a:prstGeom>
          <a:noFill/>
          <a:ln w="6350">
            <a:solidFill>
              <a:srgbClr val="D2D2D7"/>
            </a:solidFill>
            <a:prstDash val="solid"/>
          </a:ln>
        </p:spPr>
      </p:sp>
      <p:sp>
        <p:nvSpPr>
          <p:cNvPr id="21" name="Text 19"/>
          <p:cNvSpPr/>
          <p:nvPr/>
        </p:nvSpPr>
        <p:spPr>
          <a:xfrm>
            <a:off x="548640" y="434340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MITRE ATT&amp;CK / ATLAS</a:t>
            </a:r>
            <a:endParaRPr lang="en-US" sz="1300" dirty="0"/>
          </a:p>
        </p:txBody>
      </p:sp>
      <p:sp>
        <p:nvSpPr>
          <p:cNvPr id="22" name="Text 20"/>
          <p:cNvSpPr/>
          <p:nvPr/>
        </p:nvSpPr>
        <p:spPr>
          <a:xfrm>
            <a:off x="3474720" y="434340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Threat taxonomies</a:t>
            </a:r>
            <a:endParaRPr lang="en-US" sz="1300" dirty="0"/>
          </a:p>
        </p:txBody>
      </p:sp>
      <p:sp>
        <p:nvSpPr>
          <p:cNvPr id="23" name="Text 21"/>
          <p:cNvSpPr/>
          <p:nvPr/>
        </p:nvSpPr>
        <p:spPr>
          <a:xfrm>
            <a:off x="6949440" y="434340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Threats locate at specific OIA layers</a:t>
            </a:r>
            <a:endParaRPr lang="en-US" sz="1200" dirty="0"/>
          </a:p>
        </p:txBody>
      </p:sp>
      <p:sp>
        <p:nvSpPr>
          <p:cNvPr id="24" name="Shape 22"/>
          <p:cNvSpPr/>
          <p:nvPr/>
        </p:nvSpPr>
        <p:spPr>
          <a:xfrm>
            <a:off x="548640" y="4800600"/>
            <a:ext cx="10972800" cy="0"/>
          </a:xfrm>
          <a:prstGeom prst="line">
            <a:avLst/>
          </a:prstGeom>
          <a:noFill/>
          <a:ln w="6350">
            <a:solidFill>
              <a:srgbClr val="D2D2D7"/>
            </a:solidFill>
            <a:prstDash val="solid"/>
          </a:ln>
        </p:spPr>
      </p:sp>
      <p:sp>
        <p:nvSpPr>
          <p:cNvPr id="25" name="Text 23"/>
          <p:cNvSpPr/>
          <p:nvPr/>
        </p:nvSpPr>
        <p:spPr>
          <a:xfrm>
            <a:off x="548640" y="484632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OWASP LLM Top 10</a:t>
            </a:r>
            <a:endParaRPr lang="en-US" sz="1300" dirty="0"/>
          </a:p>
        </p:txBody>
      </p:sp>
      <p:sp>
        <p:nvSpPr>
          <p:cNvPr id="26" name="Text 24"/>
          <p:cNvSpPr/>
          <p:nvPr/>
        </p:nvSpPr>
        <p:spPr>
          <a:xfrm>
            <a:off x="3474720" y="484632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LLM risk enumeration</a:t>
            </a:r>
            <a:endParaRPr lang="en-US" sz="1300" dirty="0"/>
          </a:p>
        </p:txBody>
      </p:sp>
      <p:sp>
        <p:nvSpPr>
          <p:cNvPr id="27" name="Text 25"/>
          <p:cNvSpPr/>
          <p:nvPr/>
        </p:nvSpPr>
        <p:spPr>
          <a:xfrm>
            <a:off x="6949440" y="484632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Risks manifest at specific layers; inform key concerns</a:t>
            </a:r>
            <a:endParaRPr lang="en-US" sz="1200" dirty="0"/>
          </a:p>
        </p:txBody>
      </p:sp>
      <p:sp>
        <p:nvSpPr>
          <p:cNvPr id="28" name="Shape 26"/>
          <p:cNvSpPr/>
          <p:nvPr/>
        </p:nvSpPr>
        <p:spPr>
          <a:xfrm>
            <a:off x="548640" y="5303520"/>
            <a:ext cx="10972800" cy="0"/>
          </a:xfrm>
          <a:prstGeom prst="line">
            <a:avLst/>
          </a:prstGeom>
          <a:noFill/>
          <a:ln w="6350">
            <a:solidFill>
              <a:srgbClr val="D2D2D7"/>
            </a:solidFill>
            <a:prstDash val="solid"/>
          </a:ln>
        </p:spPr>
      </p:sp>
      <p:sp>
        <p:nvSpPr>
          <p:cNvPr id="29" name="Text 27"/>
          <p:cNvSpPr/>
          <p:nvPr/>
        </p:nvSpPr>
        <p:spPr>
          <a:xfrm>
            <a:off x="548640" y="5349240"/>
            <a:ext cx="292608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ISO/IEC 42001</a:t>
            </a:r>
            <a:endParaRPr lang="en-US" sz="1300" dirty="0"/>
          </a:p>
        </p:txBody>
      </p:sp>
      <p:sp>
        <p:nvSpPr>
          <p:cNvPr id="30" name="Text 28"/>
          <p:cNvSpPr/>
          <p:nvPr/>
        </p:nvSpPr>
        <p:spPr>
          <a:xfrm>
            <a:off x="3474720" y="5349240"/>
            <a:ext cx="3474720" cy="411480"/>
          </a:xfrm>
          <a:prstGeom prst="rect">
            <a:avLst/>
          </a:prstGeom>
          <a:noFill/>
          <a:ln/>
        </p:spPr>
        <p:txBody>
          <a:bodyPr wrap="square" rtlCol="0" anchor="ctr"/>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AI management system</a:t>
            </a:r>
            <a:endParaRPr lang="en-US" sz="1300" dirty="0"/>
          </a:p>
        </p:txBody>
      </p:sp>
      <p:sp>
        <p:nvSpPr>
          <p:cNvPr id="31" name="Text 29"/>
          <p:cNvSpPr/>
          <p:nvPr/>
        </p:nvSpPr>
        <p:spPr>
          <a:xfrm>
            <a:off x="6949440" y="5349240"/>
            <a:ext cx="4572000" cy="411480"/>
          </a:xfrm>
          <a:prstGeom prst="rect">
            <a:avLst/>
          </a:prstGeom>
          <a:noFill/>
          <a:ln/>
        </p:spPr>
        <p:txBody>
          <a:bodyPr wrap="square" rtlCol="0" anchor="ctr"/>
          <a:lstStyle/>
          <a:p>
            <a:pPr indent="0" marL="0">
              <a:buNone/>
            </a:pPr>
            <a:r>
              <a:rPr lang="en-US" sz="1200" dirty="0">
                <a:solidFill>
                  <a:srgbClr val="1C1C1E"/>
                </a:solidFill>
                <a:latin typeface="Helvetica Neue" pitchFamily="34" charset="0"/>
                <a:ea typeface="Helvetica Neue" pitchFamily="34" charset="-122"/>
                <a:cs typeface="Helvetica Neue" pitchFamily="34" charset="-120"/>
              </a:rPr>
              <a:t>Operates at management level; OIA operates at architecture level</a:t>
            </a:r>
            <a:endParaRPr lang="en-US" sz="1200" dirty="0"/>
          </a:p>
        </p:txBody>
      </p:sp>
      <p:sp>
        <p:nvSpPr>
          <p:cNvPr id="32" name="Shape 30"/>
          <p:cNvSpPr/>
          <p:nvPr/>
        </p:nvSpPr>
        <p:spPr>
          <a:xfrm>
            <a:off x="548640" y="5806440"/>
            <a:ext cx="10972800" cy="0"/>
          </a:xfrm>
          <a:prstGeom prst="line">
            <a:avLst/>
          </a:prstGeom>
          <a:noFill/>
          <a:ln w="6350">
            <a:solidFill>
              <a:srgbClr val="D2D2D7"/>
            </a:solidFill>
            <a:prstDash val="solid"/>
          </a:ln>
        </p:spPr>
      </p:sp>
      <p:sp>
        <p:nvSpPr>
          <p:cNvPr id="33" name="Text 31"/>
          <p:cNvSpPr/>
          <p:nvPr/>
        </p:nvSpPr>
        <p:spPr>
          <a:xfrm>
            <a:off x="548640" y="5852160"/>
            <a:ext cx="2926080" cy="411480"/>
          </a:xfrm>
          <a:prstGeom prst="rect">
            <a:avLst/>
          </a:prstGeom>
          <a:noFill/>
          <a:ln/>
        </p:spPr>
        <p:txBody>
          <a:bodyPr wrap="square" rtlCol="0" anchor="ctr"/>
          <a:lstStyle/>
          <a:p>
            <a:pPr indent="0" marL="0">
              <a:buNone/>
            </a:pPr>
            <a:r>
              <a:rPr lang="en-US" sz="1300" b="1" dirty="0">
                <a:solidFill>
                  <a:srgbClr val="1D4ED8"/>
                </a:solidFill>
                <a:latin typeface="Helvetica Neue" pitchFamily="34" charset="0"/>
                <a:ea typeface="Helvetica Neue" pitchFamily="34" charset="-122"/>
                <a:cs typeface="Helvetica Neue" pitchFamily="34" charset="-120"/>
              </a:rPr>
              <a:t>OIA Model</a:t>
            </a:r>
            <a:endParaRPr lang="en-US" sz="1300" dirty="0"/>
          </a:p>
        </p:txBody>
      </p:sp>
      <p:sp>
        <p:nvSpPr>
          <p:cNvPr id="34" name="Text 32"/>
          <p:cNvSpPr/>
          <p:nvPr/>
        </p:nvSpPr>
        <p:spPr>
          <a:xfrm>
            <a:off x="3474720" y="5852160"/>
            <a:ext cx="3474720" cy="411480"/>
          </a:xfrm>
          <a:prstGeom prst="rect">
            <a:avLst/>
          </a:prstGeom>
          <a:noFill/>
          <a:ln/>
        </p:spPr>
        <p:txBody>
          <a:bodyPr wrap="square" rtlCol="0" anchor="ctr"/>
          <a:lstStyle/>
          <a:p>
            <a:pPr indent="0" marL="0">
              <a:buNone/>
            </a:pPr>
            <a:r>
              <a:rPr lang="en-US" sz="1300" dirty="0">
                <a:solidFill>
                  <a:srgbClr val="1D4ED8"/>
                </a:solidFill>
                <a:latin typeface="Helvetica Neue" pitchFamily="34" charset="0"/>
                <a:ea typeface="Helvetica Neue" pitchFamily="34" charset="-122"/>
                <a:cs typeface="Helvetica Neue" pitchFamily="34" charset="-120"/>
              </a:rPr>
              <a:t>Intelligence architecture</a:t>
            </a:r>
            <a:endParaRPr lang="en-US" sz="1300" dirty="0"/>
          </a:p>
        </p:txBody>
      </p:sp>
      <p:sp>
        <p:nvSpPr>
          <p:cNvPr id="35" name="Text 33"/>
          <p:cNvSpPr/>
          <p:nvPr/>
        </p:nvSpPr>
        <p:spPr>
          <a:xfrm>
            <a:off x="6949440" y="5852160"/>
            <a:ext cx="4572000" cy="411480"/>
          </a:xfrm>
          <a:prstGeom prst="rect">
            <a:avLst/>
          </a:prstGeom>
          <a:noFill/>
          <a:ln/>
        </p:spPr>
        <p:txBody>
          <a:bodyPr wrap="square" rtlCol="0" anchor="ctr"/>
          <a:lstStyle/>
          <a:p>
            <a:pPr indent="0" marL="0">
              <a:buNone/>
            </a:pPr>
            <a:r>
              <a:rPr lang="en-US" sz="1200" dirty="0">
                <a:solidFill>
                  <a:srgbClr val="1D4ED8"/>
                </a:solidFill>
                <a:latin typeface="Helvetica Neue" pitchFamily="34" charset="0"/>
                <a:ea typeface="Helvetica Neue" pitchFamily="34" charset="-122"/>
                <a:cs typeface="Helvetica Neue" pitchFamily="34" charset="-120"/>
              </a:rPr>
              <a:t>The structural vocabulary the others presume but do not provide</a:t>
            </a:r>
            <a:endParaRPr lang="en-US" sz="1200" dirty="0"/>
          </a:p>
        </p:txBody>
      </p:sp>
      <p:sp>
        <p:nvSpPr>
          <p:cNvPr id="36" name="Shape 34"/>
          <p:cNvSpPr/>
          <p:nvPr/>
        </p:nvSpPr>
        <p:spPr>
          <a:xfrm>
            <a:off x="548640" y="6355080"/>
            <a:ext cx="10972800" cy="0"/>
          </a:xfrm>
          <a:prstGeom prst="line">
            <a:avLst/>
          </a:prstGeom>
          <a:noFill/>
          <a:ln w="12700">
            <a:solidFill>
              <a:srgbClr val="1C1C1E"/>
            </a:solidFill>
            <a:prstDash val="solid"/>
          </a:ln>
        </p:spPr>
      </p:sp>
      <p:sp>
        <p:nvSpPr>
          <p:cNvPr id="37" name="Text 3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16 / 21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DECISION 02 — WORTH RE-OPENING</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Should Layer 8 really be called Continuity Fabric?</a:t>
            </a:r>
            <a:endParaRPr lang="en-US" sz="3200" dirty="0"/>
          </a:p>
        </p:txBody>
      </p:sp>
      <p:sp>
        <p:nvSpPr>
          <p:cNvPr id="4" name="Text 2"/>
          <p:cNvSpPr/>
          <p:nvPr/>
        </p:nvSpPr>
        <p:spPr>
          <a:xfrm>
            <a:off x="548640" y="21945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Alternatives considered</a:t>
            </a:r>
            <a:endParaRPr lang="en-US" sz="1100" dirty="0"/>
          </a:p>
        </p:txBody>
      </p:sp>
      <p:sp>
        <p:nvSpPr>
          <p:cNvPr id="5" name="Shape 3"/>
          <p:cNvSpPr/>
          <p:nvPr/>
        </p:nvSpPr>
        <p:spPr>
          <a:xfrm>
            <a:off x="548640" y="2514600"/>
            <a:ext cx="2560320" cy="640080"/>
          </a:xfrm>
          <a:prstGeom prst="rect">
            <a:avLst/>
          </a:prstGeom>
          <a:solidFill>
            <a:srgbClr val="FFFFFF"/>
          </a:solidFill>
          <a:ln w="6350">
            <a:solidFill>
              <a:srgbClr val="D1D5DB"/>
            </a:solidFill>
            <a:prstDash val="solid"/>
          </a:ln>
        </p:spPr>
      </p:sp>
      <p:sp>
        <p:nvSpPr>
          <p:cNvPr id="6" name="Text 4"/>
          <p:cNvSpPr/>
          <p:nvPr/>
        </p:nvSpPr>
        <p:spPr>
          <a:xfrm>
            <a:off x="64008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Cognitive Substrate</a:t>
            </a:r>
            <a:endParaRPr lang="en-US" sz="1300" dirty="0"/>
          </a:p>
        </p:txBody>
      </p:sp>
      <p:sp>
        <p:nvSpPr>
          <p:cNvPr id="7" name="Shape 5"/>
          <p:cNvSpPr/>
          <p:nvPr/>
        </p:nvSpPr>
        <p:spPr>
          <a:xfrm>
            <a:off x="3246120" y="2514600"/>
            <a:ext cx="2560320" cy="640080"/>
          </a:xfrm>
          <a:prstGeom prst="rect">
            <a:avLst/>
          </a:prstGeom>
          <a:solidFill>
            <a:srgbClr val="FFFFFF"/>
          </a:solidFill>
          <a:ln w="6350">
            <a:solidFill>
              <a:srgbClr val="D1D5DB"/>
            </a:solidFill>
            <a:prstDash val="solid"/>
          </a:ln>
        </p:spPr>
      </p:sp>
      <p:sp>
        <p:nvSpPr>
          <p:cNvPr id="8" name="Text 6"/>
          <p:cNvSpPr/>
          <p:nvPr/>
        </p:nvSpPr>
        <p:spPr>
          <a:xfrm>
            <a:off x="333756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Cognitive Core</a:t>
            </a:r>
            <a:endParaRPr lang="en-US" sz="1300" dirty="0"/>
          </a:p>
        </p:txBody>
      </p:sp>
      <p:sp>
        <p:nvSpPr>
          <p:cNvPr id="9" name="Shape 7"/>
          <p:cNvSpPr/>
          <p:nvPr/>
        </p:nvSpPr>
        <p:spPr>
          <a:xfrm>
            <a:off x="5943600" y="2514600"/>
            <a:ext cx="2560320" cy="640080"/>
          </a:xfrm>
          <a:prstGeom prst="rect">
            <a:avLst/>
          </a:prstGeom>
          <a:solidFill>
            <a:srgbClr val="FFFFFF"/>
          </a:solidFill>
          <a:ln w="6350">
            <a:solidFill>
              <a:srgbClr val="D1D5DB"/>
            </a:solidFill>
            <a:prstDash val="solid"/>
          </a:ln>
        </p:spPr>
      </p:sp>
      <p:sp>
        <p:nvSpPr>
          <p:cNvPr id="10" name="Text 8"/>
          <p:cNvSpPr/>
          <p:nvPr/>
        </p:nvSpPr>
        <p:spPr>
          <a:xfrm>
            <a:off x="603504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Cognitive Container</a:t>
            </a:r>
            <a:endParaRPr lang="en-US" sz="1300" dirty="0"/>
          </a:p>
        </p:txBody>
      </p:sp>
      <p:sp>
        <p:nvSpPr>
          <p:cNvPr id="11" name="Shape 9"/>
          <p:cNvSpPr/>
          <p:nvPr/>
        </p:nvSpPr>
        <p:spPr>
          <a:xfrm>
            <a:off x="8641080" y="2514600"/>
            <a:ext cx="2560320" cy="640080"/>
          </a:xfrm>
          <a:prstGeom prst="rect">
            <a:avLst/>
          </a:prstGeom>
          <a:solidFill>
            <a:srgbClr val="DBEAFE"/>
          </a:solidFill>
          <a:ln w="19050">
            <a:solidFill>
              <a:srgbClr val="1D4ED8"/>
            </a:solidFill>
            <a:prstDash val="solid"/>
          </a:ln>
        </p:spPr>
      </p:sp>
      <p:sp>
        <p:nvSpPr>
          <p:cNvPr id="12" name="Text 10"/>
          <p:cNvSpPr/>
          <p:nvPr/>
        </p:nvSpPr>
        <p:spPr>
          <a:xfrm>
            <a:off x="8732520" y="2514600"/>
            <a:ext cx="2377440" cy="640080"/>
          </a:xfrm>
          <a:prstGeom prst="rect">
            <a:avLst/>
          </a:prstGeom>
          <a:noFill/>
          <a:ln/>
        </p:spPr>
        <p:txBody>
          <a:bodyPr wrap="square" rtlCol="0" anchor="ctr"/>
          <a:lstStyle/>
          <a:p>
            <a:pPr algn="ctr" indent="0" marL="0">
              <a:buNone/>
            </a:pPr>
            <a:r>
              <a:rPr lang="en-US" sz="1300" b="1" dirty="0">
                <a:solidFill>
                  <a:srgbClr val="1D4ED8"/>
                </a:solidFill>
                <a:latin typeface="Helvetica Neue" pitchFamily="34" charset="0"/>
                <a:ea typeface="Helvetica Neue" pitchFamily="34" charset="-122"/>
                <a:cs typeface="Helvetica Neue" pitchFamily="34" charset="-120"/>
              </a:rPr>
              <a:t>Continuity Fabric</a:t>
            </a:r>
            <a:endParaRPr lang="en-US" sz="1300" dirty="0"/>
          </a:p>
        </p:txBody>
      </p:sp>
      <p:sp>
        <p:nvSpPr>
          <p:cNvPr id="13" name="Text 11"/>
          <p:cNvSpPr/>
          <p:nvPr/>
        </p:nvSpPr>
        <p:spPr>
          <a:xfrm>
            <a:off x="548640" y="35661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Rationale</a:t>
            </a:r>
            <a:endParaRPr lang="en-US" sz="1100" dirty="0"/>
          </a:p>
        </p:txBody>
      </p:sp>
      <p:sp>
        <p:nvSpPr>
          <p:cNvPr id="14" name="Text 12"/>
          <p:cNvSpPr/>
          <p:nvPr/>
        </p:nvSpPr>
        <p:spPr>
          <a:xfrm>
            <a:off x="548640" y="3886200"/>
            <a:ext cx="10972800" cy="1463040"/>
          </a:xfrm>
          <a:prstGeom prst="rect">
            <a:avLst/>
          </a:prstGeom>
          <a:noFill/>
          <a:ln/>
        </p:spPr>
        <p:txBody>
          <a:bodyPr wrap="square" rtlCol="0" anchor="t"/>
          <a:lstStyle/>
          <a:p>
            <a:pPr indent="0" marL="0">
              <a:buNone/>
            </a:pPr>
            <a:r>
              <a:rPr lang="en-US" sz="1500" dirty="0">
                <a:solidFill>
                  <a:srgbClr val="1C1C1E"/>
                </a:solidFill>
                <a:latin typeface="Helvetica Neue" pitchFamily="34" charset="0"/>
                <a:ea typeface="Helvetica Neue" pitchFamily="34" charset="-122"/>
                <a:cs typeface="Helvetica Neue" pitchFamily="34" charset="-120"/>
              </a:rPr>
              <a:t>Substrate forced false symmetry with Layer 3. Core was self-aggrandising. Container was brand-captured (RuVector RVF). Continuity Fabric names what the layer does — carries continuity through change.</a:t>
            </a:r>
            <a:endParaRPr lang="en-US" sz="1500" dirty="0"/>
          </a:p>
        </p:txBody>
      </p:sp>
      <p:sp>
        <p:nvSpPr>
          <p:cNvPr id="15" name="Text 13"/>
          <p:cNvSpPr/>
          <p:nvPr/>
        </p:nvSpPr>
        <p:spPr>
          <a:xfrm>
            <a:off x="548640" y="557784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Revisit trigger</a:t>
            </a:r>
            <a:endParaRPr lang="en-US" sz="1100" dirty="0"/>
          </a:p>
        </p:txBody>
      </p:sp>
      <p:sp>
        <p:nvSpPr>
          <p:cNvPr id="16" name="Text 14"/>
          <p:cNvSpPr/>
          <p:nvPr/>
        </p:nvSpPr>
        <p:spPr>
          <a:xfrm>
            <a:off x="548640" y="5852160"/>
            <a:ext cx="10972800" cy="548640"/>
          </a:xfrm>
          <a:prstGeom prst="rect">
            <a:avLst/>
          </a:prstGeom>
          <a:noFill/>
          <a:ln/>
        </p:spPr>
        <p:txBody>
          <a:bodyPr wrap="square" rtlCol="0" anchor="t"/>
          <a:lstStyle/>
          <a:p>
            <a:pPr indent="0" marL="0">
              <a:buNone/>
            </a:pPr>
            <a:r>
              <a:rPr lang="en-US" sz="1300" i="1" dirty="0">
                <a:solidFill>
                  <a:srgbClr val="1C1C1E"/>
                </a:solidFill>
                <a:latin typeface="Helvetica Neue" pitchFamily="34" charset="0"/>
                <a:ea typeface="Helvetica Neue" pitchFamily="34" charset="-122"/>
                <a:cs typeface="Helvetica Neue" pitchFamily="34" charset="-120"/>
              </a:rPr>
              <a:t>A better name that preserves both the active-layer quality and the continuity-through-change function.</a:t>
            </a:r>
            <a:endParaRPr lang="en-US" sz="1300" dirty="0"/>
          </a:p>
        </p:txBody>
      </p:sp>
      <p:sp>
        <p:nvSpPr>
          <p:cNvPr id="17" name="Text 15"/>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17 / 21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DECISION 04 — WORTH RE-OPENING</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Are nine the right number of layers?</a:t>
            </a:r>
            <a:endParaRPr lang="en-US" sz="3200" dirty="0"/>
          </a:p>
        </p:txBody>
      </p:sp>
      <p:sp>
        <p:nvSpPr>
          <p:cNvPr id="4" name="Text 2"/>
          <p:cNvSpPr/>
          <p:nvPr/>
        </p:nvSpPr>
        <p:spPr>
          <a:xfrm>
            <a:off x="548640" y="21945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Alternatives considered</a:t>
            </a:r>
            <a:endParaRPr lang="en-US" sz="1100" dirty="0"/>
          </a:p>
        </p:txBody>
      </p:sp>
      <p:sp>
        <p:nvSpPr>
          <p:cNvPr id="5" name="Shape 3"/>
          <p:cNvSpPr/>
          <p:nvPr/>
        </p:nvSpPr>
        <p:spPr>
          <a:xfrm>
            <a:off x="548640" y="2514600"/>
            <a:ext cx="2560320" cy="640080"/>
          </a:xfrm>
          <a:prstGeom prst="rect">
            <a:avLst/>
          </a:prstGeom>
          <a:solidFill>
            <a:srgbClr val="FFFFFF"/>
          </a:solidFill>
          <a:ln w="6350">
            <a:solidFill>
              <a:srgbClr val="D1D5DB"/>
            </a:solidFill>
            <a:prstDash val="solid"/>
          </a:ln>
        </p:spPr>
      </p:sp>
      <p:sp>
        <p:nvSpPr>
          <p:cNvPr id="6" name="Text 4"/>
          <p:cNvSpPr/>
          <p:nvPr/>
        </p:nvSpPr>
        <p:spPr>
          <a:xfrm>
            <a:off x="64008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Seven (OSI-parallel)</a:t>
            </a:r>
            <a:endParaRPr lang="en-US" sz="1300" dirty="0"/>
          </a:p>
        </p:txBody>
      </p:sp>
      <p:sp>
        <p:nvSpPr>
          <p:cNvPr id="7" name="Shape 5"/>
          <p:cNvSpPr/>
          <p:nvPr/>
        </p:nvSpPr>
        <p:spPr>
          <a:xfrm>
            <a:off x="3246120" y="2514600"/>
            <a:ext cx="2560320" cy="640080"/>
          </a:xfrm>
          <a:prstGeom prst="rect">
            <a:avLst/>
          </a:prstGeom>
          <a:solidFill>
            <a:srgbClr val="FFFFFF"/>
          </a:solidFill>
          <a:ln w="6350">
            <a:solidFill>
              <a:srgbClr val="D1D5DB"/>
            </a:solidFill>
            <a:prstDash val="solid"/>
          </a:ln>
        </p:spPr>
      </p:sp>
      <p:sp>
        <p:nvSpPr>
          <p:cNvPr id="8" name="Text 6"/>
          <p:cNvSpPr/>
          <p:nvPr/>
        </p:nvSpPr>
        <p:spPr>
          <a:xfrm>
            <a:off x="333756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Twelve (finer distinctions)</a:t>
            </a:r>
            <a:endParaRPr lang="en-US" sz="1300" dirty="0"/>
          </a:p>
        </p:txBody>
      </p:sp>
      <p:sp>
        <p:nvSpPr>
          <p:cNvPr id="9" name="Shape 7"/>
          <p:cNvSpPr/>
          <p:nvPr/>
        </p:nvSpPr>
        <p:spPr>
          <a:xfrm>
            <a:off x="5943600" y="2514600"/>
            <a:ext cx="2560320" cy="640080"/>
          </a:xfrm>
          <a:prstGeom prst="rect">
            <a:avLst/>
          </a:prstGeom>
          <a:solidFill>
            <a:srgbClr val="DBEAFE"/>
          </a:solidFill>
          <a:ln w="19050">
            <a:solidFill>
              <a:srgbClr val="1D4ED8"/>
            </a:solidFill>
            <a:prstDash val="solid"/>
          </a:ln>
        </p:spPr>
      </p:sp>
      <p:sp>
        <p:nvSpPr>
          <p:cNvPr id="10" name="Text 8"/>
          <p:cNvSpPr/>
          <p:nvPr/>
        </p:nvSpPr>
        <p:spPr>
          <a:xfrm>
            <a:off x="6035040" y="2514600"/>
            <a:ext cx="2377440" cy="640080"/>
          </a:xfrm>
          <a:prstGeom prst="rect">
            <a:avLst/>
          </a:prstGeom>
          <a:noFill/>
          <a:ln/>
        </p:spPr>
        <p:txBody>
          <a:bodyPr wrap="square" rtlCol="0" anchor="ctr"/>
          <a:lstStyle/>
          <a:p>
            <a:pPr algn="ctr" indent="0" marL="0">
              <a:buNone/>
            </a:pPr>
            <a:r>
              <a:rPr lang="en-US" sz="1300" b="1" dirty="0">
                <a:solidFill>
                  <a:srgbClr val="1D4ED8"/>
                </a:solidFill>
                <a:latin typeface="Helvetica Neue" pitchFamily="34" charset="0"/>
                <a:ea typeface="Helvetica Neue" pitchFamily="34" charset="-122"/>
                <a:cs typeface="Helvetica Neue" pitchFamily="34" charset="-120"/>
              </a:rPr>
              <a:t>Nine (chosen)</a:t>
            </a:r>
            <a:endParaRPr lang="en-US" sz="1300" dirty="0"/>
          </a:p>
        </p:txBody>
      </p:sp>
      <p:sp>
        <p:nvSpPr>
          <p:cNvPr id="11" name="Text 9"/>
          <p:cNvSpPr/>
          <p:nvPr/>
        </p:nvSpPr>
        <p:spPr>
          <a:xfrm>
            <a:off x="548640" y="35661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Rationale</a:t>
            </a:r>
            <a:endParaRPr lang="en-US" sz="1100" dirty="0"/>
          </a:p>
        </p:txBody>
      </p:sp>
      <p:sp>
        <p:nvSpPr>
          <p:cNvPr id="12" name="Text 10"/>
          <p:cNvSpPr/>
          <p:nvPr/>
        </p:nvSpPr>
        <p:spPr>
          <a:xfrm>
            <a:off x="548640" y="3886200"/>
            <a:ext cx="10972800" cy="1463040"/>
          </a:xfrm>
          <a:prstGeom prst="rect">
            <a:avLst/>
          </a:prstGeom>
          <a:noFill/>
          <a:ln/>
        </p:spPr>
        <p:txBody>
          <a:bodyPr wrap="square" rtlCol="0" anchor="t"/>
          <a:lstStyle/>
          <a:p>
            <a:pPr indent="0" marL="0">
              <a:buNone/>
            </a:pPr>
            <a:r>
              <a:rPr lang="en-US" sz="1500" dirty="0">
                <a:solidFill>
                  <a:srgbClr val="1C1C1E"/>
                </a:solidFill>
                <a:latin typeface="Helvetica Neue" pitchFamily="34" charset="0"/>
                <a:ea typeface="Helvetica Neue" pitchFamily="34" charset="-122"/>
                <a:cs typeface="Helvetica Neue" pitchFamily="34" charset="-120"/>
              </a:rPr>
              <a:t>Seven would force either the continuity fabric or the training layer to be folded into an adjacent layer, which produces architectural displacement. Twelve would be less memorable and teachable. Nine is the smallest number that gives each distinct concern a home without forced merging.</a:t>
            </a:r>
            <a:endParaRPr lang="en-US" sz="1500" dirty="0"/>
          </a:p>
        </p:txBody>
      </p:sp>
      <p:sp>
        <p:nvSpPr>
          <p:cNvPr id="13" name="Text 11"/>
          <p:cNvSpPr/>
          <p:nvPr/>
        </p:nvSpPr>
        <p:spPr>
          <a:xfrm>
            <a:off x="548640" y="557784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Revisit trigger</a:t>
            </a:r>
            <a:endParaRPr lang="en-US" sz="1100" dirty="0"/>
          </a:p>
        </p:txBody>
      </p:sp>
      <p:sp>
        <p:nvSpPr>
          <p:cNvPr id="14" name="Text 12"/>
          <p:cNvSpPr/>
          <p:nvPr/>
        </p:nvSpPr>
        <p:spPr>
          <a:xfrm>
            <a:off x="548640" y="5852160"/>
            <a:ext cx="10972800" cy="548640"/>
          </a:xfrm>
          <a:prstGeom prst="rect">
            <a:avLst/>
          </a:prstGeom>
          <a:noFill/>
          <a:ln/>
        </p:spPr>
        <p:txBody>
          <a:bodyPr wrap="square" rtlCol="0" anchor="t"/>
          <a:lstStyle/>
          <a:p>
            <a:pPr indent="0" marL="0">
              <a:buNone/>
            </a:pPr>
            <a:r>
              <a:rPr lang="en-US" sz="1300" i="1" dirty="0">
                <a:solidFill>
                  <a:srgbClr val="1C1C1E"/>
                </a:solidFill>
                <a:latin typeface="Helvetica Neue" pitchFamily="34" charset="0"/>
                <a:ea typeface="Helvetica Neue" pitchFamily="34" charset="-122"/>
                <a:cs typeface="Helvetica Neue" pitchFamily="34" charset="-120"/>
              </a:rPr>
              <a:t>Evidence that specific layers should be merged or split, or that a concern currently distributed across layers warrants its own position.</a:t>
            </a:r>
            <a:endParaRPr lang="en-US" sz="1300" dirty="0"/>
          </a:p>
        </p:txBody>
      </p:sp>
      <p:sp>
        <p:nvSpPr>
          <p:cNvPr id="15" name="Text 13"/>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18 / 21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DECISION 09 — WORTH RE-OPENING</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Is the absence of Cognitum, Snapper, and ACIUM from the body correct?</a:t>
            </a:r>
            <a:endParaRPr lang="en-US" sz="3200" dirty="0"/>
          </a:p>
        </p:txBody>
      </p:sp>
      <p:sp>
        <p:nvSpPr>
          <p:cNvPr id="4" name="Text 2"/>
          <p:cNvSpPr/>
          <p:nvPr/>
        </p:nvSpPr>
        <p:spPr>
          <a:xfrm>
            <a:off x="548640" y="21945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Alternatives considered</a:t>
            </a:r>
            <a:endParaRPr lang="en-US" sz="1100" dirty="0"/>
          </a:p>
        </p:txBody>
      </p:sp>
      <p:sp>
        <p:nvSpPr>
          <p:cNvPr id="5" name="Shape 3"/>
          <p:cNvSpPr/>
          <p:nvPr/>
        </p:nvSpPr>
        <p:spPr>
          <a:xfrm>
            <a:off x="548640" y="2514600"/>
            <a:ext cx="2560320" cy="640080"/>
          </a:xfrm>
          <a:prstGeom prst="rect">
            <a:avLst/>
          </a:prstGeom>
          <a:solidFill>
            <a:srgbClr val="FFFFFF"/>
          </a:solidFill>
          <a:ln w="6350">
            <a:solidFill>
              <a:srgbClr val="D1D5DB"/>
            </a:solidFill>
            <a:prstDash val="solid"/>
          </a:ln>
        </p:spPr>
      </p:sp>
      <p:sp>
        <p:nvSpPr>
          <p:cNvPr id="6" name="Text 4"/>
          <p:cNvSpPr/>
          <p:nvPr/>
        </p:nvSpPr>
        <p:spPr>
          <a:xfrm>
            <a:off x="640080" y="2514600"/>
            <a:ext cx="2377440" cy="640080"/>
          </a:xfrm>
          <a:prstGeom prst="rect">
            <a:avLst/>
          </a:prstGeom>
          <a:noFill/>
          <a:ln/>
        </p:spPr>
        <p:txBody>
          <a:bodyPr wrap="square" rtlCol="0" anchor="ctr"/>
          <a:lstStyle/>
          <a:p>
            <a:pPr algn="ctr" indent="0" marL="0">
              <a:buNone/>
            </a:pPr>
            <a:r>
              <a:rPr lang="en-US" sz="1300" dirty="0">
                <a:solidFill>
                  <a:srgbClr val="1C1C1E"/>
                </a:solidFill>
                <a:latin typeface="Helvetica Neue" pitchFamily="34" charset="0"/>
                <a:ea typeface="Helvetica Neue" pitchFamily="34" charset="-122"/>
                <a:cs typeface="Helvetica Neue" pitchFamily="34" charset="-120"/>
              </a:rPr>
              <a:t>Name them at relevant layers</a:t>
            </a:r>
            <a:endParaRPr lang="en-US" sz="1300" dirty="0"/>
          </a:p>
        </p:txBody>
      </p:sp>
      <p:sp>
        <p:nvSpPr>
          <p:cNvPr id="7" name="Shape 5"/>
          <p:cNvSpPr/>
          <p:nvPr/>
        </p:nvSpPr>
        <p:spPr>
          <a:xfrm>
            <a:off x="3246120" y="2514600"/>
            <a:ext cx="2560320" cy="640080"/>
          </a:xfrm>
          <a:prstGeom prst="rect">
            <a:avLst/>
          </a:prstGeom>
          <a:solidFill>
            <a:srgbClr val="DBEAFE"/>
          </a:solidFill>
          <a:ln w="19050">
            <a:solidFill>
              <a:srgbClr val="1D4ED8"/>
            </a:solidFill>
            <a:prstDash val="solid"/>
          </a:ln>
        </p:spPr>
      </p:sp>
      <p:sp>
        <p:nvSpPr>
          <p:cNvPr id="8" name="Text 6"/>
          <p:cNvSpPr/>
          <p:nvPr/>
        </p:nvSpPr>
        <p:spPr>
          <a:xfrm>
            <a:off x="3337560" y="2514600"/>
            <a:ext cx="2377440" cy="640080"/>
          </a:xfrm>
          <a:prstGeom prst="rect">
            <a:avLst/>
          </a:prstGeom>
          <a:noFill/>
          <a:ln/>
        </p:spPr>
        <p:txBody>
          <a:bodyPr wrap="square" rtlCol="0" anchor="ctr"/>
          <a:lstStyle/>
          <a:p>
            <a:pPr algn="ctr" indent="0" marL="0">
              <a:buNone/>
            </a:pPr>
            <a:r>
              <a:rPr lang="en-US" sz="1300" b="1" dirty="0">
                <a:solidFill>
                  <a:srgbClr val="1D4ED8"/>
                </a:solidFill>
                <a:latin typeface="Helvetica Neue" pitchFamily="34" charset="0"/>
                <a:ea typeface="Helvetica Neue" pitchFamily="34" charset="-122"/>
                <a:cs typeface="Helvetica Neue" pitchFamily="34" charset="-120"/>
              </a:rPr>
              <a:t>Keep them out entirely (chosen)</a:t>
            </a:r>
            <a:endParaRPr lang="en-US" sz="1300" dirty="0"/>
          </a:p>
        </p:txBody>
      </p:sp>
      <p:sp>
        <p:nvSpPr>
          <p:cNvPr id="9" name="Text 7"/>
          <p:cNvSpPr/>
          <p:nvPr/>
        </p:nvSpPr>
        <p:spPr>
          <a:xfrm>
            <a:off x="548640" y="356616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Rationale</a:t>
            </a:r>
            <a:endParaRPr lang="en-US" sz="1100" dirty="0"/>
          </a:p>
        </p:txBody>
      </p:sp>
      <p:sp>
        <p:nvSpPr>
          <p:cNvPr id="10" name="Text 8"/>
          <p:cNvSpPr/>
          <p:nvPr/>
        </p:nvSpPr>
        <p:spPr>
          <a:xfrm>
            <a:off x="548640" y="3886200"/>
            <a:ext cx="10972800" cy="1463040"/>
          </a:xfrm>
          <a:prstGeom prst="rect">
            <a:avLst/>
          </a:prstGeom>
          <a:noFill/>
          <a:ln/>
        </p:spPr>
        <p:txBody>
          <a:bodyPr wrap="square" rtlCol="0" anchor="t"/>
          <a:lstStyle/>
          <a:p>
            <a:pPr indent="0" marL="0">
              <a:buNone/>
            </a:pPr>
            <a:r>
              <a:rPr lang="en-US" sz="1500" dirty="0">
                <a:solidFill>
                  <a:srgbClr val="1C1C1E"/>
                </a:solidFill>
                <a:latin typeface="Helvetica Neue" pitchFamily="34" charset="0"/>
                <a:ea typeface="Helvetica Neue" pitchFamily="34" charset="-122"/>
                <a:cs typeface="Helvetica Neue" pitchFamily="34" charset="-120"/>
              </a:rPr>
              <a:t>A reference architecture published by the Agentics Foundation loses structural credibility if its body reads as a vehicle for the founder's commercial ventures. These products will appear in adoption case studies, implementation guides, or vendor-specific architectures that cite OIA.</a:t>
            </a:r>
            <a:endParaRPr lang="en-US" sz="1500" dirty="0"/>
          </a:p>
        </p:txBody>
      </p:sp>
      <p:sp>
        <p:nvSpPr>
          <p:cNvPr id="11" name="Text 9"/>
          <p:cNvSpPr/>
          <p:nvPr/>
        </p:nvSpPr>
        <p:spPr>
          <a:xfrm>
            <a:off x="548640" y="5577840"/>
            <a:ext cx="10972800" cy="274320"/>
          </a:xfrm>
          <a:prstGeom prst="rect">
            <a:avLst/>
          </a:prstGeom>
          <a:noFill/>
          <a:ln/>
        </p:spPr>
        <p:txBody>
          <a:bodyPr wrap="square" rtlCol="0" anchor="ctr"/>
          <a:lstStyle/>
          <a:p>
            <a:pPr indent="0" marL="0">
              <a:buNone/>
            </a:pPr>
            <a:r>
              <a:rPr lang="en-US" sz="1100" spc="300" kern="0" dirty="0">
                <a:solidFill>
                  <a:srgbClr val="6E6E73"/>
                </a:solidFill>
                <a:latin typeface="Helvetica Neue" pitchFamily="34" charset="0"/>
                <a:ea typeface="Helvetica Neue" pitchFamily="34" charset="-122"/>
                <a:cs typeface="Helvetica Neue" pitchFamily="34" charset="-120"/>
              </a:rPr>
              <a:t>Revisit trigger</a:t>
            </a:r>
            <a:endParaRPr lang="en-US" sz="1100" dirty="0"/>
          </a:p>
        </p:txBody>
      </p:sp>
      <p:sp>
        <p:nvSpPr>
          <p:cNvPr id="12" name="Text 10"/>
          <p:cNvSpPr/>
          <p:nvPr/>
        </p:nvSpPr>
        <p:spPr>
          <a:xfrm>
            <a:off x="548640" y="5852160"/>
            <a:ext cx="10972800" cy="548640"/>
          </a:xfrm>
          <a:prstGeom prst="rect">
            <a:avLst/>
          </a:prstGeom>
          <a:noFill/>
          <a:ln/>
        </p:spPr>
        <p:txBody>
          <a:bodyPr wrap="square" rtlCol="0" anchor="t"/>
          <a:lstStyle/>
          <a:p>
            <a:pPr indent="0" marL="0">
              <a:buNone/>
            </a:pPr>
            <a:r>
              <a:rPr lang="en-US" sz="1300" i="1" dirty="0">
                <a:solidFill>
                  <a:srgbClr val="1C1C1E"/>
                </a:solidFill>
                <a:latin typeface="Helvetica Neue" pitchFamily="34" charset="0"/>
                <a:ea typeface="Helvetica Neue" pitchFamily="34" charset="-122"/>
                <a:cs typeface="Helvetica Neue" pitchFamily="34" charset="-120"/>
              </a:rPr>
              <a:t>Evidence that the omissions materially weaken specific layer treatments. Note that naming them would require re-opening the institutional-voice decision too.</a:t>
            </a:r>
            <a:endParaRPr lang="en-US" sz="1300" dirty="0"/>
          </a:p>
        </p:txBody>
      </p:sp>
      <p:sp>
        <p:nvSpPr>
          <p:cNvPr id="13" name="Text 11"/>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19 / 21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OPEN QUESTIONS</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Named Uncertainties Across the Stack</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Architectural issues on which consensus has not yet emerged. Not barriers to adoption — they signal where future versions will need to revise.</a:t>
            </a:r>
            <a:endParaRPr lang="en-US" sz="1600" dirty="0"/>
          </a:p>
        </p:txBody>
      </p:sp>
      <p:sp>
        <p:nvSpPr>
          <p:cNvPr id="5" name="Shape 3"/>
          <p:cNvSpPr/>
          <p:nvPr/>
        </p:nvSpPr>
        <p:spPr>
          <a:xfrm>
            <a:off x="548640" y="2468880"/>
            <a:ext cx="640080" cy="320040"/>
          </a:xfrm>
          <a:prstGeom prst="rect">
            <a:avLst/>
          </a:prstGeom>
          <a:solidFill>
            <a:srgbClr val="DBEAFE"/>
          </a:solidFill>
          <a:ln w="6350">
            <a:solidFill>
              <a:srgbClr val="3B82F6"/>
            </a:solidFill>
            <a:prstDash val="solid"/>
          </a:ln>
        </p:spPr>
      </p:sp>
      <p:sp>
        <p:nvSpPr>
          <p:cNvPr id="6" name="Text 4"/>
          <p:cNvSpPr/>
          <p:nvPr/>
        </p:nvSpPr>
        <p:spPr>
          <a:xfrm>
            <a:off x="548640" y="2468880"/>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L1</a:t>
            </a:r>
            <a:endParaRPr lang="en-US" sz="1100" dirty="0"/>
          </a:p>
        </p:txBody>
      </p:sp>
      <p:sp>
        <p:nvSpPr>
          <p:cNvPr id="7" name="Text 5"/>
          <p:cNvSpPr/>
          <p:nvPr/>
        </p:nvSpPr>
        <p:spPr>
          <a:xfrm>
            <a:off x="1371600" y="2468880"/>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The successor to CUDA dominance — persist, displace, or fragment?</a:t>
            </a:r>
            <a:endParaRPr lang="en-US" sz="1400" dirty="0"/>
          </a:p>
        </p:txBody>
      </p:sp>
      <p:sp>
        <p:nvSpPr>
          <p:cNvPr id="8" name="Shape 6"/>
          <p:cNvSpPr/>
          <p:nvPr/>
        </p:nvSpPr>
        <p:spPr>
          <a:xfrm>
            <a:off x="548640" y="2907792"/>
            <a:ext cx="640080" cy="320040"/>
          </a:xfrm>
          <a:prstGeom prst="rect">
            <a:avLst/>
          </a:prstGeom>
          <a:solidFill>
            <a:srgbClr val="DBEAFE"/>
          </a:solidFill>
          <a:ln w="6350">
            <a:solidFill>
              <a:srgbClr val="3B82F6"/>
            </a:solidFill>
            <a:prstDash val="solid"/>
          </a:ln>
        </p:spPr>
      </p:sp>
      <p:sp>
        <p:nvSpPr>
          <p:cNvPr id="9" name="Text 7"/>
          <p:cNvSpPr/>
          <p:nvPr/>
        </p:nvSpPr>
        <p:spPr>
          <a:xfrm>
            <a:off x="548640" y="2907792"/>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L2</a:t>
            </a:r>
            <a:endParaRPr lang="en-US" sz="1100" dirty="0"/>
          </a:p>
        </p:txBody>
      </p:sp>
      <p:sp>
        <p:nvSpPr>
          <p:cNvPr id="10" name="Text 8"/>
          <p:cNvSpPr/>
          <p:nvPr/>
        </p:nvSpPr>
        <p:spPr>
          <a:xfrm>
            <a:off x="1371600" y="2907792"/>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Carbon accounting as a formal sovereignty requirement.</a:t>
            </a:r>
            <a:endParaRPr lang="en-US" sz="1400" dirty="0"/>
          </a:p>
        </p:txBody>
      </p:sp>
      <p:sp>
        <p:nvSpPr>
          <p:cNvPr id="11" name="Shape 9"/>
          <p:cNvSpPr/>
          <p:nvPr/>
        </p:nvSpPr>
        <p:spPr>
          <a:xfrm>
            <a:off x="548640" y="3346704"/>
            <a:ext cx="640080" cy="320040"/>
          </a:xfrm>
          <a:prstGeom prst="rect">
            <a:avLst/>
          </a:prstGeom>
          <a:solidFill>
            <a:srgbClr val="DBEAFE"/>
          </a:solidFill>
          <a:ln w="6350">
            <a:solidFill>
              <a:srgbClr val="3B82F6"/>
            </a:solidFill>
            <a:prstDash val="solid"/>
          </a:ln>
        </p:spPr>
      </p:sp>
      <p:sp>
        <p:nvSpPr>
          <p:cNvPr id="12" name="Text 10"/>
          <p:cNvSpPr/>
          <p:nvPr/>
        </p:nvSpPr>
        <p:spPr>
          <a:xfrm>
            <a:off x="548640" y="3346704"/>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L3</a:t>
            </a:r>
            <a:endParaRPr lang="en-US" sz="1100" dirty="0"/>
          </a:p>
        </p:txBody>
      </p:sp>
      <p:sp>
        <p:nvSpPr>
          <p:cNvPr id="13" name="Text 11"/>
          <p:cNvSpPr/>
          <p:nvPr/>
        </p:nvSpPr>
        <p:spPr>
          <a:xfrm>
            <a:off x="1371600" y="3346704"/>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Agent identity in data access control — existing models don't fit.</a:t>
            </a:r>
            <a:endParaRPr lang="en-US" sz="1400" dirty="0"/>
          </a:p>
        </p:txBody>
      </p:sp>
      <p:sp>
        <p:nvSpPr>
          <p:cNvPr id="14" name="Shape 12"/>
          <p:cNvSpPr/>
          <p:nvPr/>
        </p:nvSpPr>
        <p:spPr>
          <a:xfrm>
            <a:off x="548640" y="3785616"/>
            <a:ext cx="640080" cy="320040"/>
          </a:xfrm>
          <a:prstGeom prst="rect">
            <a:avLst/>
          </a:prstGeom>
          <a:solidFill>
            <a:srgbClr val="DBEAFE"/>
          </a:solidFill>
          <a:ln w="6350">
            <a:solidFill>
              <a:srgbClr val="3B82F6"/>
            </a:solidFill>
            <a:prstDash val="solid"/>
          </a:ln>
        </p:spPr>
      </p:sp>
      <p:sp>
        <p:nvSpPr>
          <p:cNvPr id="15" name="Text 13"/>
          <p:cNvSpPr/>
          <p:nvPr/>
        </p:nvSpPr>
        <p:spPr>
          <a:xfrm>
            <a:off x="548640" y="3785616"/>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L4</a:t>
            </a:r>
            <a:endParaRPr lang="en-US" sz="1100" dirty="0"/>
          </a:p>
        </p:txBody>
      </p:sp>
      <p:sp>
        <p:nvSpPr>
          <p:cNvPr id="16" name="Text 14"/>
          <p:cNvSpPr/>
          <p:nvPr/>
        </p:nvSpPr>
        <p:spPr>
          <a:xfrm>
            <a:off x="1371600" y="3785616"/>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Standardised evaluation regimes for adapted models.</a:t>
            </a:r>
            <a:endParaRPr lang="en-US" sz="1400" dirty="0"/>
          </a:p>
        </p:txBody>
      </p:sp>
      <p:sp>
        <p:nvSpPr>
          <p:cNvPr id="17" name="Shape 15"/>
          <p:cNvSpPr/>
          <p:nvPr/>
        </p:nvSpPr>
        <p:spPr>
          <a:xfrm>
            <a:off x="548640" y="4224528"/>
            <a:ext cx="640080" cy="320040"/>
          </a:xfrm>
          <a:prstGeom prst="rect">
            <a:avLst/>
          </a:prstGeom>
          <a:solidFill>
            <a:srgbClr val="DBEAFE"/>
          </a:solidFill>
          <a:ln w="6350">
            <a:solidFill>
              <a:srgbClr val="3B82F6"/>
            </a:solidFill>
            <a:prstDash val="solid"/>
          </a:ln>
        </p:spPr>
      </p:sp>
      <p:sp>
        <p:nvSpPr>
          <p:cNvPr id="18" name="Text 16"/>
          <p:cNvSpPr/>
          <p:nvPr/>
        </p:nvSpPr>
        <p:spPr>
          <a:xfrm>
            <a:off x="548640" y="4224528"/>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L5</a:t>
            </a:r>
            <a:endParaRPr lang="en-US" sz="1100" dirty="0"/>
          </a:p>
        </p:txBody>
      </p:sp>
      <p:sp>
        <p:nvSpPr>
          <p:cNvPr id="19" name="Text 17"/>
          <p:cNvSpPr/>
          <p:nvPr/>
        </p:nvSpPr>
        <p:spPr>
          <a:xfrm>
            <a:off x="1371600" y="4224528"/>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Stable bifurcation or transitional state — centralised vs edge inference?</a:t>
            </a:r>
            <a:endParaRPr lang="en-US" sz="1400" dirty="0"/>
          </a:p>
        </p:txBody>
      </p:sp>
      <p:sp>
        <p:nvSpPr>
          <p:cNvPr id="20" name="Shape 18"/>
          <p:cNvSpPr/>
          <p:nvPr/>
        </p:nvSpPr>
        <p:spPr>
          <a:xfrm>
            <a:off x="548640" y="4663440"/>
            <a:ext cx="640080" cy="320040"/>
          </a:xfrm>
          <a:prstGeom prst="rect">
            <a:avLst/>
          </a:prstGeom>
          <a:solidFill>
            <a:srgbClr val="DBEAFE"/>
          </a:solidFill>
          <a:ln w="6350">
            <a:solidFill>
              <a:srgbClr val="3B82F6"/>
            </a:solidFill>
            <a:prstDash val="solid"/>
          </a:ln>
        </p:spPr>
      </p:sp>
      <p:sp>
        <p:nvSpPr>
          <p:cNvPr id="21" name="Text 19"/>
          <p:cNvSpPr/>
          <p:nvPr/>
        </p:nvSpPr>
        <p:spPr>
          <a:xfrm>
            <a:off x="548640" y="4663440"/>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L6</a:t>
            </a:r>
            <a:endParaRPr lang="en-US" sz="1100" dirty="0"/>
          </a:p>
        </p:txBody>
      </p:sp>
      <p:sp>
        <p:nvSpPr>
          <p:cNvPr id="22" name="Text 20"/>
          <p:cNvSpPr/>
          <p:nvPr/>
        </p:nvSpPr>
        <p:spPr>
          <a:xfrm>
            <a:off x="1371600" y="4663440"/>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Provider vertical extension into context, orchestration, and memory.</a:t>
            </a:r>
            <a:endParaRPr lang="en-US" sz="1400" dirty="0"/>
          </a:p>
        </p:txBody>
      </p:sp>
      <p:sp>
        <p:nvSpPr>
          <p:cNvPr id="23" name="Shape 21"/>
          <p:cNvSpPr/>
          <p:nvPr/>
        </p:nvSpPr>
        <p:spPr>
          <a:xfrm>
            <a:off x="548640" y="5102352"/>
            <a:ext cx="640080" cy="320040"/>
          </a:xfrm>
          <a:prstGeom prst="rect">
            <a:avLst/>
          </a:prstGeom>
          <a:solidFill>
            <a:srgbClr val="DBEAFE"/>
          </a:solidFill>
          <a:ln w="6350">
            <a:solidFill>
              <a:srgbClr val="3B82F6"/>
            </a:solidFill>
            <a:prstDash val="solid"/>
          </a:ln>
        </p:spPr>
      </p:sp>
      <p:sp>
        <p:nvSpPr>
          <p:cNvPr id="24" name="Text 22"/>
          <p:cNvSpPr/>
          <p:nvPr/>
        </p:nvSpPr>
        <p:spPr>
          <a:xfrm>
            <a:off x="548640" y="5102352"/>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L7</a:t>
            </a:r>
            <a:endParaRPr lang="en-US" sz="1100" dirty="0"/>
          </a:p>
        </p:txBody>
      </p:sp>
      <p:sp>
        <p:nvSpPr>
          <p:cNvPr id="25" name="Text 23"/>
          <p:cNvSpPr/>
          <p:nvPr/>
        </p:nvSpPr>
        <p:spPr>
          <a:xfrm>
            <a:off x="1371600" y="5102352"/>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Separation of orchestration from governance — integrated or distinct?</a:t>
            </a:r>
            <a:endParaRPr lang="en-US" sz="1400" dirty="0"/>
          </a:p>
        </p:txBody>
      </p:sp>
      <p:sp>
        <p:nvSpPr>
          <p:cNvPr id="26" name="Shape 24"/>
          <p:cNvSpPr/>
          <p:nvPr/>
        </p:nvSpPr>
        <p:spPr>
          <a:xfrm>
            <a:off x="548640" y="5541264"/>
            <a:ext cx="640080" cy="320040"/>
          </a:xfrm>
          <a:prstGeom prst="rect">
            <a:avLst/>
          </a:prstGeom>
          <a:solidFill>
            <a:srgbClr val="DBEAFE"/>
          </a:solidFill>
          <a:ln w="6350">
            <a:solidFill>
              <a:srgbClr val="3B82F6"/>
            </a:solidFill>
            <a:prstDash val="solid"/>
          </a:ln>
        </p:spPr>
      </p:sp>
      <p:sp>
        <p:nvSpPr>
          <p:cNvPr id="27" name="Text 25"/>
          <p:cNvSpPr/>
          <p:nvPr/>
        </p:nvSpPr>
        <p:spPr>
          <a:xfrm>
            <a:off x="548640" y="5541264"/>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L8</a:t>
            </a:r>
            <a:endParaRPr lang="en-US" sz="1100" dirty="0"/>
          </a:p>
        </p:txBody>
      </p:sp>
      <p:sp>
        <p:nvSpPr>
          <p:cNvPr id="28" name="Text 26"/>
          <p:cNvSpPr/>
          <p:nvPr/>
        </p:nvSpPr>
        <p:spPr>
          <a:xfrm>
            <a:off x="1371600" y="5541264"/>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Verification in the presence of sophisticated self-report failure.</a:t>
            </a:r>
            <a:endParaRPr lang="en-US" sz="1400" dirty="0"/>
          </a:p>
        </p:txBody>
      </p:sp>
      <p:sp>
        <p:nvSpPr>
          <p:cNvPr id="29" name="Shape 27"/>
          <p:cNvSpPr/>
          <p:nvPr/>
        </p:nvSpPr>
        <p:spPr>
          <a:xfrm>
            <a:off x="548640" y="5980176"/>
            <a:ext cx="640080" cy="320040"/>
          </a:xfrm>
          <a:prstGeom prst="rect">
            <a:avLst/>
          </a:prstGeom>
          <a:solidFill>
            <a:srgbClr val="DBEAFE"/>
          </a:solidFill>
          <a:ln w="6350">
            <a:solidFill>
              <a:srgbClr val="3B82F6"/>
            </a:solidFill>
            <a:prstDash val="solid"/>
          </a:ln>
        </p:spPr>
      </p:sp>
      <p:sp>
        <p:nvSpPr>
          <p:cNvPr id="30" name="Text 28"/>
          <p:cNvSpPr/>
          <p:nvPr/>
        </p:nvSpPr>
        <p:spPr>
          <a:xfrm>
            <a:off x="548640" y="5980176"/>
            <a:ext cx="640080" cy="320040"/>
          </a:xfrm>
          <a:prstGeom prst="rect">
            <a:avLst/>
          </a:prstGeom>
          <a:noFill/>
          <a:ln/>
        </p:spPr>
        <p:txBody>
          <a:bodyPr wrap="square" rtlCol="0" anchor="ctr"/>
          <a:lstStyle/>
          <a:p>
            <a:pPr algn="ctr" indent="0" marL="0">
              <a:buNone/>
            </a:pPr>
            <a:r>
              <a:rPr lang="en-US" sz="1100" b="1" dirty="0">
                <a:solidFill>
                  <a:srgbClr val="1D4ED8"/>
                </a:solidFill>
                <a:latin typeface="Helvetica Neue" pitchFamily="34" charset="0"/>
                <a:ea typeface="Helvetica Neue" pitchFamily="34" charset="-122"/>
                <a:cs typeface="Helvetica Neue" pitchFamily="34" charset="-120"/>
              </a:rPr>
              <a:t>L9</a:t>
            </a:r>
            <a:endParaRPr lang="en-US" sz="1100" dirty="0"/>
          </a:p>
        </p:txBody>
      </p:sp>
      <p:sp>
        <p:nvSpPr>
          <p:cNvPr id="31" name="Text 29"/>
          <p:cNvSpPr/>
          <p:nvPr/>
        </p:nvSpPr>
        <p:spPr>
          <a:xfrm>
            <a:off x="1371600" y="5980176"/>
            <a:ext cx="10058400" cy="320040"/>
          </a:xfrm>
          <a:prstGeom prst="rect">
            <a:avLst/>
          </a:prstGeom>
          <a:noFill/>
          <a:ln/>
        </p:spPr>
        <p:txBody>
          <a:bodyPr wrap="square" rtlCol="0" anchor="ctr"/>
          <a:lstStyle/>
          <a:p>
            <a:pPr indent="0" marL="0">
              <a:buNone/>
            </a:pPr>
            <a:r>
              <a:rPr lang="en-US" sz="1400" dirty="0">
                <a:solidFill>
                  <a:srgbClr val="1C1C1E"/>
                </a:solidFill>
                <a:latin typeface="Helvetica Neue" pitchFamily="34" charset="0"/>
                <a:ea typeface="Helvetica Neue" pitchFamily="34" charset="-122"/>
                <a:cs typeface="Helvetica Neue" pitchFamily="34" charset="-120"/>
              </a:rPr>
              <a:t>Convergence or divergence of human and agent interfaces.</a:t>
            </a:r>
            <a:endParaRPr lang="en-US" sz="1400" dirty="0"/>
          </a:p>
        </p:txBody>
      </p:sp>
      <p:sp>
        <p:nvSpPr>
          <p:cNvPr id="32" name="Text 30"/>
          <p:cNvSpPr/>
          <p:nvPr/>
        </p:nvSpPr>
        <p:spPr>
          <a:xfrm>
            <a:off x="548640" y="6400800"/>
            <a:ext cx="10972800" cy="274320"/>
          </a:xfrm>
          <a:prstGeom prst="rect">
            <a:avLst/>
          </a:prstGeom>
          <a:noFill/>
          <a:ln/>
        </p:spPr>
        <p:txBody>
          <a:bodyPr wrap="square" rtlCol="0" anchor="ctr"/>
          <a:lstStyle/>
          <a:p>
            <a:pPr algn="ctr" indent="0" marL="0">
              <a:buNone/>
            </a:pPr>
            <a:r>
              <a:rPr lang="en-US" sz="1000" i="1" dirty="0">
                <a:solidFill>
                  <a:srgbClr val="6E6E73"/>
                </a:solidFill>
                <a:latin typeface="Helvetica Neue" pitchFamily="34" charset="0"/>
                <a:ea typeface="Helvetica Neue" pitchFamily="34" charset="-122"/>
                <a:cs typeface="Helvetica Neue" pitchFamily="34" charset="-120"/>
              </a:rPr>
              <a:t>One representative question per layer. Each layer in the full draft names several. Reviewers contributing to specific open questions is the intended mechanism for the model's evolution.</a:t>
            </a:r>
            <a:endParaRPr lang="en-US" sz="1000" dirty="0"/>
          </a:p>
        </p:txBody>
      </p:sp>
      <p:sp>
        <p:nvSpPr>
          <p:cNvPr id="33" name="Text 31"/>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20 / 21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10972800" cy="274320"/>
          </a:xfrm>
          <a:prstGeom prst="rect">
            <a:avLst/>
          </a:prstGeom>
          <a:noFill/>
          <a:ln/>
        </p:spPr>
        <p:txBody>
          <a:bodyPr wrap="square" rtlCol="0" anchor="ctr"/>
          <a:lstStyle/>
          <a:p>
            <a:pPr indent="0" marL="0">
              <a:buNone/>
            </a:pPr>
            <a:r>
              <a:rPr lang="en-US" sz="1000" spc="400" kern="0" dirty="0">
                <a:solidFill>
                  <a:srgbClr val="6E6E73"/>
                </a:solidFill>
                <a:latin typeface="Helvetica Neue" pitchFamily="34" charset="0"/>
                <a:ea typeface="Helvetica Neue" pitchFamily="34" charset="-122"/>
                <a:cs typeface="Helvetica Neue" pitchFamily="34" charset="-120"/>
              </a:rPr>
              <a:t>COMPANION DOCUMENTS</a:t>
            </a:r>
            <a:endParaRPr lang="en-US" sz="1000" dirty="0"/>
          </a:p>
        </p:txBody>
      </p:sp>
      <p:sp>
        <p:nvSpPr>
          <p:cNvPr id="3" name="Text 1"/>
          <p:cNvSpPr/>
          <p:nvPr/>
        </p:nvSpPr>
        <p:spPr>
          <a:xfrm>
            <a:off x="548640" y="822960"/>
            <a:ext cx="10972800" cy="822960"/>
          </a:xfrm>
          <a:prstGeom prst="rect">
            <a:avLst/>
          </a:prstGeom>
          <a:noFill/>
          <a:ln/>
        </p:spPr>
        <p:txBody>
          <a:bodyPr wrap="square" rtlCol="0" anchor="ctr"/>
          <a:lstStyle/>
          <a:p>
            <a:pPr indent="0" marL="0">
              <a:buNone/>
            </a:pPr>
            <a:r>
              <a:rPr lang="en-US" sz="3200" dirty="0">
                <a:solidFill>
                  <a:srgbClr val="000000"/>
                </a:solidFill>
                <a:latin typeface="Helvetica Neue" pitchFamily="34" charset="0"/>
                <a:ea typeface="Helvetica Neue" pitchFamily="34" charset="-122"/>
                <a:cs typeface="Helvetica Neue" pitchFamily="34" charset="-120"/>
              </a:rPr>
              <a:t>The Document Set</a:t>
            </a:r>
            <a:endParaRPr lang="en-US" sz="3200" dirty="0"/>
          </a:p>
        </p:txBody>
      </p:sp>
      <p:sp>
        <p:nvSpPr>
          <p:cNvPr id="4" name="Text 2"/>
          <p:cNvSpPr/>
          <p:nvPr/>
        </p:nvSpPr>
        <p:spPr>
          <a:xfrm>
            <a:off x="548640" y="1645920"/>
            <a:ext cx="10972800" cy="457200"/>
          </a:xfrm>
          <a:prstGeom prst="rect">
            <a:avLst/>
          </a:prstGeom>
          <a:noFill/>
          <a:ln/>
        </p:spPr>
        <p:txBody>
          <a:bodyPr wrap="square" rtlCol="0" anchor="ctr"/>
          <a:lstStyle/>
          <a:p>
            <a:pPr indent="0" marL="0">
              <a:buNone/>
            </a:pPr>
            <a:r>
              <a:rPr lang="en-US" sz="1600" dirty="0">
                <a:solidFill>
                  <a:srgbClr val="6E6E73"/>
                </a:solidFill>
                <a:latin typeface="Helvetica Neue" pitchFamily="34" charset="0"/>
                <a:ea typeface="Helvetica Neue" pitchFamily="34" charset="-122"/>
                <a:cs typeface="Helvetica Neue" pitchFamily="34" charset="-120"/>
              </a:rPr>
              <a:t>Four artefacts, matched design, different purposes.</a:t>
            </a:r>
            <a:endParaRPr lang="en-US" sz="1600" dirty="0"/>
          </a:p>
        </p:txBody>
      </p:sp>
      <p:sp>
        <p:nvSpPr>
          <p:cNvPr id="5" name="Text 3"/>
          <p:cNvSpPr/>
          <p:nvPr/>
        </p:nvSpPr>
        <p:spPr>
          <a:xfrm>
            <a:off x="548640" y="2194560"/>
            <a:ext cx="27432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Full Draft</a:t>
            </a:r>
            <a:endParaRPr lang="en-US" sz="1500" dirty="0"/>
          </a:p>
        </p:txBody>
      </p:sp>
      <p:sp>
        <p:nvSpPr>
          <p:cNvPr id="6" name="Text 4"/>
          <p:cNvSpPr/>
          <p:nvPr/>
        </p:nvSpPr>
        <p:spPr>
          <a:xfrm>
            <a:off x="548640" y="2514600"/>
            <a:ext cx="2743200" cy="22860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96 pages</a:t>
            </a:r>
            <a:endParaRPr lang="en-US" sz="1100" dirty="0"/>
          </a:p>
        </p:txBody>
      </p:sp>
      <p:sp>
        <p:nvSpPr>
          <p:cNvPr id="7" name="Text 5"/>
          <p:cNvSpPr/>
          <p:nvPr/>
        </p:nvSpPr>
        <p:spPr>
          <a:xfrm>
            <a:off x="3474720" y="2194560"/>
            <a:ext cx="8229600" cy="640080"/>
          </a:xfrm>
          <a:prstGeom prst="rect">
            <a:avLst/>
          </a:prstGeom>
          <a:noFill/>
          <a:ln/>
        </p:spPr>
        <p:txBody>
          <a:bodyPr wrap="square" rtlCol="0" anchor="t"/>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The complete reference architecture. Read for layer-level depth, reference technologies, and the full treatment of open questions.</a:t>
            </a:r>
            <a:endParaRPr lang="en-US" sz="1300" dirty="0"/>
          </a:p>
        </p:txBody>
      </p:sp>
      <p:sp>
        <p:nvSpPr>
          <p:cNvPr id="8" name="Text 6"/>
          <p:cNvSpPr/>
          <p:nvPr/>
        </p:nvSpPr>
        <p:spPr>
          <a:xfrm>
            <a:off x="548640" y="2971800"/>
            <a:ext cx="27432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Reader's Digest</a:t>
            </a:r>
            <a:endParaRPr lang="en-US" sz="1500" dirty="0"/>
          </a:p>
        </p:txBody>
      </p:sp>
      <p:sp>
        <p:nvSpPr>
          <p:cNvPr id="9" name="Text 7"/>
          <p:cNvSpPr/>
          <p:nvPr/>
        </p:nvSpPr>
        <p:spPr>
          <a:xfrm>
            <a:off x="548640" y="3291840"/>
            <a:ext cx="2743200" cy="22860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20 pages</a:t>
            </a:r>
            <a:endParaRPr lang="en-US" sz="1100" dirty="0"/>
          </a:p>
        </p:txBody>
      </p:sp>
      <p:sp>
        <p:nvSpPr>
          <p:cNvPr id="10" name="Text 8"/>
          <p:cNvSpPr/>
          <p:nvPr/>
        </p:nvSpPr>
        <p:spPr>
          <a:xfrm>
            <a:off x="3474720" y="2971800"/>
            <a:ext cx="8229600" cy="640080"/>
          </a:xfrm>
          <a:prstGeom prst="rect">
            <a:avLst/>
          </a:prstGeom>
          <a:noFill/>
          <a:ln/>
        </p:spPr>
        <p:txBody>
          <a:bodyPr wrap="square" rtlCol="0" anchor="t"/>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A compressed reading of the full draft. Read first for the architecture as a whole.</a:t>
            </a:r>
            <a:endParaRPr lang="en-US" sz="1300" dirty="0"/>
          </a:p>
        </p:txBody>
      </p:sp>
      <p:sp>
        <p:nvSpPr>
          <p:cNvPr id="11" name="Text 9"/>
          <p:cNvSpPr/>
          <p:nvPr/>
        </p:nvSpPr>
        <p:spPr>
          <a:xfrm>
            <a:off x="548640" y="3749040"/>
            <a:ext cx="27432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Decision Log</a:t>
            </a:r>
            <a:endParaRPr lang="en-US" sz="1500" dirty="0"/>
          </a:p>
        </p:txBody>
      </p:sp>
      <p:sp>
        <p:nvSpPr>
          <p:cNvPr id="12" name="Text 10"/>
          <p:cNvSpPr/>
          <p:nvPr/>
        </p:nvSpPr>
        <p:spPr>
          <a:xfrm>
            <a:off x="548640" y="4069080"/>
            <a:ext cx="2743200" cy="22860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17 pages</a:t>
            </a:r>
            <a:endParaRPr lang="en-US" sz="1100" dirty="0"/>
          </a:p>
        </p:txBody>
      </p:sp>
      <p:sp>
        <p:nvSpPr>
          <p:cNvPr id="13" name="Text 11"/>
          <p:cNvSpPr/>
          <p:nvPr/>
        </p:nvSpPr>
        <p:spPr>
          <a:xfrm>
            <a:off x="3474720" y="3749040"/>
            <a:ext cx="8229600" cy="640080"/>
          </a:xfrm>
          <a:prstGeom prst="rect">
            <a:avLst/>
          </a:prstGeom>
          <a:noFill/>
          <a:ln/>
        </p:spPr>
        <p:txBody>
          <a:bodyPr wrap="square" rtlCol="0" anchor="t"/>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All thirty decisions made during drafting, organised by naming, structure, voice, deferrals, and design.</a:t>
            </a:r>
            <a:endParaRPr lang="en-US" sz="1300" dirty="0"/>
          </a:p>
        </p:txBody>
      </p:sp>
      <p:sp>
        <p:nvSpPr>
          <p:cNvPr id="14" name="Text 12"/>
          <p:cNvSpPr/>
          <p:nvPr/>
        </p:nvSpPr>
        <p:spPr>
          <a:xfrm>
            <a:off x="548640" y="4526280"/>
            <a:ext cx="27432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Decision Log Digest</a:t>
            </a:r>
            <a:endParaRPr lang="en-US" sz="1500" dirty="0"/>
          </a:p>
        </p:txBody>
      </p:sp>
      <p:sp>
        <p:nvSpPr>
          <p:cNvPr id="15" name="Text 13"/>
          <p:cNvSpPr/>
          <p:nvPr/>
        </p:nvSpPr>
        <p:spPr>
          <a:xfrm>
            <a:off x="548640" y="4846320"/>
            <a:ext cx="2743200" cy="22860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7 pages</a:t>
            </a:r>
            <a:endParaRPr lang="en-US" sz="1100" dirty="0"/>
          </a:p>
        </p:txBody>
      </p:sp>
      <p:sp>
        <p:nvSpPr>
          <p:cNvPr id="16" name="Text 14"/>
          <p:cNvSpPr/>
          <p:nvPr/>
        </p:nvSpPr>
        <p:spPr>
          <a:xfrm>
            <a:off x="3474720" y="4526280"/>
            <a:ext cx="8229600" cy="640080"/>
          </a:xfrm>
          <a:prstGeom prst="rect">
            <a:avLst/>
          </a:prstGeom>
          <a:noFill/>
          <a:ln/>
        </p:spPr>
        <p:txBody>
          <a:bodyPr wrap="square" rtlCol="0" anchor="t"/>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The eleven decisions most worth re-opening. Read alongside the Reader's Digest.</a:t>
            </a:r>
            <a:endParaRPr lang="en-US" sz="1300" dirty="0"/>
          </a:p>
        </p:txBody>
      </p:sp>
      <p:sp>
        <p:nvSpPr>
          <p:cNvPr id="17" name="Text 15"/>
          <p:cNvSpPr/>
          <p:nvPr/>
        </p:nvSpPr>
        <p:spPr>
          <a:xfrm>
            <a:off x="548640" y="5303520"/>
            <a:ext cx="2743200" cy="274320"/>
          </a:xfrm>
          <a:prstGeom prst="rect">
            <a:avLst/>
          </a:prstGeom>
          <a:noFill/>
          <a:ln/>
        </p:spPr>
        <p:txBody>
          <a:bodyPr wrap="square" rtlCol="0" anchor="ctr"/>
          <a:lstStyle/>
          <a:p>
            <a:pPr indent="0" marL="0">
              <a:buNone/>
            </a:pPr>
            <a:r>
              <a:rPr lang="en-US" sz="1500" b="1" dirty="0">
                <a:solidFill>
                  <a:srgbClr val="000000"/>
                </a:solidFill>
                <a:latin typeface="Helvetica Neue" pitchFamily="34" charset="0"/>
                <a:ea typeface="Helvetica Neue" pitchFamily="34" charset="-122"/>
                <a:cs typeface="Helvetica Neue" pitchFamily="34" charset="-120"/>
              </a:rPr>
              <a:t>This Deck</a:t>
            </a:r>
            <a:endParaRPr lang="en-US" sz="1500" dirty="0"/>
          </a:p>
        </p:txBody>
      </p:sp>
      <p:sp>
        <p:nvSpPr>
          <p:cNvPr id="18" name="Text 16"/>
          <p:cNvSpPr/>
          <p:nvPr/>
        </p:nvSpPr>
        <p:spPr>
          <a:xfrm>
            <a:off x="548640" y="5623560"/>
            <a:ext cx="2743200" cy="228600"/>
          </a:xfrm>
          <a:prstGeom prst="rect">
            <a:avLst/>
          </a:prstGeom>
          <a:noFill/>
          <a:ln/>
        </p:spPr>
        <p:txBody>
          <a:bodyPr wrap="square" rtlCol="0" anchor="ctr"/>
          <a:lstStyle/>
          <a:p>
            <a:pPr indent="0" marL="0">
              <a:buNone/>
            </a:pPr>
            <a:r>
              <a:rPr lang="en-US" sz="1100" i="1" dirty="0">
                <a:solidFill>
                  <a:srgbClr val="1D4ED8"/>
                </a:solidFill>
                <a:latin typeface="Helvetica Neue" pitchFamily="34" charset="0"/>
                <a:ea typeface="Helvetica Neue" pitchFamily="34" charset="-122"/>
                <a:cs typeface="Helvetica Neue" pitchFamily="34" charset="-120"/>
              </a:rPr>
              <a:t>21 slides</a:t>
            </a:r>
            <a:endParaRPr lang="en-US" sz="1100" dirty="0"/>
          </a:p>
        </p:txBody>
      </p:sp>
      <p:sp>
        <p:nvSpPr>
          <p:cNvPr id="19" name="Text 17"/>
          <p:cNvSpPr/>
          <p:nvPr/>
        </p:nvSpPr>
        <p:spPr>
          <a:xfrm>
            <a:off x="3474720" y="5303520"/>
            <a:ext cx="8229600" cy="640080"/>
          </a:xfrm>
          <a:prstGeom prst="rect">
            <a:avLst/>
          </a:prstGeom>
          <a:noFill/>
          <a:ln/>
        </p:spPr>
        <p:txBody>
          <a:bodyPr wrap="square" rtlCol="0" anchor="t"/>
          <a:lstStyle/>
          <a:p>
            <a:pPr indent="0" marL="0">
              <a:buNone/>
            </a:pPr>
            <a:r>
              <a:rPr lang="en-US" sz="1300" dirty="0">
                <a:solidFill>
                  <a:srgbClr val="1C1C1E"/>
                </a:solidFill>
                <a:latin typeface="Helvetica Neue" pitchFamily="34" charset="0"/>
                <a:ea typeface="Helvetica Neue" pitchFamily="34" charset="-122"/>
                <a:cs typeface="Helvetica Neue" pitchFamily="34" charset="-120"/>
              </a:rPr>
              <a:t>Reference material during team discussion. Consult specific slides as questions arise.</a:t>
            </a:r>
            <a:endParaRPr lang="en-US" sz="1300" dirty="0"/>
          </a:p>
        </p:txBody>
      </p:sp>
      <p:sp>
        <p:nvSpPr>
          <p:cNvPr id="20" name="Shape 18"/>
          <p:cNvSpPr/>
          <p:nvPr/>
        </p:nvSpPr>
        <p:spPr>
          <a:xfrm>
            <a:off x="548640" y="6400800"/>
            <a:ext cx="10972800" cy="0"/>
          </a:xfrm>
          <a:prstGeom prst="line">
            <a:avLst/>
          </a:prstGeom>
          <a:noFill/>
          <a:ln w="9525">
            <a:solidFill>
              <a:srgbClr val="D2D2D7"/>
            </a:solidFill>
            <a:prstDash val="solid"/>
          </a:ln>
        </p:spPr>
      </p:sp>
      <p:sp>
        <p:nvSpPr>
          <p:cNvPr id="21" name="Text 19"/>
          <p:cNvSpPr/>
          <p:nvPr/>
        </p:nvSpPr>
        <p:spPr>
          <a:xfrm>
            <a:off x="548640" y="6492240"/>
            <a:ext cx="10972800" cy="274320"/>
          </a:xfrm>
          <a:prstGeom prst="rect">
            <a:avLst/>
          </a:prstGeom>
          <a:noFill/>
          <a:ln/>
        </p:spPr>
        <p:txBody>
          <a:bodyPr wrap="square" rtlCol="0" anchor="ctr"/>
          <a:lstStyle/>
          <a:p>
            <a:pPr algn="ctr" indent="0" marL="0">
              <a:buNone/>
            </a:pPr>
            <a:r>
              <a:rPr lang="en-US" sz="1100" i="1" dirty="0">
                <a:solidFill>
                  <a:srgbClr val="6E6E73"/>
                </a:solidFill>
                <a:latin typeface="Helvetica Neue" pitchFamily="34" charset="0"/>
                <a:ea typeface="Helvetica Neue" pitchFamily="34" charset="-122"/>
                <a:cs typeface="Helvetica Neue" pitchFamily="34" charset="-120"/>
              </a:rPr>
              <a:t>Next: reviewer feedback, architectural diagram for Section 3, verified citations, illustrated edition.</a:t>
            </a:r>
            <a:endParaRPr lang="en-US" sz="1100" dirty="0"/>
          </a:p>
        </p:txBody>
      </p:sp>
      <p:sp>
        <p:nvSpPr>
          <p:cNvPr id="22" name="Text 20"/>
          <p:cNvSpPr/>
          <p:nvPr/>
        </p:nvSpPr>
        <p:spPr>
          <a:xfrm>
            <a:off x="11155680" y="6492240"/>
            <a:ext cx="731520" cy="274320"/>
          </a:xfrm>
          <a:prstGeom prst="rect">
            <a:avLst/>
          </a:prstGeom>
          <a:noFill/>
          <a:ln/>
        </p:spPr>
        <p:txBody>
          <a:bodyPr wrap="square" rtlCol="0" anchor="ctr"/>
          <a:lstStyle/>
          <a:p>
            <a:pPr algn="r" indent="0" marL="0">
              <a:buNone/>
            </a:pPr>
            <a:r>
              <a:rPr lang="en-US" sz="900" dirty="0">
                <a:solidFill>
                  <a:srgbClr val="6E6E73"/>
                </a:solidFill>
                <a:latin typeface="Helvetica Neue" pitchFamily="34" charset="0"/>
                <a:ea typeface="Helvetica Neue" pitchFamily="34" charset="-122"/>
                <a:cs typeface="Helvetica Neue" pitchFamily="34" charset="-120"/>
              </a:rPr>
              <a:t>21 / 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Ne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Neu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2026-04-19T14:04:14Z</dcterms:created>
  <dcterms:modified xsi:type="dcterms:W3CDTF">2026-04-19T14:04:14Z</dcterms:modified>
</cp:coreProperties>
</file>