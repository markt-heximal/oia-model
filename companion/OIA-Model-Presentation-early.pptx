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are seeing massive friction in enterprise AI adoption. Every Global 2000 enterprise has run pilots. The pattern is consistent: it works in the demo, but it fails in production. We are hitting a wall built by four failures: provenance, amnesia, sovereignty, and accountability.</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era of episodic AI — where a user asks a question and gets an answer — is over. The clear trend is continuous, ambient intelligence. AI is no longer just providing answers; it is taking autonomous action. When AI executes actions, the stakes change. The risk surface expands exponentially.</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need a holistic approach. In 1984, the OSI model gave networking a durable structural vocabulary. It allowed the industry to scale because everyone spoke the same language. We need a similar model for AI. We need an architecture designed from the ground up for persistence, autonomy, and consequence.</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Jensen's NVIDIA stack, unveiled at GTC, is a beautiful model for how intelligence is produced — infrastructure, models, platforms, applications, and the AI economy. But it stops at production. The industry needs a companion framework for the operating realities after the model is trained: how intelligence persists, how it acts, and how it can be trusted. That's what OIA adds. Jensen defines how intelligence is produced; OIA defines how it operates.</a:t>
            </a:r>
            <a:endParaRPr/>
          </a:p>
        </p:txBody>
      </p:sp>
      <p:sp>
        <p:nvSpPr>
          <p:cNvPr id="121" name="Google Shape;12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benefits of a layered, model-type approach are clear. It is vendor-neutral. It is composable. It includes every dimension of AI, from the bare metal to the browser. Most importantly, it is durable — designed to outlast any single technology wave or hyperscaler product cycle.</a:t>
            </a:r>
            <a:endParaRPr/>
          </a:p>
        </p:txBody>
      </p:sp>
      <p:sp>
        <p:nvSpPr>
          <p:cNvPr id="203" name="Google Shape;20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draft model. It builds from the physical to the human. Layer 9 is the Human Interface. Layer 8 is the Continuity Fabric — cognitive state and memory. Layer 7, Orchestration. Layer 6, Context and Knowledge. Layer 5, Inference and Retrieval. Layer 4, Model Training. Layer 3, Agent Data Substrate. Layer 2, Sovereign Infrastructure. Layer 1, Silicon Abstraction. Layer 0, Physical Compute.</a:t>
            </a:r>
            <a:endParaRPr/>
          </a:p>
        </p:txBody>
      </p:sp>
      <p:sp>
        <p:nvSpPr>
          <p:cNvPr id="238" name="Google Shape;2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Prevention requires coherence. Today's safety model is reactive — we detect after the fact. A prevention model evaluates behavior before execution, and it requires four coherence checks: does this align with the goal, is this consistent with the actor, is this appropriate now, does this workflow make sense? Guardrails, observability, and detection are still required — but they are fallback, not primary. Prevention asks 'does this make sense at all,' not 'have we seen this before.' And that question can only be answered if the Continuity Layer gives the system memory, identity, and audit.</a:t>
            </a:r>
            <a:endParaRPr/>
          </a:p>
        </p:txBody>
      </p:sp>
      <p:sp>
        <p:nvSpPr>
          <p:cNvPr id="307" name="Google Shape;30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what lives inside the Continuity Fabric — four elements: memory (persistent state across sessions and workflows), identity (consistent understanding of who is acting and why), audit (traceable reasoning and decision history), and learning constraints (adaptation that is bounded, reversible, and safe). Without this layer, you get stateless agents, untraceable decisions, drift over time, and no system accountability. Continuity turns intelligent outputs into accountable systems.</a:t>
            </a:r>
            <a:endParaRPr/>
          </a:p>
        </p:txBody>
      </p:sp>
      <p:sp>
        <p:nvSpPr>
          <p:cNvPr id="355" name="Google Shape;35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ask for the Agentics Foundation is simple. Take ownership of this model. The strategy is to ratify it as a vendor-neutral specification. We must establish a formal contribution process, certify reference implementations, and aggressively evangelize this across the industry as the definitive enterprise standard.</a:t>
            </a:r>
            <a:endParaRPr/>
          </a:p>
        </p:txBody>
      </p:sp>
      <p:sp>
        <p:nvSpPr>
          <p:cNvPr id="406" name="Google Shape;40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Adopting this implies five logical questions we must answer together. First, how do we prevent hyperscaler monopolies from collapsing Layers 5 through 8 into proprietary black boxes? Second, who governs the certification of compliance and verifiable memory at Layer 8? Third, how will incumbent cybersecurity and data vendors map their legacy products to this new stack? Fourth, what is the sustainable funding model for the Foundation's long-term stewardship of the OIA specification? And fifth, how do we drive global regulatory alignment so that OIA becomes the default framework for compliance?</a:t>
            </a:r>
            <a:endParaRPr/>
          </a:p>
        </p:txBody>
      </p:sp>
      <p:sp>
        <p:nvSpPr>
          <p:cNvPr id="443" name="Google Shape;44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9"/>
        </a:solidFill>
      </p:bgPr>
    </p:bg>
    <p:spTree>
      <p:nvGrpSpPr>
        <p:cNvPr id="15" name="Shape 15"/>
        <p:cNvGrpSpPr/>
        <p:nvPr/>
      </p:nvGrpSpPr>
      <p:grpSpPr>
        <a:xfrm>
          <a:off x="0" y="0"/>
          <a:ext cx="0" cy="0"/>
          <a:chOff x="0" y="0"/>
          <a:chExt cx="0" cy="0"/>
        </a:xfrm>
      </p:grpSpPr>
      <p:sp>
        <p:nvSpPr>
          <p:cNvPr id="16" name="Google Shape;16;p3"/>
          <p:cNvSpPr/>
          <p:nvPr/>
        </p:nvSpPr>
        <p:spPr>
          <a:xfrm>
            <a:off x="0" y="952500"/>
            <a:ext cx="18288000"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685726" y="353219"/>
            <a:ext cx="2785078"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AGENTICS </a:t>
            </a:r>
            <a:r>
              <a:rPr b="0" i="0" lang="en-US" sz="1650" u="none" cap="none" strike="noStrike">
                <a:solidFill>
                  <a:srgbClr val="EE5622"/>
                </a:solidFill>
                <a:latin typeface="Arial"/>
                <a:ea typeface="Arial"/>
                <a:cs typeface="Arial"/>
                <a:sym typeface="Arial"/>
              </a:rPr>
              <a:t>[</a:t>
            </a:r>
            <a:r>
              <a:rPr b="0" i="0" lang="en-US" sz="1650" u="none" cap="none" strike="noStrike">
                <a:solidFill>
                  <a:srgbClr val="0E0E0C"/>
                </a:solidFill>
                <a:latin typeface="Arial"/>
                <a:ea typeface="Arial"/>
                <a:cs typeface="Arial"/>
                <a:sym typeface="Arial"/>
              </a:rPr>
              <a:t>FOUNDATION</a:t>
            </a:r>
            <a:r>
              <a:rPr b="0" i="0" lang="en-US" sz="1650" u="none" cap="none" strike="noStrike">
                <a:solidFill>
                  <a:srgbClr val="EE5622"/>
                </a:solidFill>
                <a:latin typeface="Arial"/>
                <a:ea typeface="Arial"/>
                <a:cs typeface="Arial"/>
                <a:sym typeface="Arial"/>
              </a:rPr>
              <a:t>]</a:t>
            </a:r>
            <a:endParaRPr b="0" i="0" sz="1650" u="none" cap="none" strike="noStrike">
              <a:solidFill>
                <a:schemeClr val="dk1"/>
              </a:solidFill>
              <a:latin typeface="Calibri"/>
              <a:ea typeface="Calibri"/>
              <a:cs typeface="Calibri"/>
              <a:sym typeface="Calibri"/>
            </a:endParaRPr>
          </a:p>
        </p:txBody>
      </p:sp>
      <p:sp>
        <p:nvSpPr>
          <p:cNvPr id="18" name="Google Shape;18;p3"/>
          <p:cNvSpPr/>
          <p:nvPr/>
        </p:nvSpPr>
        <p:spPr>
          <a:xfrm>
            <a:off x="15545965" y="388937"/>
            <a:ext cx="2132508"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01 / 10 · THE PROBLEM</a:t>
            </a:r>
            <a:endParaRPr b="0" i="0" sz="1200" u="none" cap="none" strike="noStrike">
              <a:solidFill>
                <a:schemeClr val="dk1"/>
              </a:solidFill>
              <a:latin typeface="Calibri"/>
              <a:ea typeface="Calibri"/>
              <a:cs typeface="Calibri"/>
              <a:sym typeface="Calibri"/>
            </a:endParaRPr>
          </a:p>
        </p:txBody>
      </p:sp>
      <p:sp>
        <p:nvSpPr>
          <p:cNvPr id="19" name="Google Shape;19;p3"/>
          <p:cNvSpPr/>
          <p:nvPr/>
        </p:nvSpPr>
        <p:spPr>
          <a:xfrm>
            <a:off x="9359056" y="952500"/>
            <a:ext cx="9525" cy="8648774"/>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914301" y="1866801"/>
            <a:ext cx="7834804"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6B6860"/>
                </a:solidFill>
                <a:latin typeface="Arial"/>
                <a:ea typeface="Arial"/>
                <a:cs typeface="Arial"/>
                <a:sym typeface="Arial"/>
              </a:rPr>
              <a:t>ASPIRATION &amp; PROBLEM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1" name="Google Shape;21;p3"/>
          <p:cNvSpPr/>
          <p:nvPr/>
        </p:nvSpPr>
        <p:spPr>
          <a:xfrm>
            <a:off x="914301" y="2422426"/>
            <a:ext cx="533301" cy="38075"/>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914301" y="2804914"/>
            <a:ext cx="7834804" cy="2421582"/>
          </a:xfrm>
          <a:prstGeom prst="rect">
            <a:avLst/>
          </a:prstGeom>
          <a:noFill/>
          <a:ln>
            <a:noFill/>
          </a:ln>
        </p:spPr>
        <p:txBody>
          <a:bodyPr anchorCtr="0" anchor="t" bIns="25400" lIns="25400" spcFirstLastPara="1" rIns="25400" wrap="square" tIns="25400">
            <a:noAutofit/>
          </a:bodyPr>
          <a:lstStyle/>
          <a:p>
            <a:pPr indent="0" lvl="0" marL="0" marR="0" rtl="0" algn="l">
              <a:lnSpc>
                <a:spcPct val="92000"/>
              </a:lnSpc>
              <a:spcBef>
                <a:spcPts val="0"/>
              </a:spcBef>
              <a:spcAft>
                <a:spcPts val="0"/>
              </a:spcAft>
              <a:buClr>
                <a:srgbClr val="0E0E0C"/>
              </a:buClr>
              <a:buSzPts val="10200"/>
              <a:buFont typeface="Arial"/>
              <a:buNone/>
            </a:pPr>
            <a:r>
              <a:rPr b="1" i="0" lang="en-US" sz="10200" u="none" cap="none" strike="noStrike">
                <a:solidFill>
                  <a:srgbClr val="0E0E0C"/>
                </a:solidFill>
                <a:latin typeface="Arial"/>
                <a:ea typeface="Arial"/>
                <a:cs typeface="Arial"/>
                <a:sym typeface="Arial"/>
              </a:rPr>
              <a:t>Enterprise AI is </a:t>
            </a:r>
            <a:r>
              <a:rPr b="1" i="0" lang="en-US" sz="10200" u="none" cap="none" strike="noStrike">
                <a:solidFill>
                  <a:srgbClr val="EE5622"/>
                </a:solidFill>
                <a:latin typeface="Arial"/>
                <a:ea typeface="Arial"/>
                <a:cs typeface="Arial"/>
                <a:sym typeface="Arial"/>
              </a:rPr>
              <a:t>stuck.</a:t>
            </a:r>
            <a:endParaRPr b="0" i="0" sz="10200" u="none" cap="none" strike="noStrike">
              <a:solidFill>
                <a:schemeClr val="dk1"/>
              </a:solidFill>
              <a:latin typeface="Calibri"/>
              <a:ea typeface="Calibri"/>
              <a:cs typeface="Calibri"/>
              <a:sym typeface="Calibri"/>
            </a:endParaRPr>
          </a:p>
        </p:txBody>
      </p:sp>
      <p:sp>
        <p:nvSpPr>
          <p:cNvPr id="23" name="Google Shape;23;p3"/>
          <p:cNvSpPr/>
          <p:nvPr/>
        </p:nvSpPr>
        <p:spPr>
          <a:xfrm>
            <a:off x="914301" y="7856761"/>
            <a:ext cx="7606605" cy="9525"/>
          </a:xfrm>
          <a:prstGeom prst="rect">
            <a:avLst/>
          </a:prstGeom>
          <a:solidFill>
            <a:srgbClr val="0E0E0C">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2808015" y="7864698"/>
            <a:ext cx="9525" cy="82227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914301" y="8131348"/>
            <a:ext cx="1779414"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01</a:t>
            </a:r>
            <a:endParaRPr b="0" i="0" sz="1050" u="none" cap="none" strike="noStrike">
              <a:solidFill>
                <a:schemeClr val="dk1"/>
              </a:solidFill>
              <a:latin typeface="Calibri"/>
              <a:ea typeface="Calibri"/>
              <a:cs typeface="Calibri"/>
              <a:sym typeface="Calibri"/>
            </a:endParaRPr>
          </a:p>
        </p:txBody>
      </p:sp>
      <p:sp>
        <p:nvSpPr>
          <p:cNvPr id="26" name="Google Shape;26;p3"/>
          <p:cNvSpPr/>
          <p:nvPr/>
        </p:nvSpPr>
        <p:spPr>
          <a:xfrm>
            <a:off x="914301" y="8385349"/>
            <a:ext cx="1779414" cy="339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2100"/>
              <a:buFont typeface="Arial"/>
              <a:buNone/>
            </a:pPr>
            <a:r>
              <a:rPr b="0" i="0" lang="en-US" sz="2100" u="none" cap="none" strike="noStrike">
                <a:solidFill>
                  <a:srgbClr val="0E0E0C"/>
                </a:solidFill>
                <a:latin typeface="Arial"/>
                <a:ea typeface="Arial"/>
                <a:cs typeface="Arial"/>
                <a:sym typeface="Arial"/>
              </a:rPr>
              <a:t>Provenance</a:t>
            </a:r>
            <a:endParaRPr b="0" i="0" sz="2100" u="none" cap="none" strike="noStrike">
              <a:solidFill>
                <a:schemeClr val="dk1"/>
              </a:solidFill>
              <a:latin typeface="Calibri"/>
              <a:ea typeface="Calibri"/>
              <a:cs typeface="Calibri"/>
              <a:sym typeface="Calibri"/>
            </a:endParaRPr>
          </a:p>
        </p:txBody>
      </p:sp>
      <p:sp>
        <p:nvSpPr>
          <p:cNvPr id="27" name="Google Shape;27;p3"/>
          <p:cNvSpPr/>
          <p:nvPr/>
        </p:nvSpPr>
        <p:spPr>
          <a:xfrm>
            <a:off x="4709666" y="7864698"/>
            <a:ext cx="9525" cy="82227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2815952" y="8131348"/>
            <a:ext cx="1779414"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02</a:t>
            </a:r>
            <a:endParaRPr b="0" i="0" sz="1050" u="none" cap="none" strike="noStrike">
              <a:solidFill>
                <a:schemeClr val="dk1"/>
              </a:solidFill>
              <a:latin typeface="Calibri"/>
              <a:ea typeface="Calibri"/>
              <a:cs typeface="Calibri"/>
              <a:sym typeface="Calibri"/>
            </a:endParaRPr>
          </a:p>
        </p:txBody>
      </p:sp>
      <p:sp>
        <p:nvSpPr>
          <p:cNvPr id="29" name="Google Shape;29;p3"/>
          <p:cNvSpPr/>
          <p:nvPr/>
        </p:nvSpPr>
        <p:spPr>
          <a:xfrm>
            <a:off x="2815952" y="8385349"/>
            <a:ext cx="1779414" cy="339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2100"/>
              <a:buFont typeface="Arial"/>
              <a:buNone/>
            </a:pPr>
            <a:r>
              <a:rPr b="0" i="0" lang="en-US" sz="2100" u="none" cap="none" strike="noStrike">
                <a:solidFill>
                  <a:srgbClr val="0E0E0C"/>
                </a:solidFill>
                <a:latin typeface="Arial"/>
                <a:ea typeface="Arial"/>
                <a:cs typeface="Arial"/>
                <a:sym typeface="Arial"/>
              </a:rPr>
              <a:t>Amnesia</a:t>
            </a:r>
            <a:endParaRPr b="0" i="0" sz="2100" u="none" cap="none" strike="noStrike">
              <a:solidFill>
                <a:schemeClr val="dk1"/>
              </a:solidFill>
              <a:latin typeface="Calibri"/>
              <a:ea typeface="Calibri"/>
              <a:cs typeface="Calibri"/>
              <a:sym typeface="Calibri"/>
            </a:endParaRPr>
          </a:p>
        </p:txBody>
      </p:sp>
      <p:sp>
        <p:nvSpPr>
          <p:cNvPr id="30" name="Google Shape;30;p3"/>
          <p:cNvSpPr/>
          <p:nvPr/>
        </p:nvSpPr>
        <p:spPr>
          <a:xfrm>
            <a:off x="6611317" y="7864698"/>
            <a:ext cx="9525" cy="82227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4717603" y="8131348"/>
            <a:ext cx="1779414"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03</a:t>
            </a:r>
            <a:endParaRPr b="0" i="0" sz="1050" u="none" cap="none" strike="noStrike">
              <a:solidFill>
                <a:schemeClr val="dk1"/>
              </a:solidFill>
              <a:latin typeface="Calibri"/>
              <a:ea typeface="Calibri"/>
              <a:cs typeface="Calibri"/>
              <a:sym typeface="Calibri"/>
            </a:endParaRPr>
          </a:p>
        </p:txBody>
      </p:sp>
      <p:sp>
        <p:nvSpPr>
          <p:cNvPr id="32" name="Google Shape;32;p3"/>
          <p:cNvSpPr/>
          <p:nvPr/>
        </p:nvSpPr>
        <p:spPr>
          <a:xfrm>
            <a:off x="4717603" y="8385349"/>
            <a:ext cx="1779414" cy="339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2100"/>
              <a:buFont typeface="Arial"/>
              <a:buNone/>
            </a:pPr>
            <a:r>
              <a:rPr b="0" i="0" lang="en-US" sz="2100" u="none" cap="none" strike="noStrike">
                <a:solidFill>
                  <a:srgbClr val="0E0E0C"/>
                </a:solidFill>
                <a:latin typeface="Arial"/>
                <a:ea typeface="Arial"/>
                <a:cs typeface="Arial"/>
                <a:sym typeface="Arial"/>
              </a:rPr>
              <a:t>Sovereignty</a:t>
            </a:r>
            <a:endParaRPr b="0" i="0" sz="2100" u="none" cap="none" strike="noStrike">
              <a:solidFill>
                <a:schemeClr val="dk1"/>
              </a:solidFill>
              <a:latin typeface="Calibri"/>
              <a:ea typeface="Calibri"/>
              <a:cs typeface="Calibri"/>
              <a:sym typeface="Calibri"/>
            </a:endParaRPr>
          </a:p>
        </p:txBody>
      </p:sp>
      <p:sp>
        <p:nvSpPr>
          <p:cNvPr id="33" name="Google Shape;33;p3"/>
          <p:cNvSpPr/>
          <p:nvPr/>
        </p:nvSpPr>
        <p:spPr>
          <a:xfrm>
            <a:off x="6619255" y="8131348"/>
            <a:ext cx="178735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04</a:t>
            </a:r>
            <a:endParaRPr b="0" i="0" sz="1050" u="none" cap="none" strike="noStrike">
              <a:solidFill>
                <a:schemeClr val="dk1"/>
              </a:solidFill>
              <a:latin typeface="Calibri"/>
              <a:ea typeface="Calibri"/>
              <a:cs typeface="Calibri"/>
              <a:sym typeface="Calibri"/>
            </a:endParaRPr>
          </a:p>
        </p:txBody>
      </p:sp>
      <p:sp>
        <p:nvSpPr>
          <p:cNvPr id="34" name="Google Shape;34;p3"/>
          <p:cNvSpPr/>
          <p:nvPr/>
        </p:nvSpPr>
        <p:spPr>
          <a:xfrm>
            <a:off x="6619255" y="8385349"/>
            <a:ext cx="1787351" cy="339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2100"/>
              <a:buFont typeface="Arial"/>
              <a:buNone/>
            </a:pPr>
            <a:r>
              <a:rPr b="0" i="0" lang="en-US" sz="2100" u="none" cap="none" strike="noStrike">
                <a:solidFill>
                  <a:srgbClr val="0E0E0C"/>
                </a:solidFill>
                <a:latin typeface="Arial"/>
                <a:ea typeface="Arial"/>
                <a:cs typeface="Arial"/>
                <a:sym typeface="Arial"/>
              </a:rPr>
              <a:t>Accountability</a:t>
            </a:r>
            <a:endParaRPr b="0" i="0" sz="2100" u="none" cap="none" strike="noStrike">
              <a:solidFill>
                <a:schemeClr val="dk1"/>
              </a:solidFill>
              <a:latin typeface="Calibri"/>
              <a:ea typeface="Calibri"/>
              <a:cs typeface="Calibri"/>
              <a:sym typeface="Calibri"/>
            </a:endParaRPr>
          </a:p>
        </p:txBody>
      </p:sp>
      <p:sp>
        <p:nvSpPr>
          <p:cNvPr id="35" name="Google Shape;35;p3"/>
          <p:cNvSpPr/>
          <p:nvPr/>
        </p:nvSpPr>
        <p:spPr>
          <a:xfrm>
            <a:off x="9366994" y="952500"/>
            <a:ext cx="8921005" cy="8648774"/>
          </a:xfrm>
          <a:prstGeom prst="rect">
            <a:avLst/>
          </a:prstGeom>
          <a:solidFill>
            <a:srgbClr val="E9E5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9366994" y="952500"/>
            <a:ext cx="8921005" cy="8648774"/>
          </a:xfrm>
          <a:prstGeom prst="rect">
            <a:avLst/>
          </a:prstGeom>
          <a:solidFill>
            <a:srgbClr val="0E0E0C">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9747994" y="8909224"/>
            <a:ext cx="3778746" cy="349250"/>
          </a:xfrm>
          <a:prstGeom prst="rect">
            <a:avLst/>
          </a:prstGeom>
          <a:solidFill>
            <a:srgbClr val="F2EFE9">
              <a:alpha val="92156"/>
            </a:srgbClr>
          </a:solidFill>
          <a:ln cap="flat" cmpd="sng" w="9525">
            <a:solidFill>
              <a:srgbClr val="0E0E0C">
                <a:alpha val="1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9889281" y="9012411"/>
            <a:ext cx="3609533"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975"/>
              <a:buFont typeface="Arial"/>
              <a:buNone/>
            </a:pPr>
            <a:r>
              <a:rPr b="0" i="0" lang="en-US" sz="975" u="none" cap="none" strike="noStrike">
                <a:solidFill>
                  <a:srgbClr val="6B6860"/>
                </a:solidFill>
                <a:latin typeface="Arial"/>
                <a:ea typeface="Arial"/>
                <a:cs typeface="Arial"/>
                <a:sym typeface="Arial"/>
              </a:rPr>
              <a:t>FULL-BLEED IMAGE · EXEC + TANGLED NODES</a:t>
            </a:r>
            <a:endParaRPr b="0" i="0" sz="975" u="none" cap="none" strike="noStrike">
              <a:solidFill>
                <a:schemeClr val="dk1"/>
              </a:solidFill>
              <a:latin typeface="Calibri"/>
              <a:ea typeface="Calibri"/>
              <a:cs typeface="Calibri"/>
              <a:sym typeface="Calibri"/>
            </a:endParaRPr>
          </a:p>
        </p:txBody>
      </p:sp>
      <p:sp>
        <p:nvSpPr>
          <p:cNvPr id="39" name="Google Shape;39;p3"/>
          <p:cNvSpPr/>
          <p:nvPr/>
        </p:nvSpPr>
        <p:spPr>
          <a:xfrm>
            <a:off x="0" y="9593337"/>
            <a:ext cx="18288000"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685726" y="9864700"/>
            <a:ext cx="273334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OIA · ADVISORY BOARD BRIEF</a:t>
            </a:r>
            <a:endParaRPr b="0" i="0" sz="1050" u="none" cap="none" strike="noStrike">
              <a:solidFill>
                <a:schemeClr val="dk1"/>
              </a:solidFill>
              <a:latin typeface="Calibri"/>
              <a:ea typeface="Calibri"/>
              <a:cs typeface="Calibri"/>
              <a:sym typeface="Calibri"/>
            </a:endParaRPr>
          </a:p>
        </p:txBody>
      </p:sp>
      <p:sp>
        <p:nvSpPr>
          <p:cNvPr id="41" name="Google Shape;41;p3"/>
          <p:cNvSpPr/>
          <p:nvPr/>
        </p:nvSpPr>
        <p:spPr>
          <a:xfrm>
            <a:off x="16701368" y="9864700"/>
            <a:ext cx="977106"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APRIL 2026</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0E0C"/>
        </a:solidFill>
      </p:bgPr>
    </p:bg>
    <p:spTree>
      <p:nvGrpSpPr>
        <p:cNvPr id="46" name="Shape 46"/>
        <p:cNvGrpSpPr/>
        <p:nvPr/>
      </p:nvGrpSpPr>
      <p:grpSpPr>
        <a:xfrm>
          <a:off x="0" y="0"/>
          <a:ext cx="0" cy="0"/>
          <a:chOff x="0" y="0"/>
          <a:chExt cx="0" cy="0"/>
        </a:xfrm>
      </p:grpSpPr>
      <p:sp>
        <p:nvSpPr>
          <p:cNvPr id="47" name="Google Shape;47;p4"/>
          <p:cNvSpPr/>
          <p:nvPr/>
        </p:nvSpPr>
        <p:spPr>
          <a:xfrm>
            <a:off x="0" y="952500"/>
            <a:ext cx="18288000" cy="9525"/>
          </a:xfrm>
          <a:prstGeom prst="rect">
            <a:avLst/>
          </a:prstGeom>
          <a:solidFill>
            <a:srgbClr val="F2EFE9">
              <a:alpha val="1411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685726" y="353219"/>
            <a:ext cx="2785078"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650"/>
              <a:buFont typeface="Arial"/>
              <a:buNone/>
            </a:pPr>
            <a:r>
              <a:rPr b="0" i="0" lang="en-US" sz="1650" u="none" cap="none" strike="noStrike">
                <a:solidFill>
                  <a:srgbClr val="F2EFE9"/>
                </a:solidFill>
                <a:latin typeface="Arial"/>
                <a:ea typeface="Arial"/>
                <a:cs typeface="Arial"/>
                <a:sym typeface="Arial"/>
              </a:rPr>
              <a:t>AGENTICS </a:t>
            </a:r>
            <a:r>
              <a:rPr b="0" i="0" lang="en-US" sz="1650" u="none" cap="none" strike="noStrike">
                <a:solidFill>
                  <a:srgbClr val="EE5622"/>
                </a:solidFill>
                <a:latin typeface="Arial"/>
                <a:ea typeface="Arial"/>
                <a:cs typeface="Arial"/>
                <a:sym typeface="Arial"/>
              </a:rPr>
              <a:t>[</a:t>
            </a:r>
            <a:r>
              <a:rPr b="0" i="0" lang="en-US" sz="1650" u="none" cap="none" strike="noStrike">
                <a:solidFill>
                  <a:srgbClr val="F2EFE9"/>
                </a:solidFill>
                <a:latin typeface="Arial"/>
                <a:ea typeface="Arial"/>
                <a:cs typeface="Arial"/>
                <a:sym typeface="Arial"/>
              </a:rPr>
              <a:t>FOUNDATION</a:t>
            </a:r>
            <a:r>
              <a:rPr b="0" i="0" lang="en-US" sz="1650" u="none" cap="none" strike="noStrike">
                <a:solidFill>
                  <a:srgbClr val="EE5622"/>
                </a:solidFill>
                <a:latin typeface="Arial"/>
                <a:ea typeface="Arial"/>
                <a:cs typeface="Arial"/>
                <a:sym typeface="Arial"/>
              </a:rPr>
              <a:t>]</a:t>
            </a:r>
            <a:endParaRPr b="0" i="0" sz="1650" u="none" cap="none" strike="noStrike">
              <a:solidFill>
                <a:schemeClr val="dk1"/>
              </a:solidFill>
              <a:latin typeface="Calibri"/>
              <a:ea typeface="Calibri"/>
              <a:cs typeface="Calibri"/>
              <a:sym typeface="Calibri"/>
            </a:endParaRPr>
          </a:p>
        </p:txBody>
      </p:sp>
      <p:sp>
        <p:nvSpPr>
          <p:cNvPr id="49" name="Google Shape;49;p4"/>
          <p:cNvSpPr/>
          <p:nvPr/>
        </p:nvSpPr>
        <p:spPr>
          <a:xfrm>
            <a:off x="15793516" y="388937"/>
            <a:ext cx="1884958"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200"/>
              <a:buFont typeface="Arial"/>
              <a:buNone/>
            </a:pPr>
            <a:r>
              <a:rPr b="0" i="0" lang="en-US" sz="1200" u="none" cap="none" strike="noStrike">
                <a:solidFill>
                  <a:srgbClr val="F2EFE9"/>
                </a:solidFill>
                <a:latin typeface="Arial"/>
                <a:ea typeface="Arial"/>
                <a:cs typeface="Arial"/>
                <a:sym typeface="Arial"/>
              </a:rPr>
              <a:t>02 / 10 · THE TREND</a:t>
            </a:r>
            <a:endParaRPr b="0" i="0" sz="1200" u="none" cap="none" strike="noStrike">
              <a:solidFill>
                <a:schemeClr val="dk1"/>
              </a:solidFill>
              <a:latin typeface="Calibri"/>
              <a:ea typeface="Calibri"/>
              <a:cs typeface="Calibri"/>
              <a:sym typeface="Calibri"/>
            </a:endParaRPr>
          </a:p>
        </p:txBody>
      </p:sp>
      <p:sp>
        <p:nvSpPr>
          <p:cNvPr id="50" name="Google Shape;50;p4"/>
          <p:cNvSpPr/>
          <p:nvPr/>
        </p:nvSpPr>
        <p:spPr>
          <a:xfrm>
            <a:off x="914301" y="2095500"/>
            <a:ext cx="1695318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F2EFE9"/>
                </a:solidFill>
                <a:latin typeface="Arial"/>
                <a:ea typeface="Arial"/>
                <a:cs typeface="Arial"/>
                <a:sym typeface="Arial"/>
              </a:rPr>
              <a:t>THE OBSTACLE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51" name="Google Shape;51;p4"/>
          <p:cNvSpPr/>
          <p:nvPr/>
        </p:nvSpPr>
        <p:spPr>
          <a:xfrm>
            <a:off x="914301" y="2612926"/>
            <a:ext cx="533301" cy="38075"/>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914301" y="2993802"/>
            <a:ext cx="15697200" cy="2666901"/>
          </a:xfrm>
          <a:prstGeom prst="rect">
            <a:avLst/>
          </a:prstGeom>
          <a:noFill/>
          <a:ln>
            <a:noFill/>
          </a:ln>
        </p:spPr>
        <p:txBody>
          <a:bodyPr anchorCtr="0" anchor="t" bIns="25400" lIns="25400" spcFirstLastPara="1" rIns="25400" wrap="square" tIns="25400">
            <a:noAutofit/>
          </a:bodyPr>
          <a:lstStyle/>
          <a:p>
            <a:pPr indent="0" lvl="0" marL="0" marR="0" rtl="0" algn="l">
              <a:lnSpc>
                <a:spcPct val="92000"/>
              </a:lnSpc>
              <a:spcBef>
                <a:spcPts val="0"/>
              </a:spcBef>
              <a:spcAft>
                <a:spcPts val="0"/>
              </a:spcAft>
              <a:buClr>
                <a:srgbClr val="F2EFE9"/>
              </a:buClr>
              <a:buSzPts val="11250"/>
              <a:buFont typeface="Arial"/>
              <a:buNone/>
            </a:pPr>
            <a:r>
              <a:rPr b="1" i="0" lang="en-US" sz="11250" u="none" cap="none" strike="noStrike">
                <a:solidFill>
                  <a:srgbClr val="F2EFE9"/>
                </a:solidFill>
                <a:latin typeface="Arial"/>
                <a:ea typeface="Arial"/>
                <a:cs typeface="Arial"/>
                <a:sym typeface="Arial"/>
              </a:rPr>
              <a:t>From answers to autonomous </a:t>
            </a:r>
            <a:r>
              <a:rPr b="1" i="0" lang="en-US" sz="11250" u="none" cap="none" strike="noStrike">
                <a:solidFill>
                  <a:srgbClr val="EE5622"/>
                </a:solidFill>
                <a:latin typeface="Arial"/>
                <a:ea typeface="Arial"/>
                <a:cs typeface="Arial"/>
                <a:sym typeface="Arial"/>
              </a:rPr>
              <a:t>actions.</a:t>
            </a:r>
            <a:endParaRPr b="0" i="0" sz="11250" u="none" cap="none" strike="noStrike">
              <a:solidFill>
                <a:schemeClr val="dk1"/>
              </a:solidFill>
              <a:latin typeface="Calibri"/>
              <a:ea typeface="Calibri"/>
              <a:cs typeface="Calibri"/>
              <a:sym typeface="Calibri"/>
            </a:endParaRPr>
          </a:p>
        </p:txBody>
      </p:sp>
      <p:sp>
        <p:nvSpPr>
          <p:cNvPr id="53" name="Google Shape;53;p4"/>
          <p:cNvSpPr/>
          <p:nvPr/>
        </p:nvSpPr>
        <p:spPr>
          <a:xfrm>
            <a:off x="914301" y="7794625"/>
            <a:ext cx="16459398" cy="9525"/>
          </a:xfrm>
          <a:prstGeom prst="rect">
            <a:avLst/>
          </a:prstGeom>
          <a:solidFill>
            <a:srgbClr val="F2EFE9">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914301" y="8126388"/>
            <a:ext cx="5232400"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050"/>
              <a:buFont typeface="Arial"/>
              <a:buNone/>
            </a:pPr>
            <a:r>
              <a:rPr b="0" i="0" lang="en-US" sz="1050" u="none" cap="none" strike="noStrike">
                <a:solidFill>
                  <a:srgbClr val="F2EFE9"/>
                </a:solidFill>
                <a:latin typeface="Arial"/>
                <a:ea typeface="Arial"/>
                <a:cs typeface="Arial"/>
                <a:sym typeface="Arial"/>
              </a:rPr>
              <a:t>WAS</a:t>
            </a:r>
            <a:endParaRPr b="0" i="0" sz="1050" u="none" cap="none" strike="noStrike">
              <a:solidFill>
                <a:schemeClr val="dk1"/>
              </a:solidFill>
              <a:latin typeface="Calibri"/>
              <a:ea typeface="Calibri"/>
              <a:cs typeface="Calibri"/>
              <a:sym typeface="Calibri"/>
            </a:endParaRPr>
          </a:p>
        </p:txBody>
      </p:sp>
      <p:sp>
        <p:nvSpPr>
          <p:cNvPr id="55" name="Google Shape;55;p4"/>
          <p:cNvSpPr/>
          <p:nvPr/>
        </p:nvSpPr>
        <p:spPr>
          <a:xfrm>
            <a:off x="914301" y="8399363"/>
            <a:ext cx="5232400" cy="782737"/>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F2EFE9"/>
              </a:buClr>
              <a:buSzPts val="2550"/>
              <a:buFont typeface="Arial"/>
              <a:buNone/>
            </a:pPr>
            <a:r>
              <a:rPr b="1" i="0" lang="en-US" sz="2550" u="none" cap="none" strike="noStrike">
                <a:solidFill>
                  <a:srgbClr val="F2EFE9"/>
                </a:solidFill>
                <a:latin typeface="Arial"/>
                <a:ea typeface="Arial"/>
                <a:cs typeface="Arial"/>
                <a:sym typeface="Arial"/>
              </a:rPr>
              <a:t>Episodic question and answer</a:t>
            </a:r>
            <a:endParaRPr b="0" i="0" sz="2550" u="none" cap="none" strike="noStrike">
              <a:solidFill>
                <a:schemeClr val="dk1"/>
              </a:solidFill>
              <a:latin typeface="Calibri"/>
              <a:ea typeface="Calibri"/>
              <a:cs typeface="Calibri"/>
              <a:sym typeface="Calibri"/>
            </a:endParaRPr>
          </a:p>
        </p:txBody>
      </p:sp>
      <p:sp>
        <p:nvSpPr>
          <p:cNvPr id="56" name="Google Shape;56;p4"/>
          <p:cNvSpPr/>
          <p:nvPr/>
        </p:nvSpPr>
        <p:spPr>
          <a:xfrm>
            <a:off x="6603876" y="8126388"/>
            <a:ext cx="5232527"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050"/>
              <a:buFont typeface="Arial"/>
              <a:buNone/>
            </a:pPr>
            <a:r>
              <a:rPr b="0" i="0" lang="en-US" sz="1050" u="none" cap="none" strike="noStrike">
                <a:solidFill>
                  <a:srgbClr val="F2EFE9"/>
                </a:solidFill>
                <a:latin typeface="Arial"/>
                <a:ea typeface="Arial"/>
                <a:cs typeface="Arial"/>
                <a:sym typeface="Arial"/>
              </a:rPr>
              <a:t>IS BECOMING</a:t>
            </a:r>
            <a:endParaRPr b="0" i="0" sz="1050" u="none" cap="none" strike="noStrike">
              <a:solidFill>
                <a:schemeClr val="dk1"/>
              </a:solidFill>
              <a:latin typeface="Calibri"/>
              <a:ea typeface="Calibri"/>
              <a:cs typeface="Calibri"/>
              <a:sym typeface="Calibri"/>
            </a:endParaRPr>
          </a:p>
        </p:txBody>
      </p:sp>
      <p:sp>
        <p:nvSpPr>
          <p:cNvPr id="57" name="Google Shape;57;p4"/>
          <p:cNvSpPr/>
          <p:nvPr/>
        </p:nvSpPr>
        <p:spPr>
          <a:xfrm>
            <a:off x="6603876" y="8399363"/>
            <a:ext cx="5232527" cy="782737"/>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F2EFE9"/>
              </a:buClr>
              <a:buSzPts val="2550"/>
              <a:buFont typeface="Arial"/>
              <a:buNone/>
            </a:pPr>
            <a:r>
              <a:rPr b="1" i="0" lang="en-US" sz="2550" u="none" cap="none" strike="noStrike">
                <a:solidFill>
                  <a:srgbClr val="F2EFE9"/>
                </a:solidFill>
                <a:latin typeface="Arial"/>
                <a:ea typeface="Arial"/>
                <a:cs typeface="Arial"/>
                <a:sym typeface="Arial"/>
              </a:rPr>
              <a:t>Continuous, ambient intelligence</a:t>
            </a:r>
            <a:endParaRPr b="0" i="0" sz="2550" u="none" cap="none" strike="noStrike">
              <a:solidFill>
                <a:schemeClr val="dk1"/>
              </a:solidFill>
              <a:latin typeface="Calibri"/>
              <a:ea typeface="Calibri"/>
              <a:cs typeface="Calibri"/>
              <a:sym typeface="Calibri"/>
            </a:endParaRPr>
          </a:p>
        </p:txBody>
      </p:sp>
      <p:sp>
        <p:nvSpPr>
          <p:cNvPr id="58" name="Google Shape;58;p4"/>
          <p:cNvSpPr/>
          <p:nvPr/>
        </p:nvSpPr>
        <p:spPr>
          <a:xfrm>
            <a:off x="12293575" y="8126388"/>
            <a:ext cx="5232527"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050"/>
              <a:buFont typeface="Arial"/>
              <a:buNone/>
            </a:pPr>
            <a:r>
              <a:rPr b="0" i="0" lang="en-US" sz="1050" u="none" cap="none" strike="noStrike">
                <a:solidFill>
                  <a:srgbClr val="F2EFE9"/>
                </a:solidFill>
                <a:latin typeface="Arial"/>
                <a:ea typeface="Arial"/>
                <a:cs typeface="Arial"/>
                <a:sym typeface="Arial"/>
              </a:rPr>
              <a:t>STAKES</a:t>
            </a:r>
            <a:endParaRPr b="0" i="0" sz="1050" u="none" cap="none" strike="noStrike">
              <a:solidFill>
                <a:schemeClr val="dk1"/>
              </a:solidFill>
              <a:latin typeface="Calibri"/>
              <a:ea typeface="Calibri"/>
              <a:cs typeface="Calibri"/>
              <a:sym typeface="Calibri"/>
            </a:endParaRPr>
          </a:p>
        </p:txBody>
      </p:sp>
      <p:sp>
        <p:nvSpPr>
          <p:cNvPr id="59" name="Google Shape;59;p4"/>
          <p:cNvSpPr/>
          <p:nvPr/>
        </p:nvSpPr>
        <p:spPr>
          <a:xfrm>
            <a:off x="12293575" y="8399363"/>
            <a:ext cx="5232527" cy="782737"/>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EE5622"/>
              </a:buClr>
              <a:buSzPts val="2550"/>
              <a:buFont typeface="Arial"/>
              <a:buNone/>
            </a:pPr>
            <a:r>
              <a:rPr b="1" i="0" lang="en-US" sz="2550" u="none" cap="none" strike="noStrike">
                <a:solidFill>
                  <a:srgbClr val="EE5622"/>
                </a:solidFill>
                <a:latin typeface="Arial"/>
                <a:ea typeface="Arial"/>
                <a:cs typeface="Arial"/>
                <a:sym typeface="Arial"/>
              </a:rPr>
              <a:t>Risk surface </a:t>
            </a:r>
            <a:r>
              <a:rPr b="1" i="0" lang="en-US" sz="2550" u="none" cap="none" strike="noStrike">
                <a:solidFill>
                  <a:srgbClr val="F2EFE9"/>
                </a:solidFill>
                <a:latin typeface="Arial"/>
                <a:ea typeface="Arial"/>
                <a:cs typeface="Arial"/>
                <a:sym typeface="Arial"/>
              </a:rPr>
              <a:t>expands exponentially</a:t>
            </a:r>
            <a:endParaRPr b="0" i="0" sz="2550" u="none" cap="none" strike="noStrike">
              <a:solidFill>
                <a:schemeClr val="dk1"/>
              </a:solidFill>
              <a:latin typeface="Calibri"/>
              <a:ea typeface="Calibri"/>
              <a:cs typeface="Calibri"/>
              <a:sym typeface="Calibri"/>
            </a:endParaRPr>
          </a:p>
        </p:txBody>
      </p:sp>
      <p:sp>
        <p:nvSpPr>
          <p:cNvPr id="60" name="Google Shape;60;p4"/>
          <p:cNvSpPr/>
          <p:nvPr/>
        </p:nvSpPr>
        <p:spPr>
          <a:xfrm>
            <a:off x="0" y="9593337"/>
            <a:ext cx="18288000" cy="9525"/>
          </a:xfrm>
          <a:prstGeom prst="rect">
            <a:avLst/>
          </a:prstGeom>
          <a:solidFill>
            <a:srgbClr val="F2EFE9">
              <a:alpha val="1411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685726" y="9864700"/>
            <a:ext cx="273334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050"/>
              <a:buFont typeface="Arial"/>
              <a:buNone/>
            </a:pPr>
            <a:r>
              <a:rPr b="0" i="0" lang="en-US" sz="1050" u="none" cap="none" strike="noStrike">
                <a:solidFill>
                  <a:srgbClr val="F2EFE9"/>
                </a:solidFill>
                <a:latin typeface="Arial"/>
                <a:ea typeface="Arial"/>
                <a:cs typeface="Arial"/>
                <a:sym typeface="Arial"/>
              </a:rPr>
              <a:t>OIA · ADVISORY BOARD BRIEF</a:t>
            </a:r>
            <a:endParaRPr b="0" i="0" sz="1050" u="none" cap="none" strike="noStrike">
              <a:solidFill>
                <a:schemeClr val="dk1"/>
              </a:solidFill>
              <a:latin typeface="Calibri"/>
              <a:ea typeface="Calibri"/>
              <a:cs typeface="Calibri"/>
              <a:sym typeface="Calibri"/>
            </a:endParaRPr>
          </a:p>
        </p:txBody>
      </p:sp>
      <p:sp>
        <p:nvSpPr>
          <p:cNvPr id="62" name="Google Shape;62;p4"/>
          <p:cNvSpPr/>
          <p:nvPr/>
        </p:nvSpPr>
        <p:spPr>
          <a:xfrm>
            <a:off x="16701368" y="9864700"/>
            <a:ext cx="977106"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050"/>
              <a:buFont typeface="Arial"/>
              <a:buNone/>
            </a:pPr>
            <a:r>
              <a:rPr b="0" i="0" lang="en-US" sz="1050" u="none" cap="none" strike="noStrike">
                <a:solidFill>
                  <a:srgbClr val="F2EFE9"/>
                </a:solidFill>
                <a:latin typeface="Arial"/>
                <a:ea typeface="Arial"/>
                <a:cs typeface="Arial"/>
                <a:sym typeface="Arial"/>
              </a:rPr>
              <a:t>APRIL 2026</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9"/>
        </a:solidFill>
      </p:bgPr>
    </p:bg>
    <p:spTree>
      <p:nvGrpSpPr>
        <p:cNvPr id="67" name="Shape 67"/>
        <p:cNvGrpSpPr/>
        <p:nvPr/>
      </p:nvGrpSpPr>
      <p:grpSpPr>
        <a:xfrm>
          <a:off x="0" y="0"/>
          <a:ext cx="0" cy="0"/>
          <a:chOff x="0" y="0"/>
          <a:chExt cx="0" cy="0"/>
        </a:xfrm>
      </p:grpSpPr>
      <p:sp>
        <p:nvSpPr>
          <p:cNvPr id="68" name="Google Shape;68;p5"/>
          <p:cNvSpPr/>
          <p:nvPr/>
        </p:nvSpPr>
        <p:spPr>
          <a:xfrm>
            <a:off x="0" y="952500"/>
            <a:ext cx="18288000"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685726" y="353219"/>
            <a:ext cx="2785078"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AGENTICS </a:t>
            </a:r>
            <a:r>
              <a:rPr b="0" i="0" lang="en-US" sz="1650" u="none" cap="none" strike="noStrike">
                <a:solidFill>
                  <a:srgbClr val="EE5622"/>
                </a:solidFill>
                <a:latin typeface="Arial"/>
                <a:ea typeface="Arial"/>
                <a:cs typeface="Arial"/>
                <a:sym typeface="Arial"/>
              </a:rPr>
              <a:t>[</a:t>
            </a:r>
            <a:r>
              <a:rPr b="0" i="0" lang="en-US" sz="1650" u="none" cap="none" strike="noStrike">
                <a:solidFill>
                  <a:srgbClr val="0E0E0C"/>
                </a:solidFill>
                <a:latin typeface="Arial"/>
                <a:ea typeface="Arial"/>
                <a:cs typeface="Arial"/>
                <a:sym typeface="Arial"/>
              </a:rPr>
              <a:t>FOUNDATION</a:t>
            </a:r>
            <a:r>
              <a:rPr b="0" i="0" lang="en-US" sz="1650" u="none" cap="none" strike="noStrike">
                <a:solidFill>
                  <a:srgbClr val="EE5622"/>
                </a:solidFill>
                <a:latin typeface="Arial"/>
                <a:ea typeface="Arial"/>
                <a:cs typeface="Arial"/>
                <a:sym typeface="Arial"/>
              </a:rPr>
              <a:t>]</a:t>
            </a:r>
            <a:endParaRPr b="0" i="0" sz="1650" u="none" cap="none" strike="noStrike">
              <a:solidFill>
                <a:schemeClr val="dk1"/>
              </a:solidFill>
              <a:latin typeface="Calibri"/>
              <a:ea typeface="Calibri"/>
              <a:cs typeface="Calibri"/>
              <a:sym typeface="Calibri"/>
            </a:endParaRPr>
          </a:p>
        </p:txBody>
      </p:sp>
      <p:sp>
        <p:nvSpPr>
          <p:cNvPr id="70" name="Google Shape;70;p5"/>
          <p:cNvSpPr/>
          <p:nvPr/>
        </p:nvSpPr>
        <p:spPr>
          <a:xfrm>
            <a:off x="15904393" y="388937"/>
            <a:ext cx="177408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03 / 10 · THE NEED</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914301" y="1714500"/>
            <a:ext cx="1695318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6B6860"/>
                </a:solidFill>
                <a:latin typeface="Arial"/>
                <a:ea typeface="Arial"/>
                <a:cs typeface="Arial"/>
                <a:sym typeface="Arial"/>
              </a:rPr>
              <a:t>A BETTER WAY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72" name="Google Shape;72;p5"/>
          <p:cNvSpPr/>
          <p:nvPr/>
        </p:nvSpPr>
        <p:spPr>
          <a:xfrm>
            <a:off x="914301" y="2231926"/>
            <a:ext cx="533301" cy="38075"/>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914301" y="2652489"/>
            <a:ext cx="16482060" cy="1860748"/>
          </a:xfrm>
          <a:prstGeom prst="rect">
            <a:avLst/>
          </a:prstGeom>
          <a:noFill/>
          <a:ln>
            <a:noFill/>
          </a:ln>
        </p:spPr>
        <p:txBody>
          <a:bodyPr anchorCtr="0" anchor="t" bIns="25400" lIns="25400" spcFirstLastPara="1" rIns="25400" wrap="square" tIns="25400">
            <a:noAutofit/>
          </a:bodyPr>
          <a:lstStyle/>
          <a:p>
            <a:pPr indent="0" lvl="0" marL="0" marR="0" rtl="0" algn="l">
              <a:lnSpc>
                <a:spcPct val="92000"/>
              </a:lnSpc>
              <a:spcBef>
                <a:spcPts val="0"/>
              </a:spcBef>
              <a:spcAft>
                <a:spcPts val="0"/>
              </a:spcAft>
              <a:buClr>
                <a:srgbClr val="0E0E0C"/>
              </a:buClr>
              <a:buSzPts val="7800"/>
              <a:buFont typeface="Arial"/>
              <a:buNone/>
            </a:pPr>
            <a:r>
              <a:rPr b="1" i="0" lang="en-US" sz="7800" u="none" cap="none" strike="noStrike">
                <a:solidFill>
                  <a:srgbClr val="0E0E0C"/>
                </a:solidFill>
                <a:latin typeface="Arial"/>
                <a:ea typeface="Arial"/>
                <a:cs typeface="Arial"/>
                <a:sym typeface="Arial"/>
              </a:rPr>
              <a:t>OSI organized networks. OIA organizes </a:t>
            </a:r>
            <a:r>
              <a:rPr b="1" i="0" lang="en-US" sz="7800" u="none" cap="none" strike="noStrike">
                <a:solidFill>
                  <a:srgbClr val="EE5622"/>
                </a:solidFill>
                <a:latin typeface="Arial"/>
                <a:ea typeface="Arial"/>
                <a:cs typeface="Arial"/>
                <a:sym typeface="Arial"/>
              </a:rPr>
              <a:t>intelligence.</a:t>
            </a:r>
            <a:endParaRPr b="0" i="0" sz="7800" u="none" cap="none" strike="noStrike">
              <a:solidFill>
                <a:schemeClr val="dk1"/>
              </a:solidFill>
              <a:latin typeface="Calibri"/>
              <a:ea typeface="Calibri"/>
              <a:cs typeface="Calibri"/>
              <a:sym typeface="Calibri"/>
            </a:endParaRPr>
          </a:p>
        </p:txBody>
      </p:sp>
      <p:sp>
        <p:nvSpPr>
          <p:cNvPr id="74" name="Google Shape;74;p5"/>
          <p:cNvSpPr/>
          <p:nvPr/>
        </p:nvSpPr>
        <p:spPr>
          <a:xfrm>
            <a:off x="914301" y="5300638"/>
            <a:ext cx="512886"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1984</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1522388" y="5046637"/>
            <a:ext cx="785614" cy="5222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3300"/>
              <a:buFont typeface="Arial"/>
              <a:buNone/>
            </a:pPr>
            <a:r>
              <a:rPr b="0" i="0" lang="en-US" sz="3300" u="none" cap="none" strike="noStrike">
                <a:solidFill>
                  <a:srgbClr val="0E0E0C"/>
                </a:solidFill>
                <a:latin typeface="Arial"/>
                <a:ea typeface="Arial"/>
                <a:cs typeface="Arial"/>
                <a:sym typeface="Arial"/>
              </a:rPr>
              <a:t>OSI</a:t>
            </a:r>
            <a:endParaRPr b="0" i="0" sz="3300" u="none" cap="none" strike="noStrike">
              <a:solidFill>
                <a:schemeClr val="dk1"/>
              </a:solidFill>
              <a:latin typeface="Calibri"/>
              <a:ea typeface="Calibri"/>
              <a:cs typeface="Calibri"/>
              <a:sym typeface="Calibri"/>
            </a:endParaRPr>
          </a:p>
        </p:txBody>
      </p:sp>
      <p:sp>
        <p:nvSpPr>
          <p:cNvPr id="76" name="Google Shape;76;p5"/>
          <p:cNvSpPr/>
          <p:nvPr/>
        </p:nvSpPr>
        <p:spPr>
          <a:xfrm>
            <a:off x="914301" y="5778376"/>
            <a:ext cx="6278880" cy="757932"/>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2A2927"/>
              </a:buClr>
              <a:buSzPts val="2100"/>
              <a:buFont typeface="Arial"/>
              <a:buNone/>
            </a:pPr>
            <a:r>
              <a:rPr b="0" i="0" lang="en-US" sz="2100" u="none" cap="none" strike="noStrike">
                <a:solidFill>
                  <a:srgbClr val="2A2927"/>
                </a:solidFill>
                <a:latin typeface="Arial"/>
                <a:ea typeface="Arial"/>
                <a:cs typeface="Arial"/>
                <a:sym typeface="Arial"/>
              </a:rPr>
              <a:t>A durable structural vocabulary let the industry scale because everyone spoke the same language.</a:t>
            </a:r>
            <a:endParaRPr b="0" i="0" sz="2100" u="none" cap="none" strike="noStrike">
              <a:solidFill>
                <a:schemeClr val="dk1"/>
              </a:solidFill>
              <a:latin typeface="Calibri"/>
              <a:ea typeface="Calibri"/>
              <a:cs typeface="Calibri"/>
              <a:sym typeface="Calibri"/>
            </a:endParaRPr>
          </a:p>
        </p:txBody>
      </p:sp>
      <p:sp>
        <p:nvSpPr>
          <p:cNvPr id="77" name="Google Shape;77;p5"/>
          <p:cNvSpPr/>
          <p:nvPr/>
        </p:nvSpPr>
        <p:spPr>
          <a:xfrm>
            <a:off x="914301" y="6805290"/>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L7</a:t>
            </a:r>
            <a:endParaRPr b="0" i="0" sz="1125" u="none" cap="none" strike="noStrike">
              <a:solidFill>
                <a:schemeClr val="dk1"/>
              </a:solidFill>
              <a:latin typeface="Calibri"/>
              <a:ea typeface="Calibri"/>
              <a:cs typeface="Calibri"/>
              <a:sym typeface="Calibri"/>
            </a:endParaRPr>
          </a:p>
        </p:txBody>
      </p:sp>
      <p:sp>
        <p:nvSpPr>
          <p:cNvPr id="78" name="Google Shape;78;p5"/>
          <p:cNvSpPr/>
          <p:nvPr/>
        </p:nvSpPr>
        <p:spPr>
          <a:xfrm>
            <a:off x="1257101" y="6802934"/>
            <a:ext cx="7310685" cy="171400"/>
          </a:xfrm>
          <a:prstGeom prst="rect">
            <a:avLst/>
          </a:prstGeom>
          <a:solidFill>
            <a:srgbClr val="0E0E0C">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914301" y="7033741"/>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L6</a:t>
            </a:r>
            <a:endParaRPr b="0" i="0" sz="1125" u="none" cap="none" strike="noStrike">
              <a:solidFill>
                <a:schemeClr val="dk1"/>
              </a:solidFill>
              <a:latin typeface="Calibri"/>
              <a:ea typeface="Calibri"/>
              <a:cs typeface="Calibri"/>
              <a:sym typeface="Calibri"/>
            </a:endParaRPr>
          </a:p>
        </p:txBody>
      </p:sp>
      <p:sp>
        <p:nvSpPr>
          <p:cNvPr id="80" name="Google Shape;80;p5"/>
          <p:cNvSpPr/>
          <p:nvPr/>
        </p:nvSpPr>
        <p:spPr>
          <a:xfrm>
            <a:off x="1257101" y="7031385"/>
            <a:ext cx="7310685" cy="171400"/>
          </a:xfrm>
          <a:prstGeom prst="rect">
            <a:avLst/>
          </a:prstGeom>
          <a:solidFill>
            <a:srgbClr val="0E0E0C">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914301" y="7262192"/>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L5</a:t>
            </a:r>
            <a:endParaRPr b="0" i="0" sz="1125" u="none" cap="none" strike="noStrike">
              <a:solidFill>
                <a:schemeClr val="dk1"/>
              </a:solidFill>
              <a:latin typeface="Calibri"/>
              <a:ea typeface="Calibri"/>
              <a:cs typeface="Calibri"/>
              <a:sym typeface="Calibri"/>
            </a:endParaRPr>
          </a:p>
        </p:txBody>
      </p:sp>
      <p:sp>
        <p:nvSpPr>
          <p:cNvPr id="82" name="Google Shape;82;p5"/>
          <p:cNvSpPr/>
          <p:nvPr/>
        </p:nvSpPr>
        <p:spPr>
          <a:xfrm>
            <a:off x="1257101" y="7259836"/>
            <a:ext cx="7310685" cy="171400"/>
          </a:xfrm>
          <a:prstGeom prst="rect">
            <a:avLst/>
          </a:prstGeom>
          <a:solidFill>
            <a:srgbClr val="0E0E0C">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914301" y="7490643"/>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L4</a:t>
            </a:r>
            <a:endParaRPr b="0" i="0" sz="1125" u="none" cap="none" strike="noStrike">
              <a:solidFill>
                <a:schemeClr val="dk1"/>
              </a:solidFill>
              <a:latin typeface="Calibri"/>
              <a:ea typeface="Calibri"/>
              <a:cs typeface="Calibri"/>
              <a:sym typeface="Calibri"/>
            </a:endParaRPr>
          </a:p>
        </p:txBody>
      </p:sp>
      <p:sp>
        <p:nvSpPr>
          <p:cNvPr id="84" name="Google Shape;84;p5"/>
          <p:cNvSpPr/>
          <p:nvPr/>
        </p:nvSpPr>
        <p:spPr>
          <a:xfrm>
            <a:off x="1257101" y="7488287"/>
            <a:ext cx="7310685" cy="171400"/>
          </a:xfrm>
          <a:prstGeom prst="rect">
            <a:avLst/>
          </a:prstGeom>
          <a:solidFill>
            <a:srgbClr val="0E0E0C">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914301" y="7719095"/>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L3</a:t>
            </a:r>
            <a:endParaRPr b="0" i="0" sz="1125" u="none" cap="none" strike="noStrike">
              <a:solidFill>
                <a:schemeClr val="dk1"/>
              </a:solidFill>
              <a:latin typeface="Calibri"/>
              <a:ea typeface="Calibri"/>
              <a:cs typeface="Calibri"/>
              <a:sym typeface="Calibri"/>
            </a:endParaRPr>
          </a:p>
        </p:txBody>
      </p:sp>
      <p:sp>
        <p:nvSpPr>
          <p:cNvPr id="86" name="Google Shape;86;p5"/>
          <p:cNvSpPr/>
          <p:nvPr/>
        </p:nvSpPr>
        <p:spPr>
          <a:xfrm>
            <a:off x="1257101" y="7716738"/>
            <a:ext cx="7310685" cy="171400"/>
          </a:xfrm>
          <a:prstGeom prst="rect">
            <a:avLst/>
          </a:prstGeom>
          <a:solidFill>
            <a:srgbClr val="0E0E0C">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914301" y="7947546"/>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L2</a:t>
            </a:r>
            <a:endParaRPr b="0" i="0" sz="1125" u="none" cap="none" strike="noStrike">
              <a:solidFill>
                <a:schemeClr val="dk1"/>
              </a:solidFill>
              <a:latin typeface="Calibri"/>
              <a:ea typeface="Calibri"/>
              <a:cs typeface="Calibri"/>
              <a:sym typeface="Calibri"/>
            </a:endParaRPr>
          </a:p>
        </p:txBody>
      </p:sp>
      <p:sp>
        <p:nvSpPr>
          <p:cNvPr id="88" name="Google Shape;88;p5"/>
          <p:cNvSpPr/>
          <p:nvPr/>
        </p:nvSpPr>
        <p:spPr>
          <a:xfrm>
            <a:off x="1257101" y="7945189"/>
            <a:ext cx="7310685" cy="171400"/>
          </a:xfrm>
          <a:prstGeom prst="rect">
            <a:avLst/>
          </a:prstGeom>
          <a:solidFill>
            <a:srgbClr val="0E0E0C">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914301" y="8175997"/>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L1</a:t>
            </a:r>
            <a:endParaRPr b="0" i="0" sz="1125" u="none" cap="none" strike="noStrike">
              <a:solidFill>
                <a:schemeClr val="dk1"/>
              </a:solidFill>
              <a:latin typeface="Calibri"/>
              <a:ea typeface="Calibri"/>
              <a:cs typeface="Calibri"/>
              <a:sym typeface="Calibri"/>
            </a:endParaRPr>
          </a:p>
        </p:txBody>
      </p:sp>
      <p:sp>
        <p:nvSpPr>
          <p:cNvPr id="90" name="Google Shape;90;p5"/>
          <p:cNvSpPr/>
          <p:nvPr/>
        </p:nvSpPr>
        <p:spPr>
          <a:xfrm>
            <a:off x="1257101" y="8173641"/>
            <a:ext cx="7310685" cy="171400"/>
          </a:xfrm>
          <a:prstGeom prst="rect">
            <a:avLst/>
          </a:prstGeom>
          <a:solidFill>
            <a:srgbClr val="0E0E0C">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9139287" y="5046637"/>
            <a:ext cx="9525" cy="4097486"/>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9720213" y="5300638"/>
            <a:ext cx="1351285"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2026 · DRAFT</a:t>
            </a:r>
            <a:endParaRPr b="0" i="0" sz="1200" u="none" cap="none" strike="noStrike">
              <a:solidFill>
                <a:schemeClr val="dk1"/>
              </a:solidFill>
              <a:latin typeface="Calibri"/>
              <a:ea typeface="Calibri"/>
              <a:cs typeface="Calibri"/>
              <a:sym typeface="Calibri"/>
            </a:endParaRPr>
          </a:p>
        </p:txBody>
      </p:sp>
      <p:sp>
        <p:nvSpPr>
          <p:cNvPr id="93" name="Google Shape;93;p5"/>
          <p:cNvSpPr/>
          <p:nvPr/>
        </p:nvSpPr>
        <p:spPr>
          <a:xfrm>
            <a:off x="11166697" y="5046637"/>
            <a:ext cx="785614" cy="5222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3300"/>
              <a:buFont typeface="Arial"/>
              <a:buNone/>
            </a:pPr>
            <a:r>
              <a:rPr b="0" i="0" lang="en-US" sz="3300" u="none" cap="none" strike="noStrike">
                <a:solidFill>
                  <a:srgbClr val="0E0E0C"/>
                </a:solidFill>
                <a:latin typeface="Arial"/>
                <a:ea typeface="Arial"/>
                <a:cs typeface="Arial"/>
                <a:sym typeface="Arial"/>
              </a:rPr>
              <a:t>OIA</a:t>
            </a:r>
            <a:endParaRPr b="0" i="0" sz="3300" u="none" cap="none" strike="noStrike">
              <a:solidFill>
                <a:schemeClr val="dk1"/>
              </a:solidFill>
              <a:latin typeface="Calibri"/>
              <a:ea typeface="Calibri"/>
              <a:cs typeface="Calibri"/>
              <a:sym typeface="Calibri"/>
            </a:endParaRPr>
          </a:p>
        </p:txBody>
      </p:sp>
      <p:sp>
        <p:nvSpPr>
          <p:cNvPr id="94" name="Google Shape;94;p5"/>
          <p:cNvSpPr/>
          <p:nvPr/>
        </p:nvSpPr>
        <p:spPr>
          <a:xfrm>
            <a:off x="9720213" y="5778376"/>
            <a:ext cx="6278880" cy="757932"/>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2A2927"/>
              </a:buClr>
              <a:buSzPts val="2100"/>
              <a:buFont typeface="Arial"/>
              <a:buNone/>
            </a:pPr>
            <a:r>
              <a:rPr b="0" i="0" lang="en-US" sz="2100" u="none" cap="none" strike="noStrike">
                <a:solidFill>
                  <a:srgbClr val="2A2927"/>
                </a:solidFill>
                <a:latin typeface="Arial"/>
                <a:ea typeface="Arial"/>
                <a:cs typeface="Arial"/>
                <a:sym typeface="Arial"/>
              </a:rPr>
              <a:t>An architecture designed from the ground up for persistence, autonomy, and consequence.</a:t>
            </a:r>
            <a:endParaRPr b="0" i="0" sz="2100" u="none" cap="none" strike="noStrike">
              <a:solidFill>
                <a:schemeClr val="dk1"/>
              </a:solidFill>
              <a:latin typeface="Calibri"/>
              <a:ea typeface="Calibri"/>
              <a:cs typeface="Calibri"/>
              <a:sym typeface="Calibri"/>
            </a:endParaRPr>
          </a:p>
        </p:txBody>
      </p:sp>
      <p:sp>
        <p:nvSpPr>
          <p:cNvPr id="95" name="Google Shape;95;p5"/>
          <p:cNvSpPr/>
          <p:nvPr/>
        </p:nvSpPr>
        <p:spPr>
          <a:xfrm>
            <a:off x="9720213" y="6805290"/>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L9</a:t>
            </a:r>
            <a:endParaRPr b="0" i="0" sz="1125" u="none" cap="none" strike="noStrike">
              <a:solidFill>
                <a:schemeClr val="dk1"/>
              </a:solidFill>
              <a:latin typeface="Calibri"/>
              <a:ea typeface="Calibri"/>
              <a:cs typeface="Calibri"/>
              <a:sym typeface="Calibri"/>
            </a:endParaRPr>
          </a:p>
        </p:txBody>
      </p:sp>
      <p:sp>
        <p:nvSpPr>
          <p:cNvPr id="96" name="Google Shape;96;p5"/>
          <p:cNvSpPr/>
          <p:nvPr/>
        </p:nvSpPr>
        <p:spPr>
          <a:xfrm>
            <a:off x="10063014" y="6802934"/>
            <a:ext cx="7310685" cy="171400"/>
          </a:xfrm>
          <a:prstGeom prst="rect">
            <a:avLst/>
          </a:prstGeom>
          <a:solidFill>
            <a:srgbClr val="EE5622">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9720213" y="7033741"/>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L8</a:t>
            </a:r>
            <a:endParaRPr b="0" i="0" sz="1125" u="none" cap="none" strike="noStrike">
              <a:solidFill>
                <a:schemeClr val="dk1"/>
              </a:solidFill>
              <a:latin typeface="Calibri"/>
              <a:ea typeface="Calibri"/>
              <a:cs typeface="Calibri"/>
              <a:sym typeface="Calibri"/>
            </a:endParaRPr>
          </a:p>
        </p:txBody>
      </p:sp>
      <p:sp>
        <p:nvSpPr>
          <p:cNvPr id="98" name="Google Shape;98;p5"/>
          <p:cNvSpPr/>
          <p:nvPr/>
        </p:nvSpPr>
        <p:spPr>
          <a:xfrm>
            <a:off x="10063014" y="7031385"/>
            <a:ext cx="7310685" cy="171400"/>
          </a:xfrm>
          <a:prstGeom prst="rect">
            <a:avLst/>
          </a:prstGeom>
          <a:solidFill>
            <a:srgbClr val="EE5622">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9720213" y="7262192"/>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L7</a:t>
            </a:r>
            <a:endParaRPr b="0" i="0" sz="1125" u="none" cap="none" strike="noStrike">
              <a:solidFill>
                <a:schemeClr val="dk1"/>
              </a:solidFill>
              <a:latin typeface="Calibri"/>
              <a:ea typeface="Calibri"/>
              <a:cs typeface="Calibri"/>
              <a:sym typeface="Calibri"/>
            </a:endParaRPr>
          </a:p>
        </p:txBody>
      </p:sp>
      <p:sp>
        <p:nvSpPr>
          <p:cNvPr id="100" name="Google Shape;100;p5"/>
          <p:cNvSpPr/>
          <p:nvPr/>
        </p:nvSpPr>
        <p:spPr>
          <a:xfrm>
            <a:off x="10063014" y="7259836"/>
            <a:ext cx="7310685" cy="171400"/>
          </a:xfrm>
          <a:prstGeom prst="rect">
            <a:avLst/>
          </a:prstGeom>
          <a:solidFill>
            <a:srgbClr val="EE5622">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9720213" y="7490643"/>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L6</a:t>
            </a:r>
            <a:endParaRPr b="0" i="0" sz="1125" u="none" cap="none" strike="noStrike">
              <a:solidFill>
                <a:schemeClr val="dk1"/>
              </a:solidFill>
              <a:latin typeface="Calibri"/>
              <a:ea typeface="Calibri"/>
              <a:cs typeface="Calibri"/>
              <a:sym typeface="Calibri"/>
            </a:endParaRPr>
          </a:p>
        </p:txBody>
      </p:sp>
      <p:sp>
        <p:nvSpPr>
          <p:cNvPr id="102" name="Google Shape;102;p5"/>
          <p:cNvSpPr/>
          <p:nvPr/>
        </p:nvSpPr>
        <p:spPr>
          <a:xfrm>
            <a:off x="10063014" y="7488287"/>
            <a:ext cx="7310685" cy="171400"/>
          </a:xfrm>
          <a:prstGeom prst="rect">
            <a:avLst/>
          </a:prstGeom>
          <a:solidFill>
            <a:srgbClr val="EE5622">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9720213" y="7719095"/>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L5</a:t>
            </a:r>
            <a:endParaRPr b="0" i="0" sz="1125" u="none" cap="none" strike="noStrike">
              <a:solidFill>
                <a:schemeClr val="dk1"/>
              </a:solidFill>
              <a:latin typeface="Calibri"/>
              <a:ea typeface="Calibri"/>
              <a:cs typeface="Calibri"/>
              <a:sym typeface="Calibri"/>
            </a:endParaRPr>
          </a:p>
        </p:txBody>
      </p:sp>
      <p:sp>
        <p:nvSpPr>
          <p:cNvPr id="104" name="Google Shape;104;p5"/>
          <p:cNvSpPr/>
          <p:nvPr/>
        </p:nvSpPr>
        <p:spPr>
          <a:xfrm>
            <a:off x="10063014" y="7716738"/>
            <a:ext cx="7310685" cy="171400"/>
          </a:xfrm>
          <a:prstGeom prst="rect">
            <a:avLst/>
          </a:prstGeom>
          <a:solidFill>
            <a:srgbClr val="EE5622">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9720213" y="7947546"/>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L4</a:t>
            </a:r>
            <a:endParaRPr b="0" i="0" sz="1125" u="none" cap="none" strike="noStrike">
              <a:solidFill>
                <a:schemeClr val="dk1"/>
              </a:solidFill>
              <a:latin typeface="Calibri"/>
              <a:ea typeface="Calibri"/>
              <a:cs typeface="Calibri"/>
              <a:sym typeface="Calibri"/>
            </a:endParaRPr>
          </a:p>
        </p:txBody>
      </p:sp>
      <p:sp>
        <p:nvSpPr>
          <p:cNvPr id="106" name="Google Shape;106;p5"/>
          <p:cNvSpPr/>
          <p:nvPr/>
        </p:nvSpPr>
        <p:spPr>
          <a:xfrm>
            <a:off x="10063014" y="7945189"/>
            <a:ext cx="7310685" cy="171400"/>
          </a:xfrm>
          <a:prstGeom prst="rect">
            <a:avLst/>
          </a:prstGeom>
          <a:solidFill>
            <a:srgbClr val="EE5622">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9720213" y="8175997"/>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L3</a:t>
            </a:r>
            <a:endParaRPr b="0" i="0" sz="1125" u="none" cap="none" strike="noStrike">
              <a:solidFill>
                <a:schemeClr val="dk1"/>
              </a:solidFill>
              <a:latin typeface="Calibri"/>
              <a:ea typeface="Calibri"/>
              <a:cs typeface="Calibri"/>
              <a:sym typeface="Calibri"/>
            </a:endParaRPr>
          </a:p>
        </p:txBody>
      </p:sp>
      <p:sp>
        <p:nvSpPr>
          <p:cNvPr id="108" name="Google Shape;108;p5"/>
          <p:cNvSpPr/>
          <p:nvPr/>
        </p:nvSpPr>
        <p:spPr>
          <a:xfrm>
            <a:off x="10063014" y="8173641"/>
            <a:ext cx="7310685" cy="171400"/>
          </a:xfrm>
          <a:prstGeom prst="rect">
            <a:avLst/>
          </a:prstGeom>
          <a:solidFill>
            <a:srgbClr val="EE5622">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9720213" y="8404448"/>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L2</a:t>
            </a:r>
            <a:endParaRPr b="0" i="0" sz="1125" u="none" cap="none" strike="noStrike">
              <a:solidFill>
                <a:schemeClr val="dk1"/>
              </a:solidFill>
              <a:latin typeface="Calibri"/>
              <a:ea typeface="Calibri"/>
              <a:cs typeface="Calibri"/>
              <a:sym typeface="Calibri"/>
            </a:endParaRPr>
          </a:p>
        </p:txBody>
      </p:sp>
      <p:sp>
        <p:nvSpPr>
          <p:cNvPr id="110" name="Google Shape;110;p5"/>
          <p:cNvSpPr/>
          <p:nvPr/>
        </p:nvSpPr>
        <p:spPr>
          <a:xfrm>
            <a:off x="10063014" y="8402092"/>
            <a:ext cx="7310685" cy="171400"/>
          </a:xfrm>
          <a:prstGeom prst="rect">
            <a:avLst/>
          </a:prstGeom>
          <a:solidFill>
            <a:srgbClr val="EE5622">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9720213" y="8632899"/>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L1</a:t>
            </a:r>
            <a:endParaRPr b="0" i="0" sz="1125" u="none" cap="none" strike="noStrike">
              <a:solidFill>
                <a:schemeClr val="dk1"/>
              </a:solidFill>
              <a:latin typeface="Calibri"/>
              <a:ea typeface="Calibri"/>
              <a:cs typeface="Calibri"/>
              <a:sym typeface="Calibri"/>
            </a:endParaRPr>
          </a:p>
        </p:txBody>
      </p:sp>
      <p:sp>
        <p:nvSpPr>
          <p:cNvPr id="112" name="Google Shape;112;p5"/>
          <p:cNvSpPr/>
          <p:nvPr/>
        </p:nvSpPr>
        <p:spPr>
          <a:xfrm>
            <a:off x="10063014" y="8630543"/>
            <a:ext cx="7310685" cy="171400"/>
          </a:xfrm>
          <a:prstGeom prst="rect">
            <a:avLst/>
          </a:prstGeom>
          <a:solidFill>
            <a:srgbClr val="EE5622">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9720213" y="8861350"/>
            <a:ext cx="285676" cy="2047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125"/>
              <a:buFont typeface="Arial"/>
              <a:buNone/>
            </a:pPr>
            <a:r>
              <a:rPr b="0" i="0" lang="en-US" sz="1125" u="none" cap="none" strike="noStrike">
                <a:solidFill>
                  <a:srgbClr val="6B6860"/>
                </a:solidFill>
                <a:latin typeface="Arial"/>
                <a:ea typeface="Arial"/>
                <a:cs typeface="Arial"/>
                <a:sym typeface="Arial"/>
              </a:rPr>
              <a:t>L0</a:t>
            </a:r>
            <a:endParaRPr b="0" i="0" sz="1125" u="none" cap="none" strike="noStrike">
              <a:solidFill>
                <a:schemeClr val="dk1"/>
              </a:solidFill>
              <a:latin typeface="Calibri"/>
              <a:ea typeface="Calibri"/>
              <a:cs typeface="Calibri"/>
              <a:sym typeface="Calibri"/>
            </a:endParaRPr>
          </a:p>
        </p:txBody>
      </p:sp>
      <p:sp>
        <p:nvSpPr>
          <p:cNvPr id="114" name="Google Shape;114;p5"/>
          <p:cNvSpPr/>
          <p:nvPr/>
        </p:nvSpPr>
        <p:spPr>
          <a:xfrm>
            <a:off x="10063014" y="8858994"/>
            <a:ext cx="7310685" cy="171400"/>
          </a:xfrm>
          <a:prstGeom prst="rect">
            <a:avLst/>
          </a:prstGeom>
          <a:solidFill>
            <a:srgbClr val="EE5622">
              <a:alpha val="8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0" y="9593337"/>
            <a:ext cx="18288000"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685726" y="9864700"/>
            <a:ext cx="273334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OIA · ADVISORY BOARD BRIEF</a:t>
            </a:r>
            <a:endParaRPr b="0" i="0" sz="1050" u="none" cap="none" strike="noStrike">
              <a:solidFill>
                <a:schemeClr val="dk1"/>
              </a:solidFill>
              <a:latin typeface="Calibri"/>
              <a:ea typeface="Calibri"/>
              <a:cs typeface="Calibri"/>
              <a:sym typeface="Calibri"/>
            </a:endParaRPr>
          </a:p>
        </p:txBody>
      </p:sp>
      <p:sp>
        <p:nvSpPr>
          <p:cNvPr id="117" name="Google Shape;117;p5"/>
          <p:cNvSpPr/>
          <p:nvPr/>
        </p:nvSpPr>
        <p:spPr>
          <a:xfrm>
            <a:off x="16701368" y="9864700"/>
            <a:ext cx="977106"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APRIL 2026</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9"/>
        </a:solidFill>
      </p:bgPr>
    </p:bg>
    <p:spTree>
      <p:nvGrpSpPr>
        <p:cNvPr id="122" name="Shape 122"/>
        <p:cNvGrpSpPr/>
        <p:nvPr/>
      </p:nvGrpSpPr>
      <p:grpSpPr>
        <a:xfrm>
          <a:off x="0" y="0"/>
          <a:ext cx="0" cy="0"/>
          <a:chOff x="0" y="0"/>
          <a:chExt cx="0" cy="0"/>
        </a:xfrm>
      </p:grpSpPr>
      <p:sp>
        <p:nvSpPr>
          <p:cNvPr id="123" name="Google Shape;123;p6"/>
          <p:cNvSpPr/>
          <p:nvPr/>
        </p:nvSpPr>
        <p:spPr>
          <a:xfrm>
            <a:off x="0" y="952500"/>
            <a:ext cx="18288000"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685726" y="353219"/>
            <a:ext cx="2785078"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AGENTICS </a:t>
            </a:r>
            <a:r>
              <a:rPr b="0" i="0" lang="en-US" sz="1650" u="none" cap="none" strike="noStrike">
                <a:solidFill>
                  <a:srgbClr val="EE5622"/>
                </a:solidFill>
                <a:latin typeface="Arial"/>
                <a:ea typeface="Arial"/>
                <a:cs typeface="Arial"/>
                <a:sym typeface="Arial"/>
              </a:rPr>
              <a:t>[</a:t>
            </a:r>
            <a:r>
              <a:rPr b="0" i="0" lang="en-US" sz="1650" u="none" cap="none" strike="noStrike">
                <a:solidFill>
                  <a:srgbClr val="0E0E0C"/>
                </a:solidFill>
                <a:latin typeface="Arial"/>
                <a:ea typeface="Arial"/>
                <a:cs typeface="Arial"/>
                <a:sym typeface="Arial"/>
              </a:rPr>
              <a:t>FOUNDATION</a:t>
            </a:r>
            <a:r>
              <a:rPr b="0" i="0" lang="en-US" sz="1650" u="none" cap="none" strike="noStrike">
                <a:solidFill>
                  <a:srgbClr val="EE5622"/>
                </a:solidFill>
                <a:latin typeface="Arial"/>
                <a:ea typeface="Arial"/>
                <a:cs typeface="Arial"/>
                <a:sym typeface="Arial"/>
              </a:rPr>
              <a:t>]</a:t>
            </a:r>
            <a:endParaRPr b="0" i="0" sz="1650" u="none" cap="none" strike="noStrike">
              <a:solidFill>
                <a:schemeClr val="dk1"/>
              </a:solidFill>
              <a:latin typeface="Calibri"/>
              <a:ea typeface="Calibri"/>
              <a:cs typeface="Calibri"/>
              <a:sym typeface="Calibri"/>
            </a:endParaRPr>
          </a:p>
        </p:txBody>
      </p:sp>
      <p:sp>
        <p:nvSpPr>
          <p:cNvPr id="125" name="Google Shape;125;p6"/>
          <p:cNvSpPr/>
          <p:nvPr/>
        </p:nvSpPr>
        <p:spPr>
          <a:xfrm>
            <a:off x="14783221" y="388937"/>
            <a:ext cx="2903624"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04 / 10 · PRODUCE VS OPERATE</a:t>
            </a:r>
            <a:endParaRPr b="0" i="0" sz="1200" u="none" cap="none" strike="noStrike">
              <a:solidFill>
                <a:schemeClr val="dk1"/>
              </a:solidFill>
              <a:latin typeface="Calibri"/>
              <a:ea typeface="Calibri"/>
              <a:cs typeface="Calibri"/>
              <a:sym typeface="Calibri"/>
            </a:endParaRPr>
          </a:p>
        </p:txBody>
      </p:sp>
      <p:sp>
        <p:nvSpPr>
          <p:cNvPr id="126" name="Google Shape;126;p6"/>
          <p:cNvSpPr/>
          <p:nvPr/>
        </p:nvSpPr>
        <p:spPr>
          <a:xfrm>
            <a:off x="762000" y="1409650"/>
            <a:ext cx="1726692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6B6860"/>
                </a:solidFill>
                <a:latin typeface="Arial"/>
                <a:ea typeface="Arial"/>
                <a:cs typeface="Arial"/>
                <a:sym typeface="Arial"/>
              </a:rPr>
              <a:t>INDUSTRY FRAMING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127" name="Google Shape;127;p6"/>
          <p:cNvSpPr/>
          <p:nvPr/>
        </p:nvSpPr>
        <p:spPr>
          <a:xfrm>
            <a:off x="762000" y="1850926"/>
            <a:ext cx="533301" cy="38075"/>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762000" y="2290589"/>
            <a:ext cx="11440764" cy="1120577"/>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0E0E0C"/>
              </a:buClr>
              <a:buSzPts val="4350"/>
              <a:buFont typeface="Arial"/>
              <a:buNone/>
            </a:pPr>
            <a:r>
              <a:rPr b="1" i="0" lang="en-US" sz="4350" u="none" cap="none" strike="noStrike">
                <a:solidFill>
                  <a:srgbClr val="0E0E0C"/>
                </a:solidFill>
                <a:latin typeface="Arial"/>
                <a:ea typeface="Arial"/>
                <a:cs typeface="Arial"/>
                <a:sym typeface="Arial"/>
              </a:rPr>
              <a:t>AI produces intelligence. OIA makes it </a:t>
            </a:r>
            <a:r>
              <a:rPr b="1" i="0" lang="en-US" sz="4350" u="none" cap="none" strike="noStrike">
                <a:solidFill>
                  <a:srgbClr val="EE5622"/>
                </a:solidFill>
                <a:latin typeface="Arial"/>
                <a:ea typeface="Arial"/>
                <a:cs typeface="Arial"/>
                <a:sym typeface="Arial"/>
              </a:rPr>
              <a:t>operate.</a:t>
            </a:r>
            <a:endParaRPr b="0" i="0" sz="4350" u="none" cap="none" strike="noStrike">
              <a:solidFill>
                <a:schemeClr val="dk1"/>
              </a:solidFill>
              <a:latin typeface="Calibri"/>
              <a:ea typeface="Calibri"/>
              <a:cs typeface="Calibri"/>
              <a:sym typeface="Calibri"/>
            </a:endParaRPr>
          </a:p>
        </p:txBody>
      </p:sp>
      <p:sp>
        <p:nvSpPr>
          <p:cNvPr id="129" name="Google Shape;129;p6"/>
          <p:cNvSpPr/>
          <p:nvPr/>
        </p:nvSpPr>
        <p:spPr>
          <a:xfrm>
            <a:off x="12092274" y="2807271"/>
            <a:ext cx="5433724" cy="603895"/>
          </a:xfrm>
          <a:prstGeom prst="rect">
            <a:avLst/>
          </a:prstGeom>
          <a:noFill/>
          <a:ln>
            <a:noFill/>
          </a:ln>
        </p:spPr>
        <p:txBody>
          <a:bodyPr anchorCtr="0" anchor="t" bIns="25400" lIns="25400" spcFirstLastPara="1" rIns="25400" wrap="square" tIns="25400">
            <a:noAutofit/>
          </a:bodyPr>
          <a:lstStyle/>
          <a:p>
            <a:pPr indent="0" lvl="0" marL="0" marR="0" rtl="0" algn="r">
              <a:lnSpc>
                <a:spcPct val="135000"/>
              </a:lnSpc>
              <a:spcBef>
                <a:spcPts val="0"/>
              </a:spcBef>
              <a:spcAft>
                <a:spcPts val="0"/>
              </a:spcAft>
              <a:buClr>
                <a:srgbClr val="2A2927"/>
              </a:buClr>
              <a:buSzPts val="1650"/>
              <a:buFont typeface="Arial"/>
              <a:buNone/>
            </a:pPr>
            <a:r>
              <a:rPr b="0" i="0" lang="en-US" sz="1650" u="none" cap="none" strike="noStrike">
                <a:solidFill>
                  <a:srgbClr val="2A2927"/>
                </a:solidFill>
                <a:latin typeface="Arial"/>
                <a:ea typeface="Arial"/>
                <a:cs typeface="Arial"/>
                <a:sym typeface="Arial"/>
              </a:rPr>
              <a:t>Jensen defines how intelligence is produced. OIA defines how it persists, acts, and can be trusted.</a:t>
            </a:r>
            <a:endParaRPr b="0" i="0" sz="1650" u="none" cap="none" strike="noStrike">
              <a:solidFill>
                <a:schemeClr val="dk1"/>
              </a:solidFill>
              <a:latin typeface="Calibri"/>
              <a:ea typeface="Calibri"/>
              <a:cs typeface="Calibri"/>
              <a:sym typeface="Calibri"/>
            </a:endParaRPr>
          </a:p>
        </p:txBody>
      </p:sp>
      <p:sp>
        <p:nvSpPr>
          <p:cNvPr id="130" name="Google Shape;130;p6"/>
          <p:cNvSpPr/>
          <p:nvPr/>
        </p:nvSpPr>
        <p:spPr>
          <a:xfrm>
            <a:off x="762000" y="3563565"/>
            <a:ext cx="8153424" cy="544463"/>
          </a:xfrm>
          <a:prstGeom prst="rect">
            <a:avLst/>
          </a:prstGeom>
          <a:solidFill>
            <a:srgbClr val="0E0E0C"/>
          </a:solidFill>
          <a:ln cap="flat" cmpd="sng" w="9525">
            <a:solidFill>
              <a:srgbClr val="0E0E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971475" y="3714137"/>
            <a:ext cx="2733300" cy="3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800"/>
              <a:buFont typeface="Arial"/>
              <a:buNone/>
            </a:pPr>
            <a:r>
              <a:rPr b="1" i="0" lang="en-US" sz="2000" u="none" cap="none" strike="noStrike">
                <a:solidFill>
                  <a:srgbClr val="F2EFE9"/>
                </a:solidFill>
              </a:rPr>
              <a:t>NVIDIA AI Stack</a:t>
            </a:r>
            <a:endParaRPr b="1" i="0" sz="2000" u="none" cap="none" strike="noStrike">
              <a:solidFill>
                <a:schemeClr val="dk1"/>
              </a:solidFill>
              <a:latin typeface="Calibri"/>
              <a:ea typeface="Calibri"/>
              <a:cs typeface="Calibri"/>
              <a:sym typeface="Calibri"/>
            </a:endParaRPr>
          </a:p>
        </p:txBody>
      </p:sp>
      <p:sp>
        <p:nvSpPr>
          <p:cNvPr id="132" name="Google Shape;132;p6"/>
          <p:cNvSpPr/>
          <p:nvPr/>
        </p:nvSpPr>
        <p:spPr>
          <a:xfrm>
            <a:off x="7545462" y="3764359"/>
            <a:ext cx="1228750"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975"/>
              <a:buFont typeface="Arial"/>
              <a:buNone/>
            </a:pPr>
            <a:r>
              <a:rPr b="0" i="0" lang="en-US" sz="975" u="none" cap="none" strike="noStrike">
                <a:solidFill>
                  <a:srgbClr val="F2EFE9"/>
                </a:solidFill>
                <a:latin typeface="Arial"/>
                <a:ea typeface="Arial"/>
                <a:cs typeface="Arial"/>
                <a:sym typeface="Arial"/>
              </a:rPr>
              <a:t>JENSEN @ GTC</a:t>
            </a:r>
            <a:endParaRPr b="0" i="0" sz="975" u="none" cap="none" strike="noStrike">
              <a:solidFill>
                <a:schemeClr val="dk1"/>
              </a:solidFill>
              <a:latin typeface="Calibri"/>
              <a:ea typeface="Calibri"/>
              <a:cs typeface="Calibri"/>
              <a:sym typeface="Calibri"/>
            </a:endParaRPr>
          </a:p>
        </p:txBody>
      </p:sp>
      <p:sp>
        <p:nvSpPr>
          <p:cNvPr id="133" name="Google Shape;133;p6"/>
          <p:cNvSpPr/>
          <p:nvPr/>
        </p:nvSpPr>
        <p:spPr>
          <a:xfrm>
            <a:off x="762000" y="4441403"/>
            <a:ext cx="8153424" cy="9525"/>
          </a:xfrm>
          <a:prstGeom prst="rect">
            <a:avLst/>
          </a:prstGeom>
          <a:solidFill>
            <a:srgbClr val="0E0E0C">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971476" y="4203278"/>
            <a:ext cx="609501"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975"/>
              <a:buFont typeface="Arial"/>
              <a:buNone/>
            </a:pPr>
            <a:r>
              <a:rPr b="0" i="0" lang="en-US" sz="975" u="none" cap="none" strike="noStrike">
                <a:solidFill>
                  <a:srgbClr val="6B6860"/>
                </a:solidFill>
                <a:latin typeface="Arial"/>
                <a:ea typeface="Arial"/>
                <a:cs typeface="Arial"/>
                <a:sym typeface="Arial"/>
              </a:rPr>
              <a:t>#</a:t>
            </a:r>
            <a:endParaRPr b="0" i="0" sz="975" u="none" cap="none" strike="noStrike">
              <a:solidFill>
                <a:schemeClr val="dk1"/>
              </a:solidFill>
              <a:latin typeface="Calibri"/>
              <a:ea typeface="Calibri"/>
              <a:cs typeface="Calibri"/>
              <a:sym typeface="Calibri"/>
            </a:endParaRPr>
          </a:p>
        </p:txBody>
      </p:sp>
      <p:sp>
        <p:nvSpPr>
          <p:cNvPr id="135" name="Google Shape;135;p6"/>
          <p:cNvSpPr/>
          <p:nvPr/>
        </p:nvSpPr>
        <p:spPr>
          <a:xfrm>
            <a:off x="1504776" y="4203278"/>
            <a:ext cx="2171700"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975"/>
              <a:buFont typeface="Arial"/>
              <a:buNone/>
            </a:pPr>
            <a:r>
              <a:rPr b="0" i="0" lang="en-US" sz="975" u="none" cap="none" strike="noStrike">
                <a:solidFill>
                  <a:srgbClr val="6B6860"/>
                </a:solidFill>
                <a:latin typeface="Arial"/>
                <a:ea typeface="Arial"/>
                <a:cs typeface="Arial"/>
                <a:sym typeface="Arial"/>
              </a:rPr>
              <a:t>LAYER</a:t>
            </a:r>
            <a:endParaRPr b="0" i="0" sz="975" u="none" cap="none" strike="noStrike">
              <a:solidFill>
                <a:schemeClr val="dk1"/>
              </a:solidFill>
              <a:latin typeface="Calibri"/>
              <a:ea typeface="Calibri"/>
              <a:cs typeface="Calibri"/>
              <a:sym typeface="Calibri"/>
            </a:endParaRPr>
          </a:p>
        </p:txBody>
      </p:sp>
      <p:sp>
        <p:nvSpPr>
          <p:cNvPr id="136" name="Google Shape;136;p6"/>
          <p:cNvSpPr/>
          <p:nvPr/>
        </p:nvSpPr>
        <p:spPr>
          <a:xfrm>
            <a:off x="3600276" y="4203278"/>
            <a:ext cx="5258843"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975"/>
              <a:buFont typeface="Arial"/>
              <a:buNone/>
            </a:pPr>
            <a:r>
              <a:rPr b="0" i="0" lang="en-US" sz="975" u="none" cap="none" strike="noStrike">
                <a:solidFill>
                  <a:srgbClr val="6B6860"/>
                </a:solidFill>
                <a:latin typeface="Arial"/>
                <a:ea typeface="Arial"/>
                <a:cs typeface="Arial"/>
                <a:sym typeface="Arial"/>
              </a:rPr>
              <a:t>DESCRIPTION</a:t>
            </a:r>
            <a:endParaRPr b="0" i="0" sz="975" u="none" cap="none" strike="noStrike">
              <a:solidFill>
                <a:schemeClr val="dk1"/>
              </a:solidFill>
              <a:latin typeface="Calibri"/>
              <a:ea typeface="Calibri"/>
              <a:cs typeface="Calibri"/>
              <a:sym typeface="Calibri"/>
            </a:endParaRPr>
          </a:p>
        </p:txBody>
      </p:sp>
      <p:sp>
        <p:nvSpPr>
          <p:cNvPr id="137" name="Google Shape;137;p6"/>
          <p:cNvSpPr/>
          <p:nvPr/>
        </p:nvSpPr>
        <p:spPr>
          <a:xfrm>
            <a:off x="762000" y="4907359"/>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971476" y="4590976"/>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5</a:t>
            </a:r>
            <a:endParaRPr b="0" i="0" sz="1200" u="none" cap="none" strike="noStrike">
              <a:solidFill>
                <a:schemeClr val="dk1"/>
              </a:solidFill>
              <a:latin typeface="Calibri"/>
              <a:ea typeface="Calibri"/>
              <a:cs typeface="Calibri"/>
              <a:sym typeface="Calibri"/>
            </a:endParaRPr>
          </a:p>
        </p:txBody>
      </p:sp>
      <p:sp>
        <p:nvSpPr>
          <p:cNvPr id="139" name="Google Shape;139;p6"/>
          <p:cNvSpPr/>
          <p:nvPr/>
        </p:nvSpPr>
        <p:spPr>
          <a:xfrm>
            <a:off x="1504776" y="4579069"/>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AI Economy</a:t>
            </a:r>
            <a:endParaRPr b="0" i="0" sz="1425" u="none" cap="none" strike="noStrike">
              <a:solidFill>
                <a:schemeClr val="dk1"/>
              </a:solidFill>
              <a:latin typeface="Calibri"/>
              <a:ea typeface="Calibri"/>
              <a:cs typeface="Calibri"/>
              <a:sym typeface="Calibri"/>
            </a:endParaRPr>
          </a:p>
        </p:txBody>
      </p:sp>
      <p:sp>
        <p:nvSpPr>
          <p:cNvPr id="140" name="Google Shape;140;p6"/>
          <p:cNvSpPr/>
          <p:nvPr/>
        </p:nvSpPr>
        <p:spPr>
          <a:xfrm>
            <a:off x="3600276" y="4573116"/>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Enterprises as AI factories producing intelligence.</a:t>
            </a:r>
            <a:endParaRPr b="0" i="0" sz="1275" u="none" cap="none" strike="noStrike">
              <a:solidFill>
                <a:schemeClr val="dk1"/>
              </a:solidFill>
              <a:latin typeface="Calibri"/>
              <a:ea typeface="Calibri"/>
              <a:cs typeface="Calibri"/>
              <a:sym typeface="Calibri"/>
            </a:endParaRPr>
          </a:p>
        </p:txBody>
      </p:sp>
      <p:sp>
        <p:nvSpPr>
          <p:cNvPr id="141" name="Google Shape;141;p6"/>
          <p:cNvSpPr/>
          <p:nvPr/>
        </p:nvSpPr>
        <p:spPr>
          <a:xfrm>
            <a:off x="762000" y="4915296"/>
            <a:ext cx="8153424" cy="465956"/>
          </a:xfrm>
          <a:prstGeom prst="rect">
            <a:avLst/>
          </a:prstGeom>
          <a:solidFill>
            <a:srgbClr val="0E0E0C">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762000" y="5373315"/>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971476" y="5056931"/>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144" name="Google Shape;144;p6"/>
          <p:cNvSpPr/>
          <p:nvPr/>
        </p:nvSpPr>
        <p:spPr>
          <a:xfrm>
            <a:off x="1504776" y="5045025"/>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425"/>
              <a:buFont typeface="Arial"/>
              <a:buNone/>
            </a:pPr>
            <a:r>
              <a:rPr b="0" i="1" lang="en-US" sz="1425" u="none" cap="none" strike="noStrike">
                <a:solidFill>
                  <a:srgbClr val="6B6860"/>
                </a:solidFill>
                <a:latin typeface="Arial"/>
                <a:ea typeface="Arial"/>
                <a:cs typeface="Arial"/>
                <a:sym typeface="Arial"/>
              </a:rPr>
              <a:t>Implicit / not defined</a:t>
            </a:r>
            <a:endParaRPr b="0" i="0" sz="1425" u="none" cap="none" strike="noStrike">
              <a:solidFill>
                <a:schemeClr val="dk1"/>
              </a:solidFill>
              <a:latin typeface="Calibri"/>
              <a:ea typeface="Calibri"/>
              <a:cs typeface="Calibri"/>
              <a:sym typeface="Calibri"/>
            </a:endParaRPr>
          </a:p>
        </p:txBody>
      </p:sp>
      <p:sp>
        <p:nvSpPr>
          <p:cNvPr id="145" name="Google Shape;145;p6"/>
          <p:cNvSpPr/>
          <p:nvPr/>
        </p:nvSpPr>
        <p:spPr>
          <a:xfrm>
            <a:off x="3600276" y="5039072"/>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1" lang="en-US" sz="1275" u="none" cap="none" strike="noStrike">
                <a:solidFill>
                  <a:srgbClr val="6B6860"/>
                </a:solidFill>
                <a:latin typeface="Arial"/>
                <a:ea typeface="Arial"/>
                <a:cs typeface="Arial"/>
                <a:sym typeface="Arial"/>
              </a:rPr>
              <a:t>Operating layer left unspecified.</a:t>
            </a:r>
            <a:endParaRPr b="0" i="0" sz="1275" u="none" cap="none" strike="noStrike">
              <a:solidFill>
                <a:schemeClr val="dk1"/>
              </a:solidFill>
              <a:latin typeface="Calibri"/>
              <a:ea typeface="Calibri"/>
              <a:cs typeface="Calibri"/>
              <a:sym typeface="Calibri"/>
            </a:endParaRPr>
          </a:p>
        </p:txBody>
      </p:sp>
      <p:sp>
        <p:nvSpPr>
          <p:cNvPr id="146" name="Google Shape;146;p6"/>
          <p:cNvSpPr/>
          <p:nvPr/>
        </p:nvSpPr>
        <p:spPr>
          <a:xfrm>
            <a:off x="762000" y="5839271"/>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971476" y="5522887"/>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4</a:t>
            </a:r>
            <a:endParaRPr b="0" i="0" sz="1200" u="none" cap="none" strike="noStrike">
              <a:solidFill>
                <a:schemeClr val="dk1"/>
              </a:solidFill>
              <a:latin typeface="Calibri"/>
              <a:ea typeface="Calibri"/>
              <a:cs typeface="Calibri"/>
              <a:sym typeface="Calibri"/>
            </a:endParaRPr>
          </a:p>
        </p:txBody>
      </p:sp>
      <p:sp>
        <p:nvSpPr>
          <p:cNvPr id="148" name="Google Shape;148;p6"/>
          <p:cNvSpPr/>
          <p:nvPr/>
        </p:nvSpPr>
        <p:spPr>
          <a:xfrm>
            <a:off x="1504776" y="5510981"/>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AI Applications</a:t>
            </a:r>
            <a:endParaRPr b="0" i="0" sz="1425" u="none" cap="none" strike="noStrike">
              <a:solidFill>
                <a:schemeClr val="dk1"/>
              </a:solidFill>
              <a:latin typeface="Calibri"/>
              <a:ea typeface="Calibri"/>
              <a:cs typeface="Calibri"/>
              <a:sym typeface="Calibri"/>
            </a:endParaRPr>
          </a:p>
        </p:txBody>
      </p:sp>
      <p:sp>
        <p:nvSpPr>
          <p:cNvPr id="149" name="Google Shape;149;p6"/>
          <p:cNvSpPr/>
          <p:nvPr/>
        </p:nvSpPr>
        <p:spPr>
          <a:xfrm>
            <a:off x="3600276" y="5505028"/>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Copilots and agents performing work.</a:t>
            </a:r>
            <a:endParaRPr b="0" i="0" sz="1275" u="none" cap="none" strike="noStrike">
              <a:solidFill>
                <a:schemeClr val="dk1"/>
              </a:solidFill>
              <a:latin typeface="Calibri"/>
              <a:ea typeface="Calibri"/>
              <a:cs typeface="Calibri"/>
              <a:sym typeface="Calibri"/>
            </a:endParaRPr>
          </a:p>
        </p:txBody>
      </p:sp>
      <p:sp>
        <p:nvSpPr>
          <p:cNvPr id="150" name="Google Shape;150;p6"/>
          <p:cNvSpPr/>
          <p:nvPr/>
        </p:nvSpPr>
        <p:spPr>
          <a:xfrm>
            <a:off x="762000" y="6305227"/>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a:off x="971476" y="5988844"/>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
        <p:nvSpPr>
          <p:cNvPr id="152" name="Google Shape;152;p6"/>
          <p:cNvSpPr/>
          <p:nvPr/>
        </p:nvSpPr>
        <p:spPr>
          <a:xfrm>
            <a:off x="1504776" y="5976938"/>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AI Platforms</a:t>
            </a:r>
            <a:endParaRPr b="0" i="0" sz="1425" u="none" cap="none" strike="noStrike">
              <a:solidFill>
                <a:schemeClr val="dk1"/>
              </a:solidFill>
              <a:latin typeface="Calibri"/>
              <a:ea typeface="Calibri"/>
              <a:cs typeface="Calibri"/>
              <a:sym typeface="Calibri"/>
            </a:endParaRPr>
          </a:p>
        </p:txBody>
      </p:sp>
      <p:sp>
        <p:nvSpPr>
          <p:cNvPr id="153" name="Google Shape;153;p6"/>
          <p:cNvSpPr/>
          <p:nvPr/>
        </p:nvSpPr>
        <p:spPr>
          <a:xfrm>
            <a:off x="3600276" y="5970984"/>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CUDA and software frameworks.</a:t>
            </a:r>
            <a:endParaRPr b="0" i="0" sz="1275" u="none" cap="none" strike="noStrike">
              <a:solidFill>
                <a:schemeClr val="dk1"/>
              </a:solidFill>
              <a:latin typeface="Calibri"/>
              <a:ea typeface="Calibri"/>
              <a:cs typeface="Calibri"/>
              <a:sym typeface="Calibri"/>
            </a:endParaRPr>
          </a:p>
        </p:txBody>
      </p:sp>
      <p:sp>
        <p:nvSpPr>
          <p:cNvPr id="154" name="Google Shape;154;p6"/>
          <p:cNvSpPr/>
          <p:nvPr/>
        </p:nvSpPr>
        <p:spPr>
          <a:xfrm>
            <a:off x="762000" y="6771183"/>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971476" y="6454800"/>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
        <p:nvSpPr>
          <p:cNvPr id="156" name="Google Shape;156;p6"/>
          <p:cNvSpPr/>
          <p:nvPr/>
        </p:nvSpPr>
        <p:spPr>
          <a:xfrm>
            <a:off x="1504776" y="6442893"/>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AI Models</a:t>
            </a:r>
            <a:endParaRPr b="0" i="0" sz="1425" u="none" cap="none" strike="noStrike">
              <a:solidFill>
                <a:schemeClr val="dk1"/>
              </a:solidFill>
              <a:latin typeface="Calibri"/>
              <a:ea typeface="Calibri"/>
              <a:cs typeface="Calibri"/>
              <a:sym typeface="Calibri"/>
            </a:endParaRPr>
          </a:p>
        </p:txBody>
      </p:sp>
      <p:sp>
        <p:nvSpPr>
          <p:cNvPr id="157" name="Google Shape;157;p6"/>
          <p:cNvSpPr/>
          <p:nvPr/>
        </p:nvSpPr>
        <p:spPr>
          <a:xfrm>
            <a:off x="3600276" y="6436940"/>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Foundation models across domains.</a:t>
            </a:r>
            <a:endParaRPr b="0" i="0" sz="1275" u="none" cap="none" strike="noStrike">
              <a:solidFill>
                <a:schemeClr val="dk1"/>
              </a:solidFill>
              <a:latin typeface="Calibri"/>
              <a:ea typeface="Calibri"/>
              <a:cs typeface="Calibri"/>
              <a:sym typeface="Calibri"/>
            </a:endParaRPr>
          </a:p>
        </p:txBody>
      </p:sp>
      <p:sp>
        <p:nvSpPr>
          <p:cNvPr id="158" name="Google Shape;158;p6"/>
          <p:cNvSpPr/>
          <p:nvPr/>
        </p:nvSpPr>
        <p:spPr>
          <a:xfrm>
            <a:off x="971476" y="6920755"/>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159" name="Google Shape;159;p6"/>
          <p:cNvSpPr/>
          <p:nvPr/>
        </p:nvSpPr>
        <p:spPr>
          <a:xfrm>
            <a:off x="1504776" y="6908849"/>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AI Infrastructure</a:t>
            </a:r>
            <a:endParaRPr b="0" i="0" sz="1425" u="none" cap="none" strike="noStrike">
              <a:solidFill>
                <a:schemeClr val="dk1"/>
              </a:solidFill>
              <a:latin typeface="Calibri"/>
              <a:ea typeface="Calibri"/>
              <a:cs typeface="Calibri"/>
              <a:sym typeface="Calibri"/>
            </a:endParaRPr>
          </a:p>
        </p:txBody>
      </p:sp>
      <p:sp>
        <p:nvSpPr>
          <p:cNvPr id="160" name="Google Shape;160;p6"/>
          <p:cNvSpPr/>
          <p:nvPr/>
        </p:nvSpPr>
        <p:spPr>
          <a:xfrm>
            <a:off x="3600276" y="6902896"/>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Accelerated compute systems.</a:t>
            </a:r>
            <a:endParaRPr b="0" i="0" sz="1275" u="none" cap="none" strike="noStrike">
              <a:solidFill>
                <a:schemeClr val="dk1"/>
              </a:solidFill>
              <a:latin typeface="Calibri"/>
              <a:ea typeface="Calibri"/>
              <a:cs typeface="Calibri"/>
              <a:sym typeface="Calibri"/>
            </a:endParaRPr>
          </a:p>
        </p:txBody>
      </p:sp>
      <p:sp>
        <p:nvSpPr>
          <p:cNvPr id="161" name="Google Shape;161;p6"/>
          <p:cNvSpPr/>
          <p:nvPr/>
        </p:nvSpPr>
        <p:spPr>
          <a:xfrm>
            <a:off x="9372575" y="3563565"/>
            <a:ext cx="8153424" cy="544463"/>
          </a:xfrm>
          <a:prstGeom prst="rect">
            <a:avLst/>
          </a:prstGeom>
          <a:solidFill>
            <a:srgbClr val="EE5622"/>
          </a:solidFill>
          <a:ln cap="flat" cmpd="sng" w="9525">
            <a:solidFill>
              <a:srgbClr val="EE56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9590004" y="3704825"/>
            <a:ext cx="4184100" cy="3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800"/>
              <a:buFont typeface="Arial"/>
              <a:buNone/>
            </a:pPr>
            <a:r>
              <a:rPr b="1" i="0" lang="en-US" sz="2000" u="none" cap="none" strike="noStrike">
                <a:solidFill>
                  <a:srgbClr val="F2EFE9"/>
                </a:solidFill>
              </a:rPr>
              <a:t>Open Intelligence Architecture</a:t>
            </a:r>
            <a:endParaRPr b="1" i="0" sz="2000" u="none" cap="none" strike="noStrike">
              <a:solidFill>
                <a:schemeClr val="dk1"/>
              </a:solidFill>
              <a:latin typeface="Calibri"/>
              <a:ea typeface="Calibri"/>
              <a:cs typeface="Calibri"/>
              <a:sym typeface="Calibri"/>
            </a:endParaRPr>
          </a:p>
        </p:txBody>
      </p:sp>
      <p:sp>
        <p:nvSpPr>
          <p:cNvPr id="163" name="Google Shape;163;p6"/>
          <p:cNvSpPr/>
          <p:nvPr/>
        </p:nvSpPr>
        <p:spPr>
          <a:xfrm>
            <a:off x="16276091" y="3764359"/>
            <a:ext cx="1108695"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975"/>
              <a:buFont typeface="Arial"/>
              <a:buNone/>
            </a:pPr>
            <a:r>
              <a:rPr b="0" i="0" lang="en-US" sz="975" u="none" cap="none" strike="noStrike">
                <a:solidFill>
                  <a:srgbClr val="F2EFE9"/>
                </a:solidFill>
                <a:latin typeface="Arial"/>
                <a:ea typeface="Arial"/>
                <a:cs typeface="Arial"/>
                <a:sym typeface="Arial"/>
              </a:rPr>
              <a:t>FULL SYSTEM</a:t>
            </a:r>
            <a:endParaRPr b="0" i="0" sz="975" u="none" cap="none" strike="noStrike">
              <a:solidFill>
                <a:schemeClr val="dk1"/>
              </a:solidFill>
              <a:latin typeface="Calibri"/>
              <a:ea typeface="Calibri"/>
              <a:cs typeface="Calibri"/>
              <a:sym typeface="Calibri"/>
            </a:endParaRPr>
          </a:p>
        </p:txBody>
      </p:sp>
      <p:sp>
        <p:nvSpPr>
          <p:cNvPr id="164" name="Google Shape;164;p6"/>
          <p:cNvSpPr/>
          <p:nvPr/>
        </p:nvSpPr>
        <p:spPr>
          <a:xfrm>
            <a:off x="9372575" y="4441403"/>
            <a:ext cx="8153424" cy="9525"/>
          </a:xfrm>
          <a:prstGeom prst="rect">
            <a:avLst/>
          </a:prstGeom>
          <a:solidFill>
            <a:srgbClr val="0E0E0C">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9582051" y="4203278"/>
            <a:ext cx="609501"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975"/>
              <a:buFont typeface="Arial"/>
              <a:buNone/>
            </a:pPr>
            <a:r>
              <a:rPr b="0" i="0" lang="en-US" sz="975" u="none" cap="none" strike="noStrike">
                <a:solidFill>
                  <a:srgbClr val="6B6860"/>
                </a:solidFill>
                <a:latin typeface="Arial"/>
                <a:ea typeface="Arial"/>
                <a:cs typeface="Arial"/>
                <a:sym typeface="Arial"/>
              </a:rPr>
              <a:t>#</a:t>
            </a:r>
            <a:endParaRPr b="0" i="0" sz="975" u="none" cap="none" strike="noStrike">
              <a:solidFill>
                <a:schemeClr val="dk1"/>
              </a:solidFill>
              <a:latin typeface="Calibri"/>
              <a:ea typeface="Calibri"/>
              <a:cs typeface="Calibri"/>
              <a:sym typeface="Calibri"/>
            </a:endParaRPr>
          </a:p>
        </p:txBody>
      </p:sp>
      <p:sp>
        <p:nvSpPr>
          <p:cNvPr id="166" name="Google Shape;166;p6"/>
          <p:cNvSpPr/>
          <p:nvPr/>
        </p:nvSpPr>
        <p:spPr>
          <a:xfrm>
            <a:off x="10115351" y="4203278"/>
            <a:ext cx="2171700"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975"/>
              <a:buFont typeface="Arial"/>
              <a:buNone/>
            </a:pPr>
            <a:r>
              <a:rPr b="0" i="0" lang="en-US" sz="975" u="none" cap="none" strike="noStrike">
                <a:solidFill>
                  <a:srgbClr val="6B6860"/>
                </a:solidFill>
                <a:latin typeface="Arial"/>
                <a:ea typeface="Arial"/>
                <a:cs typeface="Arial"/>
                <a:sym typeface="Arial"/>
              </a:rPr>
              <a:t>LAYER</a:t>
            </a:r>
            <a:endParaRPr b="0" i="0" sz="975" u="none" cap="none" strike="noStrike">
              <a:solidFill>
                <a:schemeClr val="dk1"/>
              </a:solidFill>
              <a:latin typeface="Calibri"/>
              <a:ea typeface="Calibri"/>
              <a:cs typeface="Calibri"/>
              <a:sym typeface="Calibri"/>
            </a:endParaRPr>
          </a:p>
        </p:txBody>
      </p:sp>
      <p:sp>
        <p:nvSpPr>
          <p:cNvPr id="167" name="Google Shape;167;p6"/>
          <p:cNvSpPr/>
          <p:nvPr/>
        </p:nvSpPr>
        <p:spPr>
          <a:xfrm>
            <a:off x="12210851" y="4203278"/>
            <a:ext cx="5258843"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975"/>
              <a:buFont typeface="Arial"/>
              <a:buNone/>
            </a:pPr>
            <a:r>
              <a:rPr b="0" i="0" lang="en-US" sz="975" u="none" cap="none" strike="noStrike">
                <a:solidFill>
                  <a:srgbClr val="6B6860"/>
                </a:solidFill>
                <a:latin typeface="Arial"/>
                <a:ea typeface="Arial"/>
                <a:cs typeface="Arial"/>
                <a:sym typeface="Arial"/>
              </a:rPr>
              <a:t>DESCRIPTION</a:t>
            </a:r>
            <a:endParaRPr b="0" i="0" sz="975" u="none" cap="none" strike="noStrike">
              <a:solidFill>
                <a:schemeClr val="dk1"/>
              </a:solidFill>
              <a:latin typeface="Calibri"/>
              <a:ea typeface="Calibri"/>
              <a:cs typeface="Calibri"/>
              <a:sym typeface="Calibri"/>
            </a:endParaRPr>
          </a:p>
        </p:txBody>
      </p:sp>
      <p:sp>
        <p:nvSpPr>
          <p:cNvPr id="168" name="Google Shape;168;p6"/>
          <p:cNvSpPr/>
          <p:nvPr/>
        </p:nvSpPr>
        <p:spPr>
          <a:xfrm>
            <a:off x="9372575" y="4907359"/>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9582051" y="4590976"/>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9</a:t>
            </a:r>
            <a:endParaRPr b="0" i="0" sz="1200" u="none" cap="none" strike="noStrike">
              <a:solidFill>
                <a:schemeClr val="dk1"/>
              </a:solidFill>
              <a:latin typeface="Calibri"/>
              <a:ea typeface="Calibri"/>
              <a:cs typeface="Calibri"/>
              <a:sym typeface="Calibri"/>
            </a:endParaRPr>
          </a:p>
        </p:txBody>
      </p:sp>
      <p:sp>
        <p:nvSpPr>
          <p:cNvPr id="170" name="Google Shape;170;p6"/>
          <p:cNvSpPr/>
          <p:nvPr/>
        </p:nvSpPr>
        <p:spPr>
          <a:xfrm>
            <a:off x="10115351" y="4579069"/>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Human Interface</a:t>
            </a:r>
            <a:endParaRPr b="0" i="0" sz="1425" u="none" cap="none" strike="noStrike">
              <a:solidFill>
                <a:schemeClr val="dk1"/>
              </a:solidFill>
              <a:latin typeface="Calibri"/>
              <a:ea typeface="Calibri"/>
              <a:cs typeface="Calibri"/>
              <a:sym typeface="Calibri"/>
            </a:endParaRPr>
          </a:p>
        </p:txBody>
      </p:sp>
      <p:sp>
        <p:nvSpPr>
          <p:cNvPr id="171" name="Google Shape;171;p6"/>
          <p:cNvSpPr/>
          <p:nvPr/>
        </p:nvSpPr>
        <p:spPr>
          <a:xfrm>
            <a:off x="12210851" y="4573116"/>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Human-agent interaction surface.</a:t>
            </a:r>
            <a:endParaRPr b="0" i="0" sz="1275" u="none" cap="none" strike="noStrike">
              <a:solidFill>
                <a:schemeClr val="dk1"/>
              </a:solidFill>
              <a:latin typeface="Calibri"/>
              <a:ea typeface="Calibri"/>
              <a:cs typeface="Calibri"/>
              <a:sym typeface="Calibri"/>
            </a:endParaRPr>
          </a:p>
        </p:txBody>
      </p:sp>
      <p:sp>
        <p:nvSpPr>
          <p:cNvPr id="172" name="Google Shape;172;p6"/>
          <p:cNvSpPr/>
          <p:nvPr/>
        </p:nvSpPr>
        <p:spPr>
          <a:xfrm>
            <a:off x="9372575" y="4915296"/>
            <a:ext cx="8153424" cy="465956"/>
          </a:xfrm>
          <a:prstGeom prst="rect">
            <a:avLst/>
          </a:prstGeom>
          <a:solidFill>
            <a:srgbClr val="EE5622">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9372575" y="5373315"/>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9582051" y="5056931"/>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8</a:t>
            </a:r>
            <a:endParaRPr b="0" i="0" sz="1200" u="none" cap="none" strike="noStrike">
              <a:solidFill>
                <a:schemeClr val="dk1"/>
              </a:solidFill>
              <a:latin typeface="Calibri"/>
              <a:ea typeface="Calibri"/>
              <a:cs typeface="Calibri"/>
              <a:sym typeface="Calibri"/>
            </a:endParaRPr>
          </a:p>
        </p:txBody>
      </p:sp>
      <p:sp>
        <p:nvSpPr>
          <p:cNvPr id="175" name="Google Shape;175;p6"/>
          <p:cNvSpPr/>
          <p:nvPr/>
        </p:nvSpPr>
        <p:spPr>
          <a:xfrm>
            <a:off x="10115351" y="5045025"/>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425"/>
              <a:buFont typeface="Arial"/>
              <a:buNone/>
            </a:pPr>
            <a:r>
              <a:rPr b="1" i="0" lang="en-US" sz="1425" u="none" cap="none" strike="noStrike">
                <a:solidFill>
                  <a:srgbClr val="EE5622"/>
                </a:solidFill>
                <a:latin typeface="Arial"/>
                <a:ea typeface="Arial"/>
                <a:cs typeface="Arial"/>
                <a:sym typeface="Arial"/>
              </a:rPr>
              <a:t>Continuity Fabric</a:t>
            </a:r>
            <a:endParaRPr b="0" i="0" sz="1425" u="none" cap="none" strike="noStrike">
              <a:solidFill>
                <a:schemeClr val="dk1"/>
              </a:solidFill>
              <a:latin typeface="Calibri"/>
              <a:ea typeface="Calibri"/>
              <a:cs typeface="Calibri"/>
              <a:sym typeface="Calibri"/>
            </a:endParaRPr>
          </a:p>
        </p:txBody>
      </p:sp>
      <p:sp>
        <p:nvSpPr>
          <p:cNvPr id="176" name="Google Shape;176;p6"/>
          <p:cNvSpPr/>
          <p:nvPr/>
        </p:nvSpPr>
        <p:spPr>
          <a:xfrm>
            <a:off x="12210851" y="5039072"/>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Persistent memory and identity.</a:t>
            </a:r>
            <a:endParaRPr b="0" i="0" sz="1275" u="none" cap="none" strike="noStrike">
              <a:solidFill>
                <a:schemeClr val="dk1"/>
              </a:solidFill>
              <a:latin typeface="Calibri"/>
              <a:ea typeface="Calibri"/>
              <a:cs typeface="Calibri"/>
              <a:sym typeface="Calibri"/>
            </a:endParaRPr>
          </a:p>
        </p:txBody>
      </p:sp>
      <p:sp>
        <p:nvSpPr>
          <p:cNvPr id="177" name="Google Shape;177;p6"/>
          <p:cNvSpPr/>
          <p:nvPr/>
        </p:nvSpPr>
        <p:spPr>
          <a:xfrm>
            <a:off x="9372575" y="5381253"/>
            <a:ext cx="8153424" cy="465956"/>
          </a:xfrm>
          <a:prstGeom prst="rect">
            <a:avLst/>
          </a:prstGeom>
          <a:solidFill>
            <a:srgbClr val="EE5622">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9372575" y="5839271"/>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9582051" y="5522887"/>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7</a:t>
            </a:r>
            <a:endParaRPr b="0" i="0" sz="1200" u="none" cap="none" strike="noStrike">
              <a:solidFill>
                <a:schemeClr val="dk1"/>
              </a:solidFill>
              <a:latin typeface="Calibri"/>
              <a:ea typeface="Calibri"/>
              <a:cs typeface="Calibri"/>
              <a:sym typeface="Calibri"/>
            </a:endParaRPr>
          </a:p>
        </p:txBody>
      </p:sp>
      <p:sp>
        <p:nvSpPr>
          <p:cNvPr id="180" name="Google Shape;180;p6"/>
          <p:cNvSpPr/>
          <p:nvPr/>
        </p:nvSpPr>
        <p:spPr>
          <a:xfrm>
            <a:off x="10115351" y="5510981"/>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425"/>
              <a:buFont typeface="Arial"/>
              <a:buNone/>
            </a:pPr>
            <a:r>
              <a:rPr b="1" i="0" lang="en-US" sz="1425" u="none" cap="none" strike="noStrike">
                <a:solidFill>
                  <a:srgbClr val="EE5622"/>
                </a:solidFill>
                <a:latin typeface="Arial"/>
                <a:ea typeface="Arial"/>
                <a:cs typeface="Arial"/>
                <a:sym typeface="Arial"/>
              </a:rPr>
              <a:t>Orchestration</a:t>
            </a:r>
            <a:endParaRPr b="0" i="0" sz="1425" u="none" cap="none" strike="noStrike">
              <a:solidFill>
                <a:schemeClr val="dk1"/>
              </a:solidFill>
              <a:latin typeface="Calibri"/>
              <a:ea typeface="Calibri"/>
              <a:cs typeface="Calibri"/>
              <a:sym typeface="Calibri"/>
            </a:endParaRPr>
          </a:p>
        </p:txBody>
      </p:sp>
      <p:sp>
        <p:nvSpPr>
          <p:cNvPr id="181" name="Google Shape;181;p6"/>
          <p:cNvSpPr/>
          <p:nvPr/>
        </p:nvSpPr>
        <p:spPr>
          <a:xfrm>
            <a:off x="12210851" y="5505028"/>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Agent workflows and tool coordination.</a:t>
            </a:r>
            <a:endParaRPr b="0" i="0" sz="1275" u="none" cap="none" strike="noStrike">
              <a:solidFill>
                <a:schemeClr val="dk1"/>
              </a:solidFill>
              <a:latin typeface="Calibri"/>
              <a:ea typeface="Calibri"/>
              <a:cs typeface="Calibri"/>
              <a:sym typeface="Calibri"/>
            </a:endParaRPr>
          </a:p>
        </p:txBody>
      </p:sp>
      <p:sp>
        <p:nvSpPr>
          <p:cNvPr id="182" name="Google Shape;182;p6"/>
          <p:cNvSpPr/>
          <p:nvPr/>
        </p:nvSpPr>
        <p:spPr>
          <a:xfrm>
            <a:off x="9372575" y="6305227"/>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9582051" y="5988844"/>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6</a:t>
            </a:r>
            <a:endParaRPr b="0" i="0" sz="1200" u="none" cap="none" strike="noStrike">
              <a:solidFill>
                <a:schemeClr val="dk1"/>
              </a:solidFill>
              <a:latin typeface="Calibri"/>
              <a:ea typeface="Calibri"/>
              <a:cs typeface="Calibri"/>
              <a:sym typeface="Calibri"/>
            </a:endParaRPr>
          </a:p>
        </p:txBody>
      </p:sp>
      <p:sp>
        <p:nvSpPr>
          <p:cNvPr id="184" name="Google Shape;184;p6"/>
          <p:cNvSpPr/>
          <p:nvPr/>
        </p:nvSpPr>
        <p:spPr>
          <a:xfrm>
            <a:off x="10115351" y="5976938"/>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Context / Knowledge</a:t>
            </a:r>
            <a:endParaRPr b="0" i="0" sz="1425" u="none" cap="none" strike="noStrike">
              <a:solidFill>
                <a:schemeClr val="dk1"/>
              </a:solidFill>
              <a:latin typeface="Calibri"/>
              <a:ea typeface="Calibri"/>
              <a:cs typeface="Calibri"/>
              <a:sym typeface="Calibri"/>
            </a:endParaRPr>
          </a:p>
        </p:txBody>
      </p:sp>
      <p:sp>
        <p:nvSpPr>
          <p:cNvPr id="185" name="Google Shape;185;p6"/>
          <p:cNvSpPr/>
          <p:nvPr/>
        </p:nvSpPr>
        <p:spPr>
          <a:xfrm>
            <a:off x="12210851" y="5970984"/>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RAG and grounding systems.</a:t>
            </a:r>
            <a:endParaRPr b="0" i="0" sz="1275" u="none" cap="none" strike="noStrike">
              <a:solidFill>
                <a:schemeClr val="dk1"/>
              </a:solidFill>
              <a:latin typeface="Calibri"/>
              <a:ea typeface="Calibri"/>
              <a:cs typeface="Calibri"/>
              <a:sym typeface="Calibri"/>
            </a:endParaRPr>
          </a:p>
        </p:txBody>
      </p:sp>
      <p:sp>
        <p:nvSpPr>
          <p:cNvPr id="186" name="Google Shape;186;p6"/>
          <p:cNvSpPr/>
          <p:nvPr/>
        </p:nvSpPr>
        <p:spPr>
          <a:xfrm>
            <a:off x="9372575" y="6771183"/>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9582051" y="6454800"/>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5</a:t>
            </a:r>
            <a:endParaRPr b="0" i="0" sz="1200" u="none" cap="none" strike="noStrike">
              <a:solidFill>
                <a:schemeClr val="dk1"/>
              </a:solidFill>
              <a:latin typeface="Calibri"/>
              <a:ea typeface="Calibri"/>
              <a:cs typeface="Calibri"/>
              <a:sym typeface="Calibri"/>
            </a:endParaRPr>
          </a:p>
        </p:txBody>
      </p:sp>
      <p:sp>
        <p:nvSpPr>
          <p:cNvPr id="188" name="Google Shape;188;p6"/>
          <p:cNvSpPr/>
          <p:nvPr/>
        </p:nvSpPr>
        <p:spPr>
          <a:xfrm>
            <a:off x="10115351" y="6442893"/>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Inference</a:t>
            </a:r>
            <a:endParaRPr b="0" i="0" sz="1425" u="none" cap="none" strike="noStrike">
              <a:solidFill>
                <a:schemeClr val="dk1"/>
              </a:solidFill>
              <a:latin typeface="Calibri"/>
              <a:ea typeface="Calibri"/>
              <a:cs typeface="Calibri"/>
              <a:sym typeface="Calibri"/>
            </a:endParaRPr>
          </a:p>
        </p:txBody>
      </p:sp>
      <p:sp>
        <p:nvSpPr>
          <p:cNvPr id="189" name="Google Shape;189;p6"/>
          <p:cNvSpPr/>
          <p:nvPr/>
        </p:nvSpPr>
        <p:spPr>
          <a:xfrm>
            <a:off x="12210851" y="6436940"/>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Execution and retrieval patterns.</a:t>
            </a:r>
            <a:endParaRPr b="0" i="0" sz="1275" u="none" cap="none" strike="noStrike">
              <a:solidFill>
                <a:schemeClr val="dk1"/>
              </a:solidFill>
              <a:latin typeface="Calibri"/>
              <a:ea typeface="Calibri"/>
              <a:cs typeface="Calibri"/>
              <a:sym typeface="Calibri"/>
            </a:endParaRPr>
          </a:p>
        </p:txBody>
      </p:sp>
      <p:sp>
        <p:nvSpPr>
          <p:cNvPr id="190" name="Google Shape;190;p6"/>
          <p:cNvSpPr/>
          <p:nvPr/>
        </p:nvSpPr>
        <p:spPr>
          <a:xfrm>
            <a:off x="9372575" y="7237140"/>
            <a:ext cx="8153424"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9582051" y="6920755"/>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
        <p:nvSpPr>
          <p:cNvPr id="192" name="Google Shape;192;p6"/>
          <p:cNvSpPr/>
          <p:nvPr/>
        </p:nvSpPr>
        <p:spPr>
          <a:xfrm>
            <a:off x="10115351" y="6908849"/>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Agent Data</a:t>
            </a:r>
            <a:endParaRPr b="0" i="0" sz="1425" u="none" cap="none" strike="noStrike">
              <a:solidFill>
                <a:schemeClr val="dk1"/>
              </a:solidFill>
              <a:latin typeface="Calibri"/>
              <a:ea typeface="Calibri"/>
              <a:cs typeface="Calibri"/>
              <a:sym typeface="Calibri"/>
            </a:endParaRPr>
          </a:p>
        </p:txBody>
      </p:sp>
      <p:sp>
        <p:nvSpPr>
          <p:cNvPr id="193" name="Google Shape;193;p6"/>
          <p:cNvSpPr/>
          <p:nvPr/>
        </p:nvSpPr>
        <p:spPr>
          <a:xfrm>
            <a:off x="12210851" y="6902896"/>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Governed transaction layer.</a:t>
            </a:r>
            <a:endParaRPr b="0" i="0" sz="1275" u="none" cap="none" strike="noStrike">
              <a:solidFill>
                <a:schemeClr val="dk1"/>
              </a:solidFill>
              <a:latin typeface="Calibri"/>
              <a:ea typeface="Calibri"/>
              <a:cs typeface="Calibri"/>
              <a:sym typeface="Calibri"/>
            </a:endParaRPr>
          </a:p>
        </p:txBody>
      </p:sp>
      <p:sp>
        <p:nvSpPr>
          <p:cNvPr id="194" name="Google Shape;194;p6"/>
          <p:cNvSpPr/>
          <p:nvPr/>
        </p:nvSpPr>
        <p:spPr>
          <a:xfrm>
            <a:off x="9582051" y="7386712"/>
            <a:ext cx="609501"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0</a:t>
            </a:r>
            <a:endParaRPr b="0" i="0" sz="1200" u="none" cap="none" strike="noStrike">
              <a:solidFill>
                <a:schemeClr val="dk1"/>
              </a:solidFill>
              <a:latin typeface="Calibri"/>
              <a:ea typeface="Calibri"/>
              <a:cs typeface="Calibri"/>
              <a:sym typeface="Calibri"/>
            </a:endParaRPr>
          </a:p>
        </p:txBody>
      </p:sp>
      <p:sp>
        <p:nvSpPr>
          <p:cNvPr id="195" name="Google Shape;195;p6"/>
          <p:cNvSpPr/>
          <p:nvPr/>
        </p:nvSpPr>
        <p:spPr>
          <a:xfrm>
            <a:off x="10115351" y="7374806"/>
            <a:ext cx="2171700" cy="23653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Physical Compute</a:t>
            </a:r>
            <a:endParaRPr b="0" i="0" sz="1425" u="none" cap="none" strike="noStrike">
              <a:solidFill>
                <a:schemeClr val="dk1"/>
              </a:solidFill>
              <a:latin typeface="Calibri"/>
              <a:ea typeface="Calibri"/>
              <a:cs typeface="Calibri"/>
              <a:sym typeface="Calibri"/>
            </a:endParaRPr>
          </a:p>
        </p:txBody>
      </p:sp>
      <p:sp>
        <p:nvSpPr>
          <p:cNvPr id="196" name="Google Shape;196;p6"/>
          <p:cNvSpPr/>
          <p:nvPr/>
        </p:nvSpPr>
        <p:spPr>
          <a:xfrm>
            <a:off x="12210851" y="7368853"/>
            <a:ext cx="5258843" cy="248568"/>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275"/>
              <a:buFont typeface="Arial"/>
              <a:buNone/>
            </a:pPr>
            <a:r>
              <a:rPr b="0" i="0" lang="en-US" sz="1275" u="none" cap="none" strike="noStrike">
                <a:solidFill>
                  <a:srgbClr val="6B6860"/>
                </a:solidFill>
                <a:latin typeface="Arial"/>
                <a:ea typeface="Arial"/>
                <a:cs typeface="Arial"/>
                <a:sym typeface="Arial"/>
              </a:rPr>
              <a:t>Data center and chips.</a:t>
            </a:r>
            <a:endParaRPr b="0" i="0" sz="1275" u="none" cap="none" strike="noStrike">
              <a:solidFill>
                <a:schemeClr val="dk1"/>
              </a:solidFill>
              <a:latin typeface="Calibri"/>
              <a:ea typeface="Calibri"/>
              <a:cs typeface="Calibri"/>
              <a:sym typeface="Calibri"/>
            </a:endParaRPr>
          </a:p>
        </p:txBody>
      </p:sp>
      <p:sp>
        <p:nvSpPr>
          <p:cNvPr id="197" name="Google Shape;197;p6"/>
          <p:cNvSpPr/>
          <p:nvPr/>
        </p:nvSpPr>
        <p:spPr>
          <a:xfrm>
            <a:off x="0" y="9593337"/>
            <a:ext cx="18288000"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685726" y="9864700"/>
            <a:ext cx="273334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OIA · ADVISORY BOARD BRIEF</a:t>
            </a:r>
            <a:endParaRPr b="0" i="0" sz="1050" u="none" cap="none" strike="noStrike">
              <a:solidFill>
                <a:schemeClr val="dk1"/>
              </a:solidFill>
              <a:latin typeface="Calibri"/>
              <a:ea typeface="Calibri"/>
              <a:cs typeface="Calibri"/>
              <a:sym typeface="Calibri"/>
            </a:endParaRPr>
          </a:p>
        </p:txBody>
      </p:sp>
      <p:sp>
        <p:nvSpPr>
          <p:cNvPr id="199" name="Google Shape;199;p6"/>
          <p:cNvSpPr/>
          <p:nvPr/>
        </p:nvSpPr>
        <p:spPr>
          <a:xfrm>
            <a:off x="16701368" y="9864700"/>
            <a:ext cx="977106"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APRIL 2026</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9"/>
        </a:solidFill>
      </p:bgPr>
    </p:bg>
    <p:spTree>
      <p:nvGrpSpPr>
        <p:cNvPr id="204" name="Shape 204"/>
        <p:cNvGrpSpPr/>
        <p:nvPr/>
      </p:nvGrpSpPr>
      <p:grpSpPr>
        <a:xfrm>
          <a:off x="0" y="0"/>
          <a:ext cx="0" cy="0"/>
          <a:chOff x="0" y="0"/>
          <a:chExt cx="0" cy="0"/>
        </a:xfrm>
      </p:grpSpPr>
      <p:sp>
        <p:nvSpPr>
          <p:cNvPr id="205" name="Google Shape;205;p7"/>
          <p:cNvSpPr/>
          <p:nvPr/>
        </p:nvSpPr>
        <p:spPr>
          <a:xfrm>
            <a:off x="0" y="952500"/>
            <a:ext cx="18288000"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685726" y="353219"/>
            <a:ext cx="2785078"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AGENTICS </a:t>
            </a:r>
            <a:r>
              <a:rPr b="0" i="0" lang="en-US" sz="1650" u="none" cap="none" strike="noStrike">
                <a:solidFill>
                  <a:srgbClr val="EE5622"/>
                </a:solidFill>
                <a:latin typeface="Arial"/>
                <a:ea typeface="Arial"/>
                <a:cs typeface="Arial"/>
                <a:sym typeface="Arial"/>
              </a:rPr>
              <a:t>[</a:t>
            </a:r>
            <a:r>
              <a:rPr b="0" i="0" lang="en-US" sz="1650" u="none" cap="none" strike="noStrike">
                <a:solidFill>
                  <a:srgbClr val="0E0E0C"/>
                </a:solidFill>
                <a:latin typeface="Arial"/>
                <a:ea typeface="Arial"/>
                <a:cs typeface="Arial"/>
                <a:sym typeface="Arial"/>
              </a:rPr>
              <a:t>FOUNDATION</a:t>
            </a:r>
            <a:r>
              <a:rPr b="0" i="0" lang="en-US" sz="1650" u="none" cap="none" strike="noStrike">
                <a:solidFill>
                  <a:srgbClr val="EE5622"/>
                </a:solidFill>
                <a:latin typeface="Arial"/>
                <a:ea typeface="Arial"/>
                <a:cs typeface="Arial"/>
                <a:sym typeface="Arial"/>
              </a:rPr>
              <a:t>]</a:t>
            </a:r>
            <a:endParaRPr b="0" i="0" sz="1650" u="none" cap="none" strike="noStrike">
              <a:solidFill>
                <a:schemeClr val="dk1"/>
              </a:solidFill>
              <a:latin typeface="Calibri"/>
              <a:ea typeface="Calibri"/>
              <a:cs typeface="Calibri"/>
              <a:sym typeface="Calibri"/>
            </a:endParaRPr>
          </a:p>
        </p:txBody>
      </p:sp>
      <p:sp>
        <p:nvSpPr>
          <p:cNvPr id="207" name="Google Shape;207;p7"/>
          <p:cNvSpPr/>
          <p:nvPr/>
        </p:nvSpPr>
        <p:spPr>
          <a:xfrm>
            <a:off x="15533811" y="388937"/>
            <a:ext cx="2144663"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05 / 10 · THE BENEFITS</a:t>
            </a:r>
            <a:endParaRPr b="0" i="0" sz="1200" u="none" cap="none" strike="noStrike">
              <a:solidFill>
                <a:schemeClr val="dk1"/>
              </a:solidFill>
              <a:latin typeface="Calibri"/>
              <a:ea typeface="Calibri"/>
              <a:cs typeface="Calibri"/>
              <a:sym typeface="Calibri"/>
            </a:endParaRPr>
          </a:p>
        </p:txBody>
      </p:sp>
      <p:sp>
        <p:nvSpPr>
          <p:cNvPr id="208" name="Google Shape;208;p7"/>
          <p:cNvSpPr/>
          <p:nvPr/>
        </p:nvSpPr>
        <p:spPr>
          <a:xfrm>
            <a:off x="914301" y="1562075"/>
            <a:ext cx="8218674"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6B6860"/>
                </a:solidFill>
                <a:latin typeface="Arial"/>
                <a:ea typeface="Arial"/>
                <a:cs typeface="Arial"/>
                <a:sym typeface="Arial"/>
              </a:rPr>
              <a:t>PROOF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09" name="Google Shape;209;p7"/>
          <p:cNvSpPr/>
          <p:nvPr/>
        </p:nvSpPr>
        <p:spPr>
          <a:xfrm>
            <a:off x="914301" y="2079501"/>
            <a:ext cx="533301" cy="38075"/>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914301" y="2500064"/>
            <a:ext cx="8218674" cy="2561853"/>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0E0E0C"/>
              </a:buClr>
              <a:buSzPts val="6900"/>
              <a:buFont typeface="Arial"/>
              <a:buNone/>
            </a:pPr>
            <a:r>
              <a:rPr b="1" i="0" lang="en-US" sz="6900" u="none" cap="none" strike="noStrike">
                <a:solidFill>
                  <a:srgbClr val="0E0E0C"/>
                </a:solidFill>
                <a:latin typeface="Arial"/>
                <a:ea typeface="Arial"/>
                <a:cs typeface="Arial"/>
                <a:sym typeface="Arial"/>
              </a:rPr>
              <a:t>A durable architecture for the </a:t>
            </a:r>
            <a:r>
              <a:rPr b="1" i="0" lang="en-US" sz="6900" u="none" cap="none" strike="noStrike">
                <a:solidFill>
                  <a:srgbClr val="EE5622"/>
                </a:solidFill>
                <a:latin typeface="Arial"/>
                <a:ea typeface="Arial"/>
                <a:cs typeface="Arial"/>
                <a:sym typeface="Arial"/>
              </a:rPr>
              <a:t>enterprise.</a:t>
            </a:r>
            <a:endParaRPr b="0" i="0" sz="6900" u="none" cap="none" strike="noStrike">
              <a:solidFill>
                <a:schemeClr val="dk1"/>
              </a:solidFill>
              <a:latin typeface="Calibri"/>
              <a:ea typeface="Calibri"/>
              <a:cs typeface="Calibri"/>
              <a:sym typeface="Calibri"/>
            </a:endParaRPr>
          </a:p>
        </p:txBody>
      </p:sp>
      <p:sp>
        <p:nvSpPr>
          <p:cNvPr id="211" name="Google Shape;211;p7"/>
          <p:cNvSpPr/>
          <p:nvPr/>
        </p:nvSpPr>
        <p:spPr>
          <a:xfrm>
            <a:off x="914301" y="6031632"/>
            <a:ext cx="7979296" cy="9525"/>
          </a:xfrm>
          <a:prstGeom prst="rect">
            <a:avLst/>
          </a:prstGeom>
          <a:solidFill>
            <a:srgbClr val="0E0E0C">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914301" y="6807770"/>
            <a:ext cx="7979296"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914301" y="6344295"/>
            <a:ext cx="914350"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01</a:t>
            </a:r>
            <a:endParaRPr b="0" i="0" sz="1050" u="none" cap="none" strike="noStrike">
              <a:solidFill>
                <a:schemeClr val="dk1"/>
              </a:solidFill>
              <a:latin typeface="Calibri"/>
              <a:ea typeface="Calibri"/>
              <a:cs typeface="Calibri"/>
              <a:sym typeface="Calibri"/>
            </a:endParaRPr>
          </a:p>
        </p:txBody>
      </p:sp>
      <p:sp>
        <p:nvSpPr>
          <p:cNvPr id="214" name="Google Shape;214;p7"/>
          <p:cNvSpPr/>
          <p:nvPr/>
        </p:nvSpPr>
        <p:spPr>
          <a:xfrm>
            <a:off x="1752451" y="6249045"/>
            <a:ext cx="5414308" cy="387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2400"/>
              <a:buFont typeface="Arial"/>
              <a:buNone/>
            </a:pPr>
            <a:r>
              <a:rPr b="0" i="0" lang="en-US" sz="2400" u="none" cap="none" strike="noStrike">
                <a:solidFill>
                  <a:srgbClr val="0E0E0C"/>
                </a:solidFill>
                <a:latin typeface="Arial"/>
                <a:ea typeface="Arial"/>
                <a:cs typeface="Arial"/>
                <a:sym typeface="Arial"/>
              </a:rPr>
              <a:t>Vendor-neutral</a:t>
            </a:r>
            <a:endParaRPr b="0" i="0" sz="2400" u="none" cap="none" strike="noStrike">
              <a:solidFill>
                <a:schemeClr val="dk1"/>
              </a:solidFill>
              <a:latin typeface="Calibri"/>
              <a:ea typeface="Calibri"/>
              <a:cs typeface="Calibri"/>
              <a:sym typeface="Calibri"/>
            </a:endParaRPr>
          </a:p>
        </p:txBody>
      </p:sp>
      <p:sp>
        <p:nvSpPr>
          <p:cNvPr id="215" name="Google Shape;215;p7"/>
          <p:cNvSpPr/>
          <p:nvPr/>
        </p:nvSpPr>
        <p:spPr>
          <a:xfrm>
            <a:off x="6932861" y="6312545"/>
            <a:ext cx="1960736" cy="26035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6B6860"/>
              </a:buClr>
              <a:buSzPts val="1500"/>
              <a:buFont typeface="Arial"/>
              <a:buNone/>
            </a:pPr>
            <a:r>
              <a:rPr b="0" i="0" lang="en-US" sz="1500" u="none" cap="none" strike="noStrike">
                <a:solidFill>
                  <a:srgbClr val="6B6860"/>
                </a:solidFill>
                <a:latin typeface="Arial"/>
                <a:ea typeface="Arial"/>
                <a:cs typeface="Arial"/>
                <a:sym typeface="Arial"/>
              </a:rPr>
              <a:t>No hyperscaler lock-in</a:t>
            </a:r>
            <a:endParaRPr b="0" i="0" sz="1500" u="none" cap="none" strike="noStrike">
              <a:solidFill>
                <a:schemeClr val="dk1"/>
              </a:solidFill>
              <a:latin typeface="Calibri"/>
              <a:ea typeface="Calibri"/>
              <a:cs typeface="Calibri"/>
              <a:sym typeface="Calibri"/>
            </a:endParaRPr>
          </a:p>
        </p:txBody>
      </p:sp>
      <p:sp>
        <p:nvSpPr>
          <p:cNvPr id="216" name="Google Shape;216;p7"/>
          <p:cNvSpPr/>
          <p:nvPr/>
        </p:nvSpPr>
        <p:spPr>
          <a:xfrm>
            <a:off x="914301" y="7583909"/>
            <a:ext cx="7979296"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914301" y="7120433"/>
            <a:ext cx="914350"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02</a:t>
            </a:r>
            <a:endParaRPr b="0" i="0" sz="1050" u="none" cap="none" strike="noStrike">
              <a:solidFill>
                <a:schemeClr val="dk1"/>
              </a:solidFill>
              <a:latin typeface="Calibri"/>
              <a:ea typeface="Calibri"/>
              <a:cs typeface="Calibri"/>
              <a:sym typeface="Calibri"/>
            </a:endParaRPr>
          </a:p>
        </p:txBody>
      </p:sp>
      <p:sp>
        <p:nvSpPr>
          <p:cNvPr id="218" name="Google Shape;218;p7"/>
          <p:cNvSpPr/>
          <p:nvPr/>
        </p:nvSpPr>
        <p:spPr>
          <a:xfrm>
            <a:off x="1752451" y="7025183"/>
            <a:ext cx="5294228" cy="387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2400"/>
              <a:buFont typeface="Arial"/>
              <a:buNone/>
            </a:pPr>
            <a:r>
              <a:rPr b="0" i="0" lang="en-US" sz="2400" u="none" cap="none" strike="noStrike">
                <a:solidFill>
                  <a:srgbClr val="0E0E0C"/>
                </a:solidFill>
                <a:latin typeface="Arial"/>
                <a:ea typeface="Arial"/>
                <a:cs typeface="Arial"/>
                <a:sym typeface="Arial"/>
              </a:rPr>
              <a:t>Composable</a:t>
            </a:r>
            <a:endParaRPr b="0" i="0" sz="2400" u="none" cap="none" strike="noStrike">
              <a:solidFill>
                <a:schemeClr val="dk1"/>
              </a:solidFill>
              <a:latin typeface="Calibri"/>
              <a:ea typeface="Calibri"/>
              <a:cs typeface="Calibri"/>
              <a:sym typeface="Calibri"/>
            </a:endParaRPr>
          </a:p>
        </p:txBody>
      </p:sp>
      <p:sp>
        <p:nvSpPr>
          <p:cNvPr id="219" name="Google Shape;219;p7"/>
          <p:cNvSpPr/>
          <p:nvPr/>
        </p:nvSpPr>
        <p:spPr>
          <a:xfrm>
            <a:off x="6816278" y="7088684"/>
            <a:ext cx="2077318" cy="26035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6B6860"/>
              </a:buClr>
              <a:buSzPts val="1500"/>
              <a:buFont typeface="Arial"/>
              <a:buNone/>
            </a:pPr>
            <a:r>
              <a:rPr b="0" i="0" lang="en-US" sz="1500" u="none" cap="none" strike="noStrike">
                <a:solidFill>
                  <a:srgbClr val="6B6860"/>
                </a:solidFill>
                <a:latin typeface="Arial"/>
                <a:ea typeface="Arial"/>
                <a:cs typeface="Arial"/>
                <a:sym typeface="Arial"/>
              </a:rPr>
              <a:t>Swap layers, not stacks</a:t>
            </a:r>
            <a:endParaRPr b="0" i="0" sz="1500" u="none" cap="none" strike="noStrike">
              <a:solidFill>
                <a:schemeClr val="dk1"/>
              </a:solidFill>
              <a:latin typeface="Calibri"/>
              <a:ea typeface="Calibri"/>
              <a:cs typeface="Calibri"/>
              <a:sym typeface="Calibri"/>
            </a:endParaRPr>
          </a:p>
        </p:txBody>
      </p:sp>
      <p:sp>
        <p:nvSpPr>
          <p:cNvPr id="220" name="Google Shape;220;p7"/>
          <p:cNvSpPr/>
          <p:nvPr/>
        </p:nvSpPr>
        <p:spPr>
          <a:xfrm>
            <a:off x="914301" y="8360048"/>
            <a:ext cx="7979296"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914301" y="7896572"/>
            <a:ext cx="914350"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03</a:t>
            </a:r>
            <a:endParaRPr b="0" i="0" sz="1050" u="none" cap="none" strike="noStrike">
              <a:solidFill>
                <a:schemeClr val="dk1"/>
              </a:solidFill>
              <a:latin typeface="Calibri"/>
              <a:ea typeface="Calibri"/>
              <a:cs typeface="Calibri"/>
              <a:sym typeface="Calibri"/>
            </a:endParaRPr>
          </a:p>
        </p:txBody>
      </p:sp>
      <p:sp>
        <p:nvSpPr>
          <p:cNvPr id="222" name="Google Shape;222;p7"/>
          <p:cNvSpPr/>
          <p:nvPr/>
        </p:nvSpPr>
        <p:spPr>
          <a:xfrm>
            <a:off x="1752451" y="7801322"/>
            <a:ext cx="5436024" cy="387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2400"/>
              <a:buFont typeface="Arial"/>
              <a:buNone/>
            </a:pPr>
            <a:r>
              <a:rPr b="0" i="0" lang="en-US" sz="2400" u="none" cap="none" strike="noStrike">
                <a:solidFill>
                  <a:srgbClr val="0E0E0C"/>
                </a:solidFill>
                <a:latin typeface="Arial"/>
                <a:ea typeface="Arial"/>
                <a:cs typeface="Arial"/>
                <a:sym typeface="Arial"/>
              </a:rPr>
              <a:t>Complete</a:t>
            </a:r>
            <a:endParaRPr b="0" i="0" sz="2400" u="none" cap="none" strike="noStrike">
              <a:solidFill>
                <a:schemeClr val="dk1"/>
              </a:solidFill>
              <a:latin typeface="Calibri"/>
              <a:ea typeface="Calibri"/>
              <a:cs typeface="Calibri"/>
              <a:sym typeface="Calibri"/>
            </a:endParaRPr>
          </a:p>
        </p:txBody>
      </p:sp>
      <p:sp>
        <p:nvSpPr>
          <p:cNvPr id="223" name="Google Shape;223;p7"/>
          <p:cNvSpPr/>
          <p:nvPr/>
        </p:nvSpPr>
        <p:spPr>
          <a:xfrm>
            <a:off x="6953944" y="7864822"/>
            <a:ext cx="1939652" cy="26035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6B6860"/>
              </a:buClr>
              <a:buSzPts val="1500"/>
              <a:buFont typeface="Arial"/>
              <a:buNone/>
            </a:pPr>
            <a:r>
              <a:rPr b="0" i="0" lang="en-US" sz="1500" u="none" cap="none" strike="noStrike">
                <a:solidFill>
                  <a:srgbClr val="6B6860"/>
                </a:solidFill>
                <a:latin typeface="Arial"/>
                <a:ea typeface="Arial"/>
                <a:cs typeface="Arial"/>
                <a:sym typeface="Arial"/>
              </a:rPr>
              <a:t>Bare metal to browser</a:t>
            </a:r>
            <a:endParaRPr b="0" i="0" sz="1500" u="none" cap="none" strike="noStrike">
              <a:solidFill>
                <a:schemeClr val="dk1"/>
              </a:solidFill>
              <a:latin typeface="Calibri"/>
              <a:ea typeface="Calibri"/>
              <a:cs typeface="Calibri"/>
              <a:sym typeface="Calibri"/>
            </a:endParaRPr>
          </a:p>
        </p:txBody>
      </p:sp>
      <p:sp>
        <p:nvSpPr>
          <p:cNvPr id="224" name="Google Shape;224;p7"/>
          <p:cNvSpPr/>
          <p:nvPr/>
        </p:nvSpPr>
        <p:spPr>
          <a:xfrm>
            <a:off x="914301" y="9136186"/>
            <a:ext cx="7979296"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914301" y="8672711"/>
            <a:ext cx="914350"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04</a:t>
            </a:r>
            <a:endParaRPr b="0" i="0" sz="1050" u="none" cap="none" strike="noStrike">
              <a:solidFill>
                <a:schemeClr val="dk1"/>
              </a:solidFill>
              <a:latin typeface="Calibri"/>
              <a:ea typeface="Calibri"/>
              <a:cs typeface="Calibri"/>
              <a:sym typeface="Calibri"/>
            </a:endParaRPr>
          </a:p>
        </p:txBody>
      </p:sp>
      <p:sp>
        <p:nvSpPr>
          <p:cNvPr id="226" name="Google Shape;226;p7"/>
          <p:cNvSpPr/>
          <p:nvPr/>
        </p:nvSpPr>
        <p:spPr>
          <a:xfrm>
            <a:off x="1752451" y="8577461"/>
            <a:ext cx="5054197" cy="387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2400"/>
              <a:buFont typeface="Arial"/>
              <a:buNone/>
            </a:pPr>
            <a:r>
              <a:rPr b="0" i="0" lang="en-US" sz="2400" u="none" cap="none" strike="noStrike">
                <a:solidFill>
                  <a:srgbClr val="0E0E0C"/>
                </a:solidFill>
                <a:latin typeface="Arial"/>
                <a:ea typeface="Arial"/>
                <a:cs typeface="Arial"/>
                <a:sym typeface="Arial"/>
              </a:rPr>
              <a:t>Durable</a:t>
            </a:r>
            <a:endParaRPr b="0" i="0" sz="2400" u="none" cap="none" strike="noStrike">
              <a:solidFill>
                <a:schemeClr val="dk1"/>
              </a:solidFill>
              <a:latin typeface="Calibri"/>
              <a:ea typeface="Calibri"/>
              <a:cs typeface="Calibri"/>
              <a:sym typeface="Calibri"/>
            </a:endParaRPr>
          </a:p>
        </p:txBody>
      </p:sp>
      <p:sp>
        <p:nvSpPr>
          <p:cNvPr id="227" name="Google Shape;227;p7"/>
          <p:cNvSpPr/>
          <p:nvPr/>
        </p:nvSpPr>
        <p:spPr>
          <a:xfrm>
            <a:off x="6583238" y="8640961"/>
            <a:ext cx="2310358" cy="26035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6B6860"/>
              </a:buClr>
              <a:buSzPts val="1500"/>
              <a:buFont typeface="Arial"/>
              <a:buNone/>
            </a:pPr>
            <a:r>
              <a:rPr b="0" i="0" lang="en-US" sz="1500" u="none" cap="none" strike="noStrike">
                <a:solidFill>
                  <a:srgbClr val="6B6860"/>
                </a:solidFill>
                <a:latin typeface="Arial"/>
                <a:ea typeface="Arial"/>
                <a:cs typeface="Arial"/>
                <a:sym typeface="Arial"/>
              </a:rPr>
              <a:t>Outlasts any product cycle</a:t>
            </a:r>
            <a:endParaRPr b="0" i="0" sz="1500" u="none" cap="none" strike="noStrike">
              <a:solidFill>
                <a:schemeClr val="dk1"/>
              </a:solidFill>
              <a:latin typeface="Calibri"/>
              <a:ea typeface="Calibri"/>
              <a:cs typeface="Calibri"/>
              <a:sym typeface="Calibri"/>
            </a:endParaRPr>
          </a:p>
        </p:txBody>
      </p:sp>
      <p:sp>
        <p:nvSpPr>
          <p:cNvPr id="228" name="Google Shape;228;p7"/>
          <p:cNvSpPr/>
          <p:nvPr/>
        </p:nvSpPr>
        <p:spPr>
          <a:xfrm>
            <a:off x="9579322" y="952500"/>
            <a:ext cx="8708678" cy="8648774"/>
          </a:xfrm>
          <a:prstGeom prst="rect">
            <a:avLst/>
          </a:prstGeom>
          <a:solidFill>
            <a:srgbClr val="0E0E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10341322" y="1485801"/>
            <a:ext cx="7400218"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F2EFE9"/>
                </a:solidFill>
                <a:latin typeface="Arial"/>
                <a:ea typeface="Arial"/>
                <a:cs typeface="Arial"/>
                <a:sym typeface="Arial"/>
              </a:rPr>
              <a:t>HORIZON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30" name="Google Shape;230;p7"/>
          <p:cNvSpPr/>
          <p:nvPr/>
        </p:nvSpPr>
        <p:spPr>
          <a:xfrm>
            <a:off x="10341322" y="4486548"/>
            <a:ext cx="5494020" cy="1406203"/>
          </a:xfrm>
          <a:prstGeom prst="rect">
            <a:avLst/>
          </a:prstGeom>
          <a:noFill/>
          <a:ln>
            <a:noFill/>
          </a:ln>
        </p:spPr>
        <p:txBody>
          <a:bodyPr anchorCtr="0" anchor="t" bIns="25400" lIns="25400" spcFirstLastPara="1" rIns="25400" wrap="square" tIns="25400">
            <a:noAutofit/>
          </a:bodyPr>
          <a:lstStyle/>
          <a:p>
            <a:pPr indent="0" lvl="0" marL="0" marR="0" rtl="0" algn="l">
              <a:lnSpc>
                <a:spcPct val="114000"/>
              </a:lnSpc>
              <a:spcBef>
                <a:spcPts val="0"/>
              </a:spcBef>
              <a:spcAft>
                <a:spcPts val="0"/>
              </a:spcAft>
              <a:buClr>
                <a:srgbClr val="F2EFE9"/>
              </a:buClr>
              <a:buSzPts val="3150"/>
              <a:buFont typeface="Arial"/>
              <a:buNone/>
            </a:pPr>
            <a:r>
              <a:rPr b="1" i="0" lang="en-US" sz="3150" u="none" cap="none" strike="noStrike">
                <a:solidFill>
                  <a:srgbClr val="F2EFE9"/>
                </a:solidFill>
                <a:latin typeface="Arial"/>
                <a:ea typeface="Arial"/>
                <a:cs typeface="Arial"/>
                <a:sym typeface="Arial"/>
              </a:rPr>
              <a:t>Designed to </a:t>
            </a:r>
            <a:r>
              <a:rPr b="1" i="0" lang="en-US" sz="3150" u="none" cap="none" strike="noStrike">
                <a:solidFill>
                  <a:srgbClr val="EE5622"/>
                </a:solidFill>
                <a:latin typeface="Arial"/>
                <a:ea typeface="Arial"/>
                <a:cs typeface="Arial"/>
                <a:sym typeface="Arial"/>
              </a:rPr>
              <a:t>outlast </a:t>
            </a:r>
            <a:r>
              <a:rPr b="1" i="0" lang="en-US" sz="3150" u="none" cap="none" strike="noStrike">
                <a:solidFill>
                  <a:srgbClr val="F2EFE9"/>
                </a:solidFill>
                <a:latin typeface="Arial"/>
                <a:ea typeface="Arial"/>
                <a:cs typeface="Arial"/>
                <a:sym typeface="Arial"/>
              </a:rPr>
              <a:t>any single technology wave or hyperscaler product cycle.</a:t>
            </a:r>
            <a:endParaRPr b="0" i="0" sz="3150" u="none" cap="none" strike="noStrike">
              <a:solidFill>
                <a:schemeClr val="dk1"/>
              </a:solidFill>
              <a:latin typeface="Calibri"/>
              <a:ea typeface="Calibri"/>
              <a:cs typeface="Calibri"/>
              <a:sym typeface="Calibri"/>
            </a:endParaRPr>
          </a:p>
        </p:txBody>
      </p:sp>
      <p:sp>
        <p:nvSpPr>
          <p:cNvPr id="231" name="Google Shape;231;p7"/>
          <p:cNvSpPr/>
          <p:nvPr/>
        </p:nvSpPr>
        <p:spPr>
          <a:xfrm>
            <a:off x="10341322" y="8680648"/>
            <a:ext cx="7400218"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050"/>
              <a:buFont typeface="Arial"/>
              <a:buNone/>
            </a:pPr>
            <a:r>
              <a:rPr b="0" i="0" lang="en-US" sz="1050" u="none" cap="none" strike="noStrike">
                <a:solidFill>
                  <a:srgbClr val="F2EFE9"/>
                </a:solidFill>
                <a:latin typeface="Arial"/>
                <a:ea typeface="Arial"/>
                <a:cs typeface="Arial"/>
                <a:sym typeface="Arial"/>
              </a:rPr>
              <a:t>— DRAFT SPECIFICATION · V0.9</a:t>
            </a:r>
            <a:endParaRPr b="0" i="0" sz="1050" u="none" cap="none" strike="noStrike">
              <a:solidFill>
                <a:schemeClr val="dk1"/>
              </a:solidFill>
              <a:latin typeface="Calibri"/>
              <a:ea typeface="Calibri"/>
              <a:cs typeface="Calibri"/>
              <a:sym typeface="Calibri"/>
            </a:endParaRPr>
          </a:p>
        </p:txBody>
      </p:sp>
      <p:sp>
        <p:nvSpPr>
          <p:cNvPr id="232" name="Google Shape;232;p7"/>
          <p:cNvSpPr/>
          <p:nvPr/>
        </p:nvSpPr>
        <p:spPr>
          <a:xfrm>
            <a:off x="0" y="9593337"/>
            <a:ext cx="18288000"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685726" y="9864700"/>
            <a:ext cx="273334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OIA · ADVISORY BOARD BRIEF</a:t>
            </a:r>
            <a:endParaRPr b="0" i="0" sz="1050" u="none" cap="none" strike="noStrike">
              <a:solidFill>
                <a:schemeClr val="dk1"/>
              </a:solidFill>
              <a:latin typeface="Calibri"/>
              <a:ea typeface="Calibri"/>
              <a:cs typeface="Calibri"/>
              <a:sym typeface="Calibri"/>
            </a:endParaRPr>
          </a:p>
        </p:txBody>
      </p:sp>
      <p:sp>
        <p:nvSpPr>
          <p:cNvPr id="234" name="Google Shape;234;p7"/>
          <p:cNvSpPr/>
          <p:nvPr/>
        </p:nvSpPr>
        <p:spPr>
          <a:xfrm>
            <a:off x="16701368" y="9864700"/>
            <a:ext cx="977106"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APRIL 2026</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9"/>
        </a:solidFill>
      </p:bgPr>
    </p:bg>
    <p:spTree>
      <p:nvGrpSpPr>
        <p:cNvPr id="239" name="Shape 239"/>
        <p:cNvGrpSpPr/>
        <p:nvPr/>
      </p:nvGrpSpPr>
      <p:grpSpPr>
        <a:xfrm>
          <a:off x="0" y="0"/>
          <a:ext cx="0" cy="0"/>
          <a:chOff x="0" y="0"/>
          <a:chExt cx="0" cy="0"/>
        </a:xfrm>
      </p:grpSpPr>
      <p:sp>
        <p:nvSpPr>
          <p:cNvPr id="240" name="Google Shape;240;p8"/>
          <p:cNvSpPr/>
          <p:nvPr/>
        </p:nvSpPr>
        <p:spPr>
          <a:xfrm>
            <a:off x="0" y="952500"/>
            <a:ext cx="18288000"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685726" y="353219"/>
            <a:ext cx="2785078"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AGENTICS </a:t>
            </a:r>
            <a:r>
              <a:rPr b="0" i="0" lang="en-US" sz="1650" u="none" cap="none" strike="noStrike">
                <a:solidFill>
                  <a:srgbClr val="EE5622"/>
                </a:solidFill>
                <a:latin typeface="Arial"/>
                <a:ea typeface="Arial"/>
                <a:cs typeface="Arial"/>
                <a:sym typeface="Arial"/>
              </a:rPr>
              <a:t>[</a:t>
            </a:r>
            <a:r>
              <a:rPr b="0" i="0" lang="en-US" sz="1650" u="none" cap="none" strike="noStrike">
                <a:solidFill>
                  <a:srgbClr val="0E0E0C"/>
                </a:solidFill>
                <a:latin typeface="Arial"/>
                <a:ea typeface="Arial"/>
                <a:cs typeface="Arial"/>
                <a:sym typeface="Arial"/>
              </a:rPr>
              <a:t>FOUNDATION</a:t>
            </a:r>
            <a:r>
              <a:rPr b="0" i="0" lang="en-US" sz="1650" u="none" cap="none" strike="noStrike">
                <a:solidFill>
                  <a:srgbClr val="EE5622"/>
                </a:solidFill>
                <a:latin typeface="Arial"/>
                <a:ea typeface="Arial"/>
                <a:cs typeface="Arial"/>
                <a:sym typeface="Arial"/>
              </a:rPr>
              <a:t>]</a:t>
            </a:r>
            <a:endParaRPr b="0" i="0" sz="1650" u="none" cap="none" strike="noStrike">
              <a:solidFill>
                <a:schemeClr val="dk1"/>
              </a:solidFill>
              <a:latin typeface="Calibri"/>
              <a:ea typeface="Calibri"/>
              <a:cs typeface="Calibri"/>
              <a:sym typeface="Calibri"/>
            </a:endParaRPr>
          </a:p>
        </p:txBody>
      </p:sp>
      <p:sp>
        <p:nvSpPr>
          <p:cNvPr id="242" name="Google Shape;242;p8"/>
          <p:cNvSpPr/>
          <p:nvPr/>
        </p:nvSpPr>
        <p:spPr>
          <a:xfrm>
            <a:off x="15818817" y="388937"/>
            <a:ext cx="1859657"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06 / 10 · THE STACK</a:t>
            </a:r>
            <a:endParaRPr b="0" i="0" sz="1200" u="none" cap="none" strike="noStrike">
              <a:solidFill>
                <a:schemeClr val="dk1"/>
              </a:solidFill>
              <a:latin typeface="Calibri"/>
              <a:ea typeface="Calibri"/>
              <a:cs typeface="Calibri"/>
              <a:sym typeface="Calibri"/>
            </a:endParaRPr>
          </a:p>
        </p:txBody>
      </p:sp>
      <p:sp>
        <p:nvSpPr>
          <p:cNvPr id="243" name="Google Shape;243;p8"/>
          <p:cNvSpPr/>
          <p:nvPr/>
        </p:nvSpPr>
        <p:spPr>
          <a:xfrm>
            <a:off x="4373563" y="952500"/>
            <a:ext cx="9525" cy="8648774"/>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914301" y="1562075"/>
            <a:ext cx="301374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6B6860"/>
                </a:solidFill>
                <a:latin typeface="Arial"/>
                <a:ea typeface="Arial"/>
                <a:cs typeface="Arial"/>
                <a:sym typeface="Arial"/>
              </a:rPr>
              <a:t>DRAFT MODEL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45" name="Google Shape;245;p8"/>
          <p:cNvSpPr/>
          <p:nvPr/>
        </p:nvSpPr>
        <p:spPr>
          <a:xfrm>
            <a:off x="914301" y="2079501"/>
            <a:ext cx="533301" cy="38075"/>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914301" y="2500064"/>
            <a:ext cx="3013740" cy="1352252"/>
          </a:xfrm>
          <a:prstGeom prst="rect">
            <a:avLst/>
          </a:prstGeom>
          <a:noFill/>
          <a:ln>
            <a:noFill/>
          </a:ln>
        </p:spPr>
        <p:txBody>
          <a:bodyPr anchorCtr="0" anchor="t" bIns="25400" lIns="25400" spcFirstLastPara="1" rIns="25400" wrap="square" tIns="25400">
            <a:noAutofit/>
          </a:bodyPr>
          <a:lstStyle/>
          <a:p>
            <a:pPr indent="0" lvl="0" marL="0" marR="0" rtl="0" algn="l">
              <a:lnSpc>
                <a:spcPct val="92000"/>
              </a:lnSpc>
              <a:spcBef>
                <a:spcPts val="0"/>
              </a:spcBef>
              <a:spcAft>
                <a:spcPts val="0"/>
              </a:spcAft>
              <a:buClr>
                <a:srgbClr val="0E0E0C"/>
              </a:buClr>
              <a:buSzPts val="3750"/>
              <a:buFont typeface="Arial"/>
              <a:buNone/>
            </a:pPr>
            <a:r>
              <a:rPr b="1" i="0" lang="en-US" sz="3750" u="none" cap="none" strike="noStrike">
                <a:solidFill>
                  <a:srgbClr val="0E0E0C"/>
                </a:solidFill>
                <a:latin typeface="Arial"/>
                <a:ea typeface="Arial"/>
                <a:cs typeface="Arial"/>
                <a:sym typeface="Arial"/>
              </a:rPr>
              <a:t>The Open Intelligence </a:t>
            </a:r>
            <a:r>
              <a:rPr b="1" i="0" lang="en-US" sz="3750" u="none" cap="none" strike="noStrike">
                <a:solidFill>
                  <a:srgbClr val="EE5622"/>
                </a:solidFill>
                <a:latin typeface="Arial"/>
                <a:ea typeface="Arial"/>
                <a:cs typeface="Arial"/>
                <a:sym typeface="Arial"/>
              </a:rPr>
              <a:t>Architecture.</a:t>
            </a:r>
            <a:endParaRPr b="0" i="0" sz="3750" u="none" cap="none" strike="noStrike">
              <a:solidFill>
                <a:schemeClr val="dk1"/>
              </a:solidFill>
              <a:latin typeface="Calibri"/>
              <a:ea typeface="Calibri"/>
              <a:cs typeface="Calibri"/>
              <a:sym typeface="Calibri"/>
            </a:endParaRPr>
          </a:p>
        </p:txBody>
      </p:sp>
      <p:sp>
        <p:nvSpPr>
          <p:cNvPr id="247" name="Google Shape;247;p8"/>
          <p:cNvSpPr/>
          <p:nvPr/>
        </p:nvSpPr>
        <p:spPr>
          <a:xfrm>
            <a:off x="914301" y="6568777"/>
            <a:ext cx="3013740" cy="278085"/>
          </a:xfrm>
          <a:prstGeom prst="rect">
            <a:avLst/>
          </a:prstGeom>
          <a:noFill/>
          <a:ln>
            <a:noFill/>
          </a:ln>
        </p:spPr>
        <p:txBody>
          <a:bodyPr anchorCtr="0" anchor="t" bIns="25400" lIns="25400" spcFirstLastPara="1" rIns="25400" wrap="square" tIns="25400">
            <a:noAutofit/>
          </a:bodyPr>
          <a:lstStyle/>
          <a:p>
            <a:pPr indent="0" lvl="0" marL="0" marR="0" rtl="0" algn="l">
              <a:lnSpc>
                <a:spcPct val="180000"/>
              </a:lnSpc>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 </a:t>
            </a:r>
            <a:r>
              <a:rPr b="0" i="0" lang="en-US" sz="1050" u="none" cap="none" strike="noStrike">
                <a:solidFill>
                  <a:srgbClr val="6B6860"/>
                </a:solidFill>
                <a:latin typeface="Arial"/>
                <a:ea typeface="Arial"/>
                <a:cs typeface="Arial"/>
                <a:sym typeface="Arial"/>
              </a:rPr>
              <a:t>HUMAN</a:t>
            </a:r>
            <a:endParaRPr b="0" i="0" sz="1050" u="none" cap="none" strike="noStrike">
              <a:solidFill>
                <a:schemeClr val="dk1"/>
              </a:solidFill>
              <a:latin typeface="Calibri"/>
              <a:ea typeface="Calibri"/>
              <a:cs typeface="Calibri"/>
              <a:sym typeface="Calibri"/>
            </a:endParaRPr>
          </a:p>
        </p:txBody>
      </p:sp>
      <p:sp>
        <p:nvSpPr>
          <p:cNvPr id="248" name="Google Shape;248;p8"/>
          <p:cNvSpPr/>
          <p:nvPr/>
        </p:nvSpPr>
        <p:spPr>
          <a:xfrm>
            <a:off x="971352" y="6922988"/>
            <a:ext cx="9525" cy="1714500"/>
          </a:xfrm>
          <a:prstGeom prst="rect">
            <a:avLst/>
          </a:prstGeom>
          <a:solidFill>
            <a:srgbClr val="0E0E0C">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914301" y="8751713"/>
            <a:ext cx="3013740" cy="278085"/>
          </a:xfrm>
          <a:prstGeom prst="rect">
            <a:avLst/>
          </a:prstGeom>
          <a:noFill/>
          <a:ln>
            <a:noFill/>
          </a:ln>
        </p:spPr>
        <p:txBody>
          <a:bodyPr anchorCtr="0" anchor="t" bIns="25400" lIns="25400" spcFirstLastPara="1" rIns="25400" wrap="square" tIns="25400">
            <a:noAutofit/>
          </a:bodyPr>
          <a:lstStyle/>
          <a:p>
            <a:pPr indent="0" lvl="0" marL="0" marR="0" rtl="0" algn="l">
              <a:lnSpc>
                <a:spcPct val="180000"/>
              </a:lnSpc>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 PHYSICAL</a:t>
            </a:r>
            <a:endParaRPr b="0" i="0" sz="1050" u="none" cap="none" strike="noStrike">
              <a:solidFill>
                <a:schemeClr val="dk1"/>
              </a:solidFill>
              <a:latin typeface="Calibri"/>
              <a:ea typeface="Calibri"/>
              <a:cs typeface="Calibri"/>
              <a:sym typeface="Calibri"/>
            </a:endParaRPr>
          </a:p>
        </p:txBody>
      </p:sp>
      <p:sp>
        <p:nvSpPr>
          <p:cNvPr id="250" name="Google Shape;250;p8"/>
          <p:cNvSpPr/>
          <p:nvPr/>
        </p:nvSpPr>
        <p:spPr>
          <a:xfrm>
            <a:off x="4838650" y="2860600"/>
            <a:ext cx="12535049" cy="9525"/>
          </a:xfrm>
          <a:prstGeom prst="rect">
            <a:avLst/>
          </a:prstGeom>
          <a:solidFill>
            <a:srgbClr val="0E0E0C">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4838650" y="3343052"/>
            <a:ext cx="12535049"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4838650" y="3018482"/>
            <a:ext cx="11239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LAYER </a:t>
            </a:r>
            <a:r>
              <a:rPr b="0" i="0" lang="en-US" sz="1200" u="none" cap="none" strike="noStrike">
                <a:solidFill>
                  <a:srgbClr val="EE5622"/>
                </a:solidFill>
                <a:latin typeface="Arial"/>
                <a:ea typeface="Arial"/>
                <a:cs typeface="Arial"/>
                <a:sym typeface="Arial"/>
              </a:rPr>
              <a:t>09</a:t>
            </a:r>
            <a:endParaRPr b="0" i="0" sz="1200" u="none" cap="none" strike="noStrike">
              <a:solidFill>
                <a:schemeClr val="dk1"/>
              </a:solidFill>
              <a:latin typeface="Calibri"/>
              <a:ea typeface="Calibri"/>
              <a:cs typeface="Calibri"/>
              <a:sym typeface="Calibri"/>
            </a:endParaRPr>
          </a:p>
        </p:txBody>
      </p:sp>
      <p:sp>
        <p:nvSpPr>
          <p:cNvPr id="253" name="Google Shape;253;p8"/>
          <p:cNvSpPr/>
          <p:nvPr/>
        </p:nvSpPr>
        <p:spPr>
          <a:xfrm>
            <a:off x="6038701" y="2982764"/>
            <a:ext cx="255270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Human Interface</a:t>
            </a:r>
            <a:endParaRPr b="0" i="0" sz="1650" u="none" cap="none" strike="noStrike">
              <a:solidFill>
                <a:schemeClr val="dk1"/>
              </a:solidFill>
              <a:latin typeface="Calibri"/>
              <a:ea typeface="Calibri"/>
              <a:cs typeface="Calibri"/>
              <a:sym typeface="Calibri"/>
            </a:endParaRPr>
          </a:p>
        </p:txBody>
      </p:sp>
      <p:sp>
        <p:nvSpPr>
          <p:cNvPr id="254" name="Google Shape;254;p8"/>
          <p:cNvSpPr/>
          <p:nvPr/>
        </p:nvSpPr>
        <p:spPr>
          <a:xfrm>
            <a:off x="8667502" y="3002607"/>
            <a:ext cx="7437008" cy="244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The interaction surface</a:t>
            </a:r>
            <a:endParaRPr b="0" i="0" sz="1350" u="none" cap="none" strike="noStrike">
              <a:solidFill>
                <a:schemeClr val="dk1"/>
              </a:solidFill>
              <a:latin typeface="Calibri"/>
              <a:ea typeface="Calibri"/>
              <a:cs typeface="Calibri"/>
              <a:sym typeface="Calibri"/>
            </a:endParaRPr>
          </a:p>
        </p:txBody>
      </p:sp>
      <p:sp>
        <p:nvSpPr>
          <p:cNvPr id="255" name="Google Shape;255;p8"/>
          <p:cNvSpPr/>
          <p:nvPr/>
        </p:nvSpPr>
        <p:spPr>
          <a:xfrm>
            <a:off x="16040199" y="3039070"/>
            <a:ext cx="1333500" cy="133325"/>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4838650" y="3825503"/>
            <a:ext cx="12535049"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p:nvPr/>
        </p:nvSpPr>
        <p:spPr>
          <a:xfrm>
            <a:off x="4838650" y="3500933"/>
            <a:ext cx="11239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LAYER </a:t>
            </a:r>
            <a:r>
              <a:rPr b="0" i="0" lang="en-US" sz="1200" u="none" cap="none" strike="noStrike">
                <a:solidFill>
                  <a:srgbClr val="EE5622"/>
                </a:solidFill>
                <a:latin typeface="Arial"/>
                <a:ea typeface="Arial"/>
                <a:cs typeface="Arial"/>
                <a:sym typeface="Arial"/>
              </a:rPr>
              <a:t>08</a:t>
            </a:r>
            <a:endParaRPr b="0" i="0" sz="1200" u="none" cap="none" strike="noStrike">
              <a:solidFill>
                <a:schemeClr val="dk1"/>
              </a:solidFill>
              <a:latin typeface="Calibri"/>
              <a:ea typeface="Calibri"/>
              <a:cs typeface="Calibri"/>
              <a:sym typeface="Calibri"/>
            </a:endParaRPr>
          </a:p>
        </p:txBody>
      </p:sp>
      <p:sp>
        <p:nvSpPr>
          <p:cNvPr id="258" name="Google Shape;258;p8"/>
          <p:cNvSpPr/>
          <p:nvPr/>
        </p:nvSpPr>
        <p:spPr>
          <a:xfrm>
            <a:off x="6038701" y="3465215"/>
            <a:ext cx="255270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Continuity Fabric</a:t>
            </a:r>
            <a:endParaRPr b="0" i="0" sz="1650" u="none" cap="none" strike="noStrike">
              <a:solidFill>
                <a:schemeClr val="dk1"/>
              </a:solidFill>
              <a:latin typeface="Calibri"/>
              <a:ea typeface="Calibri"/>
              <a:cs typeface="Calibri"/>
              <a:sym typeface="Calibri"/>
            </a:endParaRPr>
          </a:p>
        </p:txBody>
      </p:sp>
      <p:sp>
        <p:nvSpPr>
          <p:cNvPr id="259" name="Google Shape;259;p8"/>
          <p:cNvSpPr/>
          <p:nvPr/>
        </p:nvSpPr>
        <p:spPr>
          <a:xfrm>
            <a:off x="8667502" y="3485058"/>
            <a:ext cx="7437008" cy="244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Cognitive state and memory</a:t>
            </a:r>
            <a:endParaRPr b="0" i="0" sz="1350" u="none" cap="none" strike="noStrike">
              <a:solidFill>
                <a:schemeClr val="dk1"/>
              </a:solidFill>
              <a:latin typeface="Calibri"/>
              <a:ea typeface="Calibri"/>
              <a:cs typeface="Calibri"/>
              <a:sym typeface="Calibri"/>
            </a:endParaRPr>
          </a:p>
        </p:txBody>
      </p:sp>
      <p:sp>
        <p:nvSpPr>
          <p:cNvPr id="260" name="Google Shape;260;p8"/>
          <p:cNvSpPr/>
          <p:nvPr/>
        </p:nvSpPr>
        <p:spPr>
          <a:xfrm>
            <a:off x="16120318" y="3521521"/>
            <a:ext cx="1253381" cy="133325"/>
          </a:xfrm>
          <a:prstGeom prst="rect">
            <a:avLst/>
          </a:prstGeom>
          <a:solidFill>
            <a:srgbClr val="0E0E0C">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4838650" y="4307954"/>
            <a:ext cx="12535049"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4838650" y="3983385"/>
            <a:ext cx="11239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LAYER </a:t>
            </a:r>
            <a:r>
              <a:rPr b="0" i="0" lang="en-US" sz="1200" u="none" cap="none" strike="noStrike">
                <a:solidFill>
                  <a:srgbClr val="EE5622"/>
                </a:solidFill>
                <a:latin typeface="Arial"/>
                <a:ea typeface="Arial"/>
                <a:cs typeface="Arial"/>
                <a:sym typeface="Arial"/>
              </a:rPr>
              <a:t>07</a:t>
            </a:r>
            <a:endParaRPr b="0" i="0" sz="1200" u="none" cap="none" strike="noStrike">
              <a:solidFill>
                <a:schemeClr val="dk1"/>
              </a:solidFill>
              <a:latin typeface="Calibri"/>
              <a:ea typeface="Calibri"/>
              <a:cs typeface="Calibri"/>
              <a:sym typeface="Calibri"/>
            </a:endParaRPr>
          </a:p>
        </p:txBody>
      </p:sp>
      <p:sp>
        <p:nvSpPr>
          <p:cNvPr id="263" name="Google Shape;263;p8"/>
          <p:cNvSpPr/>
          <p:nvPr/>
        </p:nvSpPr>
        <p:spPr>
          <a:xfrm>
            <a:off x="6038701" y="3947666"/>
            <a:ext cx="255270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Orchestration</a:t>
            </a:r>
            <a:endParaRPr b="0" i="0" sz="1650" u="none" cap="none" strike="noStrike">
              <a:solidFill>
                <a:schemeClr val="dk1"/>
              </a:solidFill>
              <a:latin typeface="Calibri"/>
              <a:ea typeface="Calibri"/>
              <a:cs typeface="Calibri"/>
              <a:sym typeface="Calibri"/>
            </a:endParaRPr>
          </a:p>
        </p:txBody>
      </p:sp>
      <p:sp>
        <p:nvSpPr>
          <p:cNvPr id="264" name="Google Shape;264;p8"/>
          <p:cNvSpPr/>
          <p:nvPr/>
        </p:nvSpPr>
        <p:spPr>
          <a:xfrm>
            <a:off x="8667502" y="3967510"/>
            <a:ext cx="7437008" cy="244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Workflows and tool coordination</a:t>
            </a:r>
            <a:endParaRPr b="0" i="0" sz="1350" u="none" cap="none" strike="noStrike">
              <a:solidFill>
                <a:schemeClr val="dk1"/>
              </a:solidFill>
              <a:latin typeface="Calibri"/>
              <a:ea typeface="Calibri"/>
              <a:cs typeface="Calibri"/>
              <a:sym typeface="Calibri"/>
            </a:endParaRPr>
          </a:p>
        </p:txBody>
      </p:sp>
      <p:sp>
        <p:nvSpPr>
          <p:cNvPr id="265" name="Google Shape;265;p8"/>
          <p:cNvSpPr/>
          <p:nvPr/>
        </p:nvSpPr>
        <p:spPr>
          <a:xfrm>
            <a:off x="16200313" y="4003972"/>
            <a:ext cx="1173386" cy="133325"/>
          </a:xfrm>
          <a:prstGeom prst="rect">
            <a:avLst/>
          </a:prstGeom>
          <a:solidFill>
            <a:srgbClr val="0E0E0C">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4838650" y="4790405"/>
            <a:ext cx="12535049"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4838650" y="4465836"/>
            <a:ext cx="11239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LAYER </a:t>
            </a:r>
            <a:r>
              <a:rPr b="0" i="0" lang="en-US" sz="1200" u="none" cap="none" strike="noStrike">
                <a:solidFill>
                  <a:srgbClr val="EE5622"/>
                </a:solidFill>
                <a:latin typeface="Arial"/>
                <a:ea typeface="Arial"/>
                <a:cs typeface="Arial"/>
                <a:sym typeface="Arial"/>
              </a:rPr>
              <a:t>06</a:t>
            </a:r>
            <a:endParaRPr b="0" i="0" sz="1200" u="none" cap="none" strike="noStrike">
              <a:solidFill>
                <a:schemeClr val="dk1"/>
              </a:solidFill>
              <a:latin typeface="Calibri"/>
              <a:ea typeface="Calibri"/>
              <a:cs typeface="Calibri"/>
              <a:sym typeface="Calibri"/>
            </a:endParaRPr>
          </a:p>
        </p:txBody>
      </p:sp>
      <p:sp>
        <p:nvSpPr>
          <p:cNvPr id="268" name="Google Shape;268;p8"/>
          <p:cNvSpPr/>
          <p:nvPr/>
        </p:nvSpPr>
        <p:spPr>
          <a:xfrm>
            <a:off x="6038701" y="4430117"/>
            <a:ext cx="255270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Context &amp; Knowledge</a:t>
            </a:r>
            <a:endParaRPr b="0" i="0" sz="1650" u="none" cap="none" strike="noStrike">
              <a:solidFill>
                <a:schemeClr val="dk1"/>
              </a:solidFill>
              <a:latin typeface="Calibri"/>
              <a:ea typeface="Calibri"/>
              <a:cs typeface="Calibri"/>
              <a:sym typeface="Calibri"/>
            </a:endParaRPr>
          </a:p>
        </p:txBody>
      </p:sp>
      <p:sp>
        <p:nvSpPr>
          <p:cNvPr id="269" name="Google Shape;269;p8"/>
          <p:cNvSpPr/>
          <p:nvPr/>
        </p:nvSpPr>
        <p:spPr>
          <a:xfrm>
            <a:off x="8667502" y="4449961"/>
            <a:ext cx="7437008" cy="244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Grounding and perception</a:t>
            </a:r>
            <a:endParaRPr b="0" i="0" sz="1350" u="none" cap="none" strike="noStrike">
              <a:solidFill>
                <a:schemeClr val="dk1"/>
              </a:solidFill>
              <a:latin typeface="Calibri"/>
              <a:ea typeface="Calibri"/>
              <a:cs typeface="Calibri"/>
              <a:sym typeface="Calibri"/>
            </a:endParaRPr>
          </a:p>
        </p:txBody>
      </p:sp>
      <p:sp>
        <p:nvSpPr>
          <p:cNvPr id="270" name="Google Shape;270;p8"/>
          <p:cNvSpPr/>
          <p:nvPr/>
        </p:nvSpPr>
        <p:spPr>
          <a:xfrm>
            <a:off x="16280309" y="4486424"/>
            <a:ext cx="1093391" cy="133325"/>
          </a:xfrm>
          <a:prstGeom prst="rect">
            <a:avLst/>
          </a:prstGeom>
          <a:solidFill>
            <a:srgbClr val="0E0E0C">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4838650" y="5272856"/>
            <a:ext cx="12535049"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4838650" y="4948287"/>
            <a:ext cx="11239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LAYER </a:t>
            </a:r>
            <a:r>
              <a:rPr b="0" i="0" lang="en-US" sz="1200" u="none" cap="none" strike="noStrike">
                <a:solidFill>
                  <a:srgbClr val="EE5622"/>
                </a:solidFill>
                <a:latin typeface="Arial"/>
                <a:ea typeface="Arial"/>
                <a:cs typeface="Arial"/>
                <a:sym typeface="Arial"/>
              </a:rPr>
              <a:t>05</a:t>
            </a:r>
            <a:endParaRPr b="0" i="0" sz="1200" u="none" cap="none" strike="noStrike">
              <a:solidFill>
                <a:schemeClr val="dk1"/>
              </a:solidFill>
              <a:latin typeface="Calibri"/>
              <a:ea typeface="Calibri"/>
              <a:cs typeface="Calibri"/>
              <a:sym typeface="Calibri"/>
            </a:endParaRPr>
          </a:p>
        </p:txBody>
      </p:sp>
      <p:sp>
        <p:nvSpPr>
          <p:cNvPr id="273" name="Google Shape;273;p8"/>
          <p:cNvSpPr/>
          <p:nvPr/>
        </p:nvSpPr>
        <p:spPr>
          <a:xfrm>
            <a:off x="6038701" y="4912568"/>
            <a:ext cx="255270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Inference &amp; Retrieval</a:t>
            </a:r>
            <a:endParaRPr b="0" i="0" sz="1650" u="none" cap="none" strike="noStrike">
              <a:solidFill>
                <a:schemeClr val="dk1"/>
              </a:solidFill>
              <a:latin typeface="Calibri"/>
              <a:ea typeface="Calibri"/>
              <a:cs typeface="Calibri"/>
              <a:sym typeface="Calibri"/>
            </a:endParaRPr>
          </a:p>
        </p:txBody>
      </p:sp>
      <p:sp>
        <p:nvSpPr>
          <p:cNvPr id="274" name="Google Shape;274;p8"/>
          <p:cNvSpPr/>
          <p:nvPr/>
        </p:nvSpPr>
        <p:spPr>
          <a:xfrm>
            <a:off x="8667502" y="4932412"/>
            <a:ext cx="7437008" cy="244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Model execution and queries</a:t>
            </a:r>
            <a:endParaRPr b="0" i="0" sz="1350" u="none" cap="none" strike="noStrike">
              <a:solidFill>
                <a:schemeClr val="dk1"/>
              </a:solidFill>
              <a:latin typeface="Calibri"/>
              <a:ea typeface="Calibri"/>
              <a:cs typeface="Calibri"/>
              <a:sym typeface="Calibri"/>
            </a:endParaRPr>
          </a:p>
        </p:txBody>
      </p:sp>
      <p:sp>
        <p:nvSpPr>
          <p:cNvPr id="275" name="Google Shape;275;p8"/>
          <p:cNvSpPr/>
          <p:nvPr/>
        </p:nvSpPr>
        <p:spPr>
          <a:xfrm>
            <a:off x="16360304" y="4968875"/>
            <a:ext cx="1013395" cy="133325"/>
          </a:xfrm>
          <a:prstGeom prst="rect">
            <a:avLst/>
          </a:prstGeom>
          <a:solidFill>
            <a:srgbClr val="0E0E0C">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4838650" y="5755308"/>
            <a:ext cx="12535049"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4838650" y="5430738"/>
            <a:ext cx="11239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LAYER </a:t>
            </a:r>
            <a:r>
              <a:rPr b="0" i="0" lang="en-US" sz="1200" u="none" cap="none" strike="noStrike">
                <a:solidFill>
                  <a:srgbClr val="EE5622"/>
                </a:solidFill>
                <a:latin typeface="Arial"/>
                <a:ea typeface="Arial"/>
                <a:cs typeface="Arial"/>
                <a:sym typeface="Arial"/>
              </a:rPr>
              <a:t>04</a:t>
            </a:r>
            <a:endParaRPr b="0" i="0" sz="1200" u="none" cap="none" strike="noStrike">
              <a:solidFill>
                <a:schemeClr val="dk1"/>
              </a:solidFill>
              <a:latin typeface="Calibri"/>
              <a:ea typeface="Calibri"/>
              <a:cs typeface="Calibri"/>
              <a:sym typeface="Calibri"/>
            </a:endParaRPr>
          </a:p>
        </p:txBody>
      </p:sp>
      <p:sp>
        <p:nvSpPr>
          <p:cNvPr id="278" name="Google Shape;278;p8"/>
          <p:cNvSpPr/>
          <p:nvPr/>
        </p:nvSpPr>
        <p:spPr>
          <a:xfrm>
            <a:off x="6038701" y="5395020"/>
            <a:ext cx="255270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Model Training</a:t>
            </a:r>
            <a:endParaRPr b="0" i="0" sz="1650" u="none" cap="none" strike="noStrike">
              <a:solidFill>
                <a:schemeClr val="dk1"/>
              </a:solidFill>
              <a:latin typeface="Calibri"/>
              <a:ea typeface="Calibri"/>
              <a:cs typeface="Calibri"/>
              <a:sym typeface="Calibri"/>
            </a:endParaRPr>
          </a:p>
        </p:txBody>
      </p:sp>
      <p:sp>
        <p:nvSpPr>
          <p:cNvPr id="279" name="Google Shape;279;p8"/>
          <p:cNvSpPr/>
          <p:nvPr/>
        </p:nvSpPr>
        <p:spPr>
          <a:xfrm>
            <a:off x="8667502" y="5414863"/>
            <a:ext cx="7437008" cy="244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Continuous adaptation</a:t>
            </a:r>
            <a:endParaRPr b="0" i="0" sz="1350" u="none" cap="none" strike="noStrike">
              <a:solidFill>
                <a:schemeClr val="dk1"/>
              </a:solidFill>
              <a:latin typeface="Calibri"/>
              <a:ea typeface="Calibri"/>
              <a:cs typeface="Calibri"/>
              <a:sym typeface="Calibri"/>
            </a:endParaRPr>
          </a:p>
        </p:txBody>
      </p:sp>
      <p:sp>
        <p:nvSpPr>
          <p:cNvPr id="280" name="Google Shape;280;p8"/>
          <p:cNvSpPr/>
          <p:nvPr/>
        </p:nvSpPr>
        <p:spPr>
          <a:xfrm>
            <a:off x="16440299" y="5451326"/>
            <a:ext cx="933400" cy="133325"/>
          </a:xfrm>
          <a:prstGeom prst="rect">
            <a:avLst/>
          </a:prstGeom>
          <a:solidFill>
            <a:srgbClr val="0E0E0C">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4838650" y="6237758"/>
            <a:ext cx="12535049"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4838650" y="5913189"/>
            <a:ext cx="11239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LAYER </a:t>
            </a:r>
            <a:r>
              <a:rPr b="0" i="0" lang="en-US" sz="1200" u="none" cap="none" strike="noStrike">
                <a:solidFill>
                  <a:srgbClr val="EE5622"/>
                </a:solidFill>
                <a:latin typeface="Arial"/>
                <a:ea typeface="Arial"/>
                <a:cs typeface="Arial"/>
                <a:sym typeface="Arial"/>
              </a:rPr>
              <a:t>03</a:t>
            </a:r>
            <a:endParaRPr b="0" i="0" sz="1200" u="none" cap="none" strike="noStrike">
              <a:solidFill>
                <a:schemeClr val="dk1"/>
              </a:solidFill>
              <a:latin typeface="Calibri"/>
              <a:ea typeface="Calibri"/>
              <a:cs typeface="Calibri"/>
              <a:sym typeface="Calibri"/>
            </a:endParaRPr>
          </a:p>
        </p:txBody>
      </p:sp>
      <p:sp>
        <p:nvSpPr>
          <p:cNvPr id="283" name="Google Shape;283;p8"/>
          <p:cNvSpPr/>
          <p:nvPr/>
        </p:nvSpPr>
        <p:spPr>
          <a:xfrm>
            <a:off x="6038701" y="5877470"/>
            <a:ext cx="255270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Agent Data Substrate</a:t>
            </a:r>
            <a:endParaRPr b="0" i="0" sz="1650" u="none" cap="none" strike="noStrike">
              <a:solidFill>
                <a:schemeClr val="dk1"/>
              </a:solidFill>
              <a:latin typeface="Calibri"/>
              <a:ea typeface="Calibri"/>
              <a:cs typeface="Calibri"/>
              <a:sym typeface="Calibri"/>
            </a:endParaRPr>
          </a:p>
        </p:txBody>
      </p:sp>
      <p:sp>
        <p:nvSpPr>
          <p:cNvPr id="284" name="Google Shape;284;p8"/>
          <p:cNvSpPr/>
          <p:nvPr/>
        </p:nvSpPr>
        <p:spPr>
          <a:xfrm>
            <a:off x="8667502" y="5897314"/>
            <a:ext cx="7437008" cy="244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Persistent, auditable data</a:t>
            </a:r>
            <a:endParaRPr b="0" i="0" sz="1350" u="none" cap="none" strike="noStrike">
              <a:solidFill>
                <a:schemeClr val="dk1"/>
              </a:solidFill>
              <a:latin typeface="Calibri"/>
              <a:ea typeface="Calibri"/>
              <a:cs typeface="Calibri"/>
              <a:sym typeface="Calibri"/>
            </a:endParaRPr>
          </a:p>
        </p:txBody>
      </p:sp>
      <p:sp>
        <p:nvSpPr>
          <p:cNvPr id="285" name="Google Shape;285;p8"/>
          <p:cNvSpPr/>
          <p:nvPr/>
        </p:nvSpPr>
        <p:spPr>
          <a:xfrm>
            <a:off x="16520294" y="5933777"/>
            <a:ext cx="853405" cy="133325"/>
          </a:xfrm>
          <a:prstGeom prst="rect">
            <a:avLst/>
          </a:prstGeom>
          <a:solidFill>
            <a:srgbClr val="0E0E0C">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4838650" y="6720210"/>
            <a:ext cx="12535049"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a:off x="4838650" y="6395640"/>
            <a:ext cx="11239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LAYER </a:t>
            </a:r>
            <a:r>
              <a:rPr b="0" i="0" lang="en-US" sz="1200" u="none" cap="none" strike="noStrike">
                <a:solidFill>
                  <a:srgbClr val="EE5622"/>
                </a:solidFill>
                <a:latin typeface="Arial"/>
                <a:ea typeface="Arial"/>
                <a:cs typeface="Arial"/>
                <a:sym typeface="Arial"/>
              </a:rPr>
              <a:t>02</a:t>
            </a:r>
            <a:endParaRPr b="0" i="0" sz="1200" u="none" cap="none" strike="noStrike">
              <a:solidFill>
                <a:schemeClr val="dk1"/>
              </a:solidFill>
              <a:latin typeface="Calibri"/>
              <a:ea typeface="Calibri"/>
              <a:cs typeface="Calibri"/>
              <a:sym typeface="Calibri"/>
            </a:endParaRPr>
          </a:p>
        </p:txBody>
      </p:sp>
      <p:sp>
        <p:nvSpPr>
          <p:cNvPr id="288" name="Google Shape;288;p8"/>
          <p:cNvSpPr/>
          <p:nvPr/>
        </p:nvSpPr>
        <p:spPr>
          <a:xfrm>
            <a:off x="6038701" y="6359922"/>
            <a:ext cx="255270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Sovereign Infrastructure</a:t>
            </a:r>
            <a:endParaRPr b="0" i="0" sz="1650" u="none" cap="none" strike="noStrike">
              <a:solidFill>
                <a:schemeClr val="dk1"/>
              </a:solidFill>
              <a:latin typeface="Calibri"/>
              <a:ea typeface="Calibri"/>
              <a:cs typeface="Calibri"/>
              <a:sym typeface="Calibri"/>
            </a:endParaRPr>
          </a:p>
        </p:txBody>
      </p:sp>
      <p:sp>
        <p:nvSpPr>
          <p:cNvPr id="289" name="Google Shape;289;p8"/>
          <p:cNvSpPr/>
          <p:nvPr/>
        </p:nvSpPr>
        <p:spPr>
          <a:xfrm>
            <a:off x="8667502" y="6379765"/>
            <a:ext cx="7437008" cy="244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Jurisdictional control</a:t>
            </a:r>
            <a:endParaRPr b="0" i="0" sz="1350" u="none" cap="none" strike="noStrike">
              <a:solidFill>
                <a:schemeClr val="dk1"/>
              </a:solidFill>
              <a:latin typeface="Calibri"/>
              <a:ea typeface="Calibri"/>
              <a:cs typeface="Calibri"/>
              <a:sym typeface="Calibri"/>
            </a:endParaRPr>
          </a:p>
        </p:txBody>
      </p:sp>
      <p:sp>
        <p:nvSpPr>
          <p:cNvPr id="290" name="Google Shape;290;p8"/>
          <p:cNvSpPr/>
          <p:nvPr/>
        </p:nvSpPr>
        <p:spPr>
          <a:xfrm>
            <a:off x="16600289" y="6416228"/>
            <a:ext cx="773410" cy="133325"/>
          </a:xfrm>
          <a:prstGeom prst="rect">
            <a:avLst/>
          </a:prstGeom>
          <a:solidFill>
            <a:srgbClr val="0E0E0C">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a:off x="4838650" y="7202661"/>
            <a:ext cx="12535049"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4838650" y="6878092"/>
            <a:ext cx="11239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LAYER </a:t>
            </a:r>
            <a:r>
              <a:rPr b="0" i="0" lang="en-US" sz="1200" u="none" cap="none" strike="noStrike">
                <a:solidFill>
                  <a:srgbClr val="EE5622"/>
                </a:solidFill>
                <a:latin typeface="Arial"/>
                <a:ea typeface="Arial"/>
                <a:cs typeface="Arial"/>
                <a:sym typeface="Arial"/>
              </a:rPr>
              <a:t>01</a:t>
            </a:r>
            <a:endParaRPr b="0" i="0" sz="1200" u="none" cap="none" strike="noStrike">
              <a:solidFill>
                <a:schemeClr val="dk1"/>
              </a:solidFill>
              <a:latin typeface="Calibri"/>
              <a:ea typeface="Calibri"/>
              <a:cs typeface="Calibri"/>
              <a:sym typeface="Calibri"/>
            </a:endParaRPr>
          </a:p>
        </p:txBody>
      </p:sp>
      <p:sp>
        <p:nvSpPr>
          <p:cNvPr id="293" name="Google Shape;293;p8"/>
          <p:cNvSpPr/>
          <p:nvPr/>
        </p:nvSpPr>
        <p:spPr>
          <a:xfrm>
            <a:off x="6038701" y="6842373"/>
            <a:ext cx="255270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Silicon Abstraction</a:t>
            </a:r>
            <a:endParaRPr b="0" i="0" sz="1650" u="none" cap="none" strike="noStrike">
              <a:solidFill>
                <a:schemeClr val="dk1"/>
              </a:solidFill>
              <a:latin typeface="Calibri"/>
              <a:ea typeface="Calibri"/>
              <a:cs typeface="Calibri"/>
              <a:sym typeface="Calibri"/>
            </a:endParaRPr>
          </a:p>
        </p:txBody>
      </p:sp>
      <p:sp>
        <p:nvSpPr>
          <p:cNvPr id="294" name="Google Shape;294;p8"/>
          <p:cNvSpPr/>
          <p:nvPr/>
        </p:nvSpPr>
        <p:spPr>
          <a:xfrm>
            <a:off x="8667502" y="6862217"/>
            <a:ext cx="7437008" cy="244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Hardware portability</a:t>
            </a:r>
            <a:endParaRPr b="0" i="0" sz="1350" u="none" cap="none" strike="noStrike">
              <a:solidFill>
                <a:schemeClr val="dk1"/>
              </a:solidFill>
              <a:latin typeface="Calibri"/>
              <a:ea typeface="Calibri"/>
              <a:cs typeface="Calibri"/>
              <a:sym typeface="Calibri"/>
            </a:endParaRPr>
          </a:p>
        </p:txBody>
      </p:sp>
      <p:sp>
        <p:nvSpPr>
          <p:cNvPr id="295" name="Google Shape;295;p8"/>
          <p:cNvSpPr/>
          <p:nvPr/>
        </p:nvSpPr>
        <p:spPr>
          <a:xfrm>
            <a:off x="16680284" y="6898679"/>
            <a:ext cx="693415" cy="133325"/>
          </a:xfrm>
          <a:prstGeom prst="rect">
            <a:avLst/>
          </a:prstGeom>
          <a:solidFill>
            <a:srgbClr val="0E0E0C">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4838650" y="7685112"/>
            <a:ext cx="12535049"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a:off x="4838650" y="7360543"/>
            <a:ext cx="11239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LAYER </a:t>
            </a:r>
            <a:r>
              <a:rPr b="0" i="0" lang="en-US" sz="1200" u="none" cap="none" strike="noStrike">
                <a:solidFill>
                  <a:srgbClr val="EE5622"/>
                </a:solidFill>
                <a:latin typeface="Arial"/>
                <a:ea typeface="Arial"/>
                <a:cs typeface="Arial"/>
                <a:sym typeface="Arial"/>
              </a:rPr>
              <a:t>00</a:t>
            </a:r>
            <a:endParaRPr b="0" i="0" sz="1200" u="none" cap="none" strike="noStrike">
              <a:solidFill>
                <a:schemeClr val="dk1"/>
              </a:solidFill>
              <a:latin typeface="Calibri"/>
              <a:ea typeface="Calibri"/>
              <a:cs typeface="Calibri"/>
              <a:sym typeface="Calibri"/>
            </a:endParaRPr>
          </a:p>
        </p:txBody>
      </p:sp>
      <p:sp>
        <p:nvSpPr>
          <p:cNvPr id="298" name="Google Shape;298;p8"/>
          <p:cNvSpPr/>
          <p:nvPr/>
        </p:nvSpPr>
        <p:spPr>
          <a:xfrm>
            <a:off x="6038701" y="7324824"/>
            <a:ext cx="255270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Physical Compute</a:t>
            </a:r>
            <a:endParaRPr b="0" i="0" sz="1650" u="none" cap="none" strike="noStrike">
              <a:solidFill>
                <a:schemeClr val="dk1"/>
              </a:solidFill>
              <a:latin typeface="Calibri"/>
              <a:ea typeface="Calibri"/>
              <a:cs typeface="Calibri"/>
              <a:sym typeface="Calibri"/>
            </a:endParaRPr>
          </a:p>
        </p:txBody>
      </p:sp>
      <p:sp>
        <p:nvSpPr>
          <p:cNvPr id="299" name="Google Shape;299;p8"/>
          <p:cNvSpPr/>
          <p:nvPr/>
        </p:nvSpPr>
        <p:spPr>
          <a:xfrm>
            <a:off x="8667502" y="7344668"/>
            <a:ext cx="7437008" cy="244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Power, cooling, facilities</a:t>
            </a:r>
            <a:endParaRPr b="0" i="0" sz="1350" u="none" cap="none" strike="noStrike">
              <a:solidFill>
                <a:schemeClr val="dk1"/>
              </a:solidFill>
              <a:latin typeface="Calibri"/>
              <a:ea typeface="Calibri"/>
              <a:cs typeface="Calibri"/>
              <a:sym typeface="Calibri"/>
            </a:endParaRPr>
          </a:p>
        </p:txBody>
      </p:sp>
      <p:sp>
        <p:nvSpPr>
          <p:cNvPr id="300" name="Google Shape;300;p8"/>
          <p:cNvSpPr/>
          <p:nvPr/>
        </p:nvSpPr>
        <p:spPr>
          <a:xfrm>
            <a:off x="16760403" y="7381131"/>
            <a:ext cx="613296" cy="133325"/>
          </a:xfrm>
          <a:prstGeom prst="rect">
            <a:avLst/>
          </a:prstGeom>
          <a:solidFill>
            <a:srgbClr val="6B686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8"/>
          <p:cNvSpPr/>
          <p:nvPr/>
        </p:nvSpPr>
        <p:spPr>
          <a:xfrm>
            <a:off x="0" y="9593337"/>
            <a:ext cx="18288000"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a:off x="685726" y="9864700"/>
            <a:ext cx="273334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OIA · ADVISORY BOARD BRIEF</a:t>
            </a:r>
            <a:endParaRPr b="0" i="0" sz="1050" u="none" cap="none" strike="noStrike">
              <a:solidFill>
                <a:schemeClr val="dk1"/>
              </a:solidFill>
              <a:latin typeface="Calibri"/>
              <a:ea typeface="Calibri"/>
              <a:cs typeface="Calibri"/>
              <a:sym typeface="Calibri"/>
            </a:endParaRPr>
          </a:p>
        </p:txBody>
      </p:sp>
      <p:sp>
        <p:nvSpPr>
          <p:cNvPr id="303" name="Google Shape;303;p8"/>
          <p:cNvSpPr/>
          <p:nvPr/>
        </p:nvSpPr>
        <p:spPr>
          <a:xfrm>
            <a:off x="16701368" y="9864700"/>
            <a:ext cx="977106"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APRIL 2026</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9"/>
        </a:solidFill>
      </p:bgPr>
    </p:bg>
    <p:spTree>
      <p:nvGrpSpPr>
        <p:cNvPr id="308" name="Shape 308"/>
        <p:cNvGrpSpPr/>
        <p:nvPr/>
      </p:nvGrpSpPr>
      <p:grpSpPr>
        <a:xfrm>
          <a:off x="0" y="0"/>
          <a:ext cx="0" cy="0"/>
          <a:chOff x="0" y="0"/>
          <a:chExt cx="0" cy="0"/>
        </a:xfrm>
      </p:grpSpPr>
      <p:sp>
        <p:nvSpPr>
          <p:cNvPr id="309" name="Google Shape;309;p9"/>
          <p:cNvSpPr/>
          <p:nvPr/>
        </p:nvSpPr>
        <p:spPr>
          <a:xfrm>
            <a:off x="0" y="952500"/>
            <a:ext cx="18288000"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p:nvPr/>
        </p:nvSpPr>
        <p:spPr>
          <a:xfrm>
            <a:off x="685726" y="353219"/>
            <a:ext cx="2785078"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AGENTICS </a:t>
            </a:r>
            <a:r>
              <a:rPr b="0" i="0" lang="en-US" sz="1650" u="none" cap="none" strike="noStrike">
                <a:solidFill>
                  <a:srgbClr val="EE5622"/>
                </a:solidFill>
                <a:latin typeface="Arial"/>
                <a:ea typeface="Arial"/>
                <a:cs typeface="Arial"/>
                <a:sym typeface="Arial"/>
              </a:rPr>
              <a:t>[</a:t>
            </a:r>
            <a:r>
              <a:rPr b="0" i="0" lang="en-US" sz="1650" u="none" cap="none" strike="noStrike">
                <a:solidFill>
                  <a:srgbClr val="0E0E0C"/>
                </a:solidFill>
                <a:latin typeface="Arial"/>
                <a:ea typeface="Arial"/>
                <a:cs typeface="Arial"/>
                <a:sym typeface="Arial"/>
              </a:rPr>
              <a:t>FOUNDATION</a:t>
            </a:r>
            <a:r>
              <a:rPr b="0" i="0" lang="en-US" sz="1650" u="none" cap="none" strike="noStrike">
                <a:solidFill>
                  <a:srgbClr val="EE5622"/>
                </a:solidFill>
                <a:latin typeface="Arial"/>
                <a:ea typeface="Arial"/>
                <a:cs typeface="Arial"/>
                <a:sym typeface="Arial"/>
              </a:rPr>
              <a:t>]</a:t>
            </a:r>
            <a:endParaRPr b="0" i="0" sz="1650" u="none" cap="none" strike="noStrike">
              <a:solidFill>
                <a:schemeClr val="dk1"/>
              </a:solidFill>
              <a:latin typeface="Calibri"/>
              <a:ea typeface="Calibri"/>
              <a:cs typeface="Calibri"/>
              <a:sym typeface="Calibri"/>
            </a:endParaRPr>
          </a:p>
        </p:txBody>
      </p:sp>
      <p:sp>
        <p:nvSpPr>
          <p:cNvPr id="311" name="Google Shape;311;p9"/>
          <p:cNvSpPr/>
          <p:nvPr/>
        </p:nvSpPr>
        <p:spPr>
          <a:xfrm>
            <a:off x="15657091" y="388937"/>
            <a:ext cx="2021384"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07 / 10 · PREVENTION</a:t>
            </a:r>
            <a:endParaRPr b="0" i="0" sz="1200" u="none" cap="none" strike="noStrike">
              <a:solidFill>
                <a:schemeClr val="dk1"/>
              </a:solidFill>
              <a:latin typeface="Calibri"/>
              <a:ea typeface="Calibri"/>
              <a:cs typeface="Calibri"/>
              <a:sym typeface="Calibri"/>
            </a:endParaRPr>
          </a:p>
        </p:txBody>
      </p:sp>
      <p:sp>
        <p:nvSpPr>
          <p:cNvPr id="312" name="Google Shape;312;p9"/>
          <p:cNvSpPr/>
          <p:nvPr/>
        </p:nvSpPr>
        <p:spPr>
          <a:xfrm>
            <a:off x="10659938" y="952500"/>
            <a:ext cx="9525" cy="8648774"/>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914301" y="1409650"/>
            <a:ext cx="9567142"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6B6860"/>
                </a:solidFill>
                <a:latin typeface="Arial"/>
                <a:ea typeface="Arial"/>
                <a:cs typeface="Arial"/>
                <a:sym typeface="Arial"/>
              </a:rPr>
              <a:t>SAFETY MODEL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314" name="Google Shape;314;p9"/>
          <p:cNvSpPr/>
          <p:nvPr/>
        </p:nvSpPr>
        <p:spPr>
          <a:xfrm>
            <a:off x="914301" y="1793751"/>
            <a:ext cx="533301" cy="38075"/>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a:off x="914301" y="2269877"/>
            <a:ext cx="9567142" cy="1083369"/>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0E0E0C"/>
              </a:buClr>
              <a:buSzPts val="4200"/>
              <a:buFont typeface="Arial"/>
              <a:buNone/>
            </a:pPr>
            <a:r>
              <a:rPr b="1" i="0" lang="en-US" sz="4200" u="none" cap="none" strike="noStrike">
                <a:solidFill>
                  <a:srgbClr val="0E0E0C"/>
                </a:solidFill>
                <a:latin typeface="Arial"/>
                <a:ea typeface="Arial"/>
                <a:cs typeface="Arial"/>
                <a:sym typeface="Arial"/>
              </a:rPr>
              <a:t>Prevention requires </a:t>
            </a:r>
            <a:r>
              <a:rPr b="1" i="0" lang="en-US" sz="4200" u="none" cap="none" strike="noStrike">
                <a:solidFill>
                  <a:srgbClr val="EE5622"/>
                </a:solidFill>
                <a:latin typeface="Arial"/>
                <a:ea typeface="Arial"/>
                <a:cs typeface="Arial"/>
                <a:sym typeface="Arial"/>
              </a:rPr>
              <a:t>coherence.</a:t>
            </a:r>
            <a:endParaRPr b="0" i="0" sz="4200" u="none" cap="none" strike="noStrike">
              <a:solidFill>
                <a:schemeClr val="dk1"/>
              </a:solidFill>
              <a:latin typeface="Calibri"/>
              <a:ea typeface="Calibri"/>
              <a:cs typeface="Calibri"/>
              <a:sym typeface="Calibri"/>
            </a:endParaRPr>
          </a:p>
        </p:txBody>
      </p:sp>
      <p:sp>
        <p:nvSpPr>
          <p:cNvPr id="316" name="Google Shape;316;p9"/>
          <p:cNvSpPr/>
          <p:nvPr/>
        </p:nvSpPr>
        <p:spPr>
          <a:xfrm>
            <a:off x="914301" y="3524622"/>
            <a:ext cx="9567142" cy="260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500"/>
              <a:buFont typeface="Arial"/>
              <a:buNone/>
            </a:pPr>
            <a:r>
              <a:rPr b="0" i="1" lang="en-US" sz="1500" u="none" cap="none" strike="noStrike">
                <a:solidFill>
                  <a:srgbClr val="6B6860"/>
                </a:solidFill>
                <a:latin typeface="Arial"/>
                <a:ea typeface="Arial"/>
                <a:cs typeface="Arial"/>
                <a:sym typeface="Arial"/>
              </a:rPr>
              <a:t>Evaluate behavior before execution — not after detection.</a:t>
            </a:r>
            <a:endParaRPr b="0" i="0" sz="1500" u="none" cap="none" strike="noStrike">
              <a:solidFill>
                <a:schemeClr val="dk1"/>
              </a:solidFill>
              <a:latin typeface="Calibri"/>
              <a:ea typeface="Calibri"/>
              <a:cs typeface="Calibri"/>
              <a:sym typeface="Calibri"/>
            </a:endParaRPr>
          </a:p>
        </p:txBody>
      </p:sp>
      <p:sp>
        <p:nvSpPr>
          <p:cNvPr id="317" name="Google Shape;317;p9"/>
          <p:cNvSpPr/>
          <p:nvPr/>
        </p:nvSpPr>
        <p:spPr>
          <a:xfrm>
            <a:off x="3971354" y="4032498"/>
            <a:ext cx="3174256" cy="930052"/>
          </a:xfrm>
          <a:prstGeom prst="rect">
            <a:avLst/>
          </a:prstGeom>
          <a:solidFill>
            <a:srgbClr val="E9E5DC"/>
          </a:solidFill>
          <a:ln cap="flat" cmpd="sng" w="9525">
            <a:solidFill>
              <a:srgbClr val="0E0E0C">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9"/>
          <p:cNvSpPr/>
          <p:nvPr/>
        </p:nvSpPr>
        <p:spPr>
          <a:xfrm>
            <a:off x="4131593" y="4258593"/>
            <a:ext cx="2939393"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Intent Coherence</a:t>
            </a:r>
            <a:endParaRPr b="0" i="0" sz="1650" u="none" cap="none" strike="noStrike">
              <a:solidFill>
                <a:schemeClr val="dk1"/>
              </a:solidFill>
              <a:latin typeface="Calibri"/>
              <a:ea typeface="Calibri"/>
              <a:cs typeface="Calibri"/>
              <a:sym typeface="Calibri"/>
            </a:endParaRPr>
          </a:p>
        </p:txBody>
      </p:sp>
      <p:sp>
        <p:nvSpPr>
          <p:cNvPr id="319" name="Google Shape;319;p9"/>
          <p:cNvSpPr/>
          <p:nvPr/>
        </p:nvSpPr>
        <p:spPr>
          <a:xfrm>
            <a:off x="4131593" y="4561706"/>
            <a:ext cx="2939393"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1" lang="en-US" sz="1200" u="none" cap="none" strike="noStrike">
                <a:solidFill>
                  <a:srgbClr val="6B6860"/>
                </a:solidFill>
                <a:latin typeface="Arial"/>
                <a:ea typeface="Arial"/>
                <a:cs typeface="Arial"/>
                <a:sym typeface="Arial"/>
              </a:rPr>
              <a:t>Does this align with the goal?</a:t>
            </a:r>
            <a:endParaRPr b="0" i="0" sz="1200" u="none" cap="none" strike="noStrike">
              <a:solidFill>
                <a:schemeClr val="dk1"/>
              </a:solidFill>
              <a:latin typeface="Calibri"/>
              <a:ea typeface="Calibri"/>
              <a:cs typeface="Calibri"/>
              <a:sym typeface="Calibri"/>
            </a:endParaRPr>
          </a:p>
        </p:txBody>
      </p:sp>
      <p:sp>
        <p:nvSpPr>
          <p:cNvPr id="320" name="Google Shape;320;p9"/>
          <p:cNvSpPr/>
          <p:nvPr/>
        </p:nvSpPr>
        <p:spPr>
          <a:xfrm>
            <a:off x="914301" y="5343549"/>
            <a:ext cx="2885653" cy="930052"/>
          </a:xfrm>
          <a:prstGeom prst="rect">
            <a:avLst/>
          </a:prstGeom>
          <a:solidFill>
            <a:srgbClr val="E9E5DC"/>
          </a:solidFill>
          <a:ln cap="flat" cmpd="sng" w="9525">
            <a:solidFill>
              <a:srgbClr val="0E0E0C">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1074539" y="5569644"/>
            <a:ext cx="2642132"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Identity Coherence</a:t>
            </a:r>
            <a:endParaRPr b="0" i="0" sz="1650" u="none" cap="none" strike="noStrike">
              <a:solidFill>
                <a:schemeClr val="dk1"/>
              </a:solidFill>
              <a:latin typeface="Calibri"/>
              <a:ea typeface="Calibri"/>
              <a:cs typeface="Calibri"/>
              <a:sym typeface="Calibri"/>
            </a:endParaRPr>
          </a:p>
        </p:txBody>
      </p:sp>
      <p:sp>
        <p:nvSpPr>
          <p:cNvPr id="322" name="Google Shape;322;p9"/>
          <p:cNvSpPr/>
          <p:nvPr/>
        </p:nvSpPr>
        <p:spPr>
          <a:xfrm>
            <a:off x="1074539" y="5872758"/>
            <a:ext cx="2642132"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1" lang="en-US" sz="1200" u="none" cap="none" strike="noStrike">
                <a:solidFill>
                  <a:srgbClr val="6B6860"/>
                </a:solidFill>
                <a:latin typeface="Arial"/>
                <a:ea typeface="Arial"/>
                <a:cs typeface="Arial"/>
                <a:sym typeface="Arial"/>
              </a:rPr>
              <a:t>Consistent with the actor?</a:t>
            </a:r>
            <a:endParaRPr b="0" i="0" sz="1200" u="none" cap="none" strike="noStrike">
              <a:solidFill>
                <a:schemeClr val="dk1"/>
              </a:solidFill>
              <a:latin typeface="Calibri"/>
              <a:ea typeface="Calibri"/>
              <a:cs typeface="Calibri"/>
              <a:sym typeface="Calibri"/>
            </a:endParaRPr>
          </a:p>
        </p:txBody>
      </p:sp>
      <p:sp>
        <p:nvSpPr>
          <p:cNvPr id="323" name="Google Shape;323;p9"/>
          <p:cNvSpPr/>
          <p:nvPr/>
        </p:nvSpPr>
        <p:spPr>
          <a:xfrm>
            <a:off x="3971354" y="5133950"/>
            <a:ext cx="3174256" cy="1349375"/>
          </a:xfrm>
          <a:prstGeom prst="rect">
            <a:avLst/>
          </a:prstGeom>
          <a:solidFill>
            <a:srgbClr val="0E0E0C"/>
          </a:solidFill>
          <a:ln cap="flat" cmpd="sng" w="9525">
            <a:solidFill>
              <a:srgbClr val="0E0E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4477717" y="5538763"/>
            <a:ext cx="2161530" cy="339725"/>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2EFE9"/>
              </a:buClr>
              <a:buSzPts val="2100"/>
              <a:buFont typeface="Arial"/>
              <a:buNone/>
            </a:pPr>
            <a:r>
              <a:rPr b="0" i="0" lang="en-US" sz="2100" u="none" cap="none" strike="noStrike">
                <a:solidFill>
                  <a:srgbClr val="F2EFE9"/>
                </a:solidFill>
                <a:latin typeface="Arial"/>
                <a:ea typeface="Arial"/>
                <a:cs typeface="Arial"/>
                <a:sym typeface="Arial"/>
              </a:rPr>
              <a:t>Coherence </a:t>
            </a:r>
            <a:r>
              <a:rPr b="0" i="0" lang="en-US" sz="2100" u="none" cap="none" strike="noStrike">
                <a:solidFill>
                  <a:srgbClr val="EE5622"/>
                </a:solidFill>
                <a:latin typeface="Arial"/>
                <a:ea typeface="Arial"/>
                <a:cs typeface="Arial"/>
                <a:sym typeface="Arial"/>
              </a:rPr>
              <a:t>Model</a:t>
            </a:r>
            <a:endParaRPr b="0" i="0" sz="2100" u="none" cap="none" strike="noStrike">
              <a:solidFill>
                <a:schemeClr val="dk1"/>
              </a:solidFill>
              <a:latin typeface="Calibri"/>
              <a:ea typeface="Calibri"/>
              <a:cs typeface="Calibri"/>
              <a:sym typeface="Calibri"/>
            </a:endParaRPr>
          </a:p>
        </p:txBody>
      </p:sp>
      <p:sp>
        <p:nvSpPr>
          <p:cNvPr id="325" name="Google Shape;325;p9"/>
          <p:cNvSpPr/>
          <p:nvPr/>
        </p:nvSpPr>
        <p:spPr>
          <a:xfrm>
            <a:off x="4594423" y="5935638"/>
            <a:ext cx="1927994" cy="180975"/>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2EFE9"/>
              </a:buClr>
              <a:buSzPts val="975"/>
              <a:buFont typeface="Arial"/>
              <a:buNone/>
            </a:pPr>
            <a:r>
              <a:rPr b="0" i="0" lang="en-US" sz="975" u="none" cap="none" strike="noStrike">
                <a:solidFill>
                  <a:srgbClr val="F2EFE9"/>
                </a:solidFill>
                <a:latin typeface="Arial"/>
                <a:ea typeface="Arial"/>
                <a:cs typeface="Arial"/>
                <a:sym typeface="Arial"/>
              </a:rPr>
              <a:t>LAYER 08 · CONTINUITY</a:t>
            </a:r>
            <a:endParaRPr b="0" i="0" sz="975" u="none" cap="none" strike="noStrike">
              <a:solidFill>
                <a:schemeClr val="dk1"/>
              </a:solidFill>
              <a:latin typeface="Calibri"/>
              <a:ea typeface="Calibri"/>
              <a:cs typeface="Calibri"/>
              <a:sym typeface="Calibri"/>
            </a:endParaRPr>
          </a:p>
        </p:txBody>
      </p:sp>
      <p:sp>
        <p:nvSpPr>
          <p:cNvPr id="326" name="Google Shape;326;p9"/>
          <p:cNvSpPr/>
          <p:nvPr/>
        </p:nvSpPr>
        <p:spPr>
          <a:xfrm>
            <a:off x="7317010" y="5343549"/>
            <a:ext cx="2885777" cy="930052"/>
          </a:xfrm>
          <a:prstGeom prst="rect">
            <a:avLst/>
          </a:prstGeom>
          <a:solidFill>
            <a:srgbClr val="E9E5DC"/>
          </a:solidFill>
          <a:ln cap="flat" cmpd="sng" w="9525">
            <a:solidFill>
              <a:srgbClr val="0E0E0C">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a:off x="7477249" y="5569644"/>
            <a:ext cx="2642260"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Context Coherence</a:t>
            </a:r>
            <a:endParaRPr b="0" i="0" sz="1650" u="none" cap="none" strike="noStrike">
              <a:solidFill>
                <a:schemeClr val="dk1"/>
              </a:solidFill>
              <a:latin typeface="Calibri"/>
              <a:ea typeface="Calibri"/>
              <a:cs typeface="Calibri"/>
              <a:sym typeface="Calibri"/>
            </a:endParaRPr>
          </a:p>
        </p:txBody>
      </p:sp>
      <p:sp>
        <p:nvSpPr>
          <p:cNvPr id="328" name="Google Shape;328;p9"/>
          <p:cNvSpPr/>
          <p:nvPr/>
        </p:nvSpPr>
        <p:spPr>
          <a:xfrm>
            <a:off x="7477249" y="5872758"/>
            <a:ext cx="264226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1" lang="en-US" sz="1200" u="none" cap="none" strike="noStrike">
                <a:solidFill>
                  <a:srgbClr val="6B6860"/>
                </a:solidFill>
                <a:latin typeface="Arial"/>
                <a:ea typeface="Arial"/>
                <a:cs typeface="Arial"/>
                <a:sym typeface="Arial"/>
              </a:rPr>
              <a:t>Is this appropriate now?</a:t>
            </a:r>
            <a:endParaRPr b="0" i="0" sz="1200" u="none" cap="none" strike="noStrike">
              <a:solidFill>
                <a:schemeClr val="dk1"/>
              </a:solidFill>
              <a:latin typeface="Calibri"/>
              <a:ea typeface="Calibri"/>
              <a:cs typeface="Calibri"/>
              <a:sym typeface="Calibri"/>
            </a:endParaRPr>
          </a:p>
        </p:txBody>
      </p:sp>
      <p:sp>
        <p:nvSpPr>
          <p:cNvPr id="329" name="Google Shape;329;p9"/>
          <p:cNvSpPr/>
          <p:nvPr/>
        </p:nvSpPr>
        <p:spPr>
          <a:xfrm>
            <a:off x="3971354" y="6654725"/>
            <a:ext cx="3174256" cy="930052"/>
          </a:xfrm>
          <a:prstGeom prst="rect">
            <a:avLst/>
          </a:prstGeom>
          <a:solidFill>
            <a:srgbClr val="E9E5DC"/>
          </a:solidFill>
          <a:ln cap="flat" cmpd="sng" w="9525">
            <a:solidFill>
              <a:srgbClr val="0E0E0C">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4131593" y="6880820"/>
            <a:ext cx="2939393"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Sequence Coherence</a:t>
            </a:r>
            <a:endParaRPr b="0" i="0" sz="1650" u="none" cap="none" strike="noStrike">
              <a:solidFill>
                <a:schemeClr val="dk1"/>
              </a:solidFill>
              <a:latin typeface="Calibri"/>
              <a:ea typeface="Calibri"/>
              <a:cs typeface="Calibri"/>
              <a:sym typeface="Calibri"/>
            </a:endParaRPr>
          </a:p>
        </p:txBody>
      </p:sp>
      <p:sp>
        <p:nvSpPr>
          <p:cNvPr id="331" name="Google Shape;331;p9"/>
          <p:cNvSpPr/>
          <p:nvPr/>
        </p:nvSpPr>
        <p:spPr>
          <a:xfrm>
            <a:off x="4131593" y="7183934"/>
            <a:ext cx="2939393"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1" lang="en-US" sz="1200" u="none" cap="none" strike="noStrike">
                <a:solidFill>
                  <a:srgbClr val="6B6860"/>
                </a:solidFill>
                <a:latin typeface="Arial"/>
                <a:ea typeface="Arial"/>
                <a:cs typeface="Arial"/>
                <a:sym typeface="Arial"/>
              </a:rPr>
              <a:t>Does this workflow make sense?</a:t>
            </a:r>
            <a:endParaRPr b="0" i="0" sz="1200" u="none" cap="none" strike="noStrike">
              <a:solidFill>
                <a:schemeClr val="dk1"/>
              </a:solidFill>
              <a:latin typeface="Calibri"/>
              <a:ea typeface="Calibri"/>
              <a:cs typeface="Calibri"/>
              <a:sym typeface="Calibri"/>
            </a:endParaRPr>
          </a:p>
        </p:txBody>
      </p:sp>
      <p:sp>
        <p:nvSpPr>
          <p:cNvPr id="332" name="Google Shape;332;p9"/>
          <p:cNvSpPr/>
          <p:nvPr/>
        </p:nvSpPr>
        <p:spPr>
          <a:xfrm>
            <a:off x="914301" y="7943453"/>
            <a:ext cx="1743199" cy="268288"/>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E0E0C"/>
              </a:buClr>
              <a:buSzPts val="1650"/>
              <a:buFont typeface="Arial"/>
              <a:buNone/>
            </a:pPr>
            <a:r>
              <a:rPr b="1" i="0" lang="en-US" sz="1650" u="none" cap="none" strike="noStrike">
                <a:solidFill>
                  <a:srgbClr val="0E0E0C"/>
                </a:solidFill>
                <a:latin typeface="Arial"/>
                <a:ea typeface="Arial"/>
                <a:cs typeface="Arial"/>
                <a:sym typeface="Arial"/>
              </a:rPr>
              <a:t>Prevention asks:</a:t>
            </a:r>
            <a:endParaRPr b="0" i="0" sz="1650" u="none" cap="none" strike="noStrike">
              <a:solidFill>
                <a:schemeClr val="dk1"/>
              </a:solidFill>
              <a:latin typeface="Calibri"/>
              <a:ea typeface="Calibri"/>
              <a:cs typeface="Calibri"/>
              <a:sym typeface="Calibri"/>
            </a:endParaRPr>
          </a:p>
        </p:txBody>
      </p:sp>
      <p:sp>
        <p:nvSpPr>
          <p:cNvPr id="333" name="Google Shape;333;p9"/>
          <p:cNvSpPr/>
          <p:nvPr/>
        </p:nvSpPr>
        <p:spPr>
          <a:xfrm>
            <a:off x="2626475" y="7904225"/>
            <a:ext cx="3472200" cy="268200"/>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EE5622"/>
              </a:buClr>
              <a:buSzPts val="1650"/>
              <a:buFont typeface="Arial"/>
              <a:buNone/>
            </a:pPr>
            <a:r>
              <a:rPr b="1" i="0" lang="en-US" sz="1650" u="none" cap="none" strike="noStrike">
                <a:solidFill>
                  <a:srgbClr val="EE5622"/>
                </a:solidFill>
                <a:latin typeface="Arial"/>
                <a:ea typeface="Arial"/>
                <a:cs typeface="Arial"/>
                <a:sym typeface="Arial"/>
              </a:rPr>
              <a:t>does this make sense at all?</a:t>
            </a:r>
            <a:endParaRPr b="0" i="0" sz="1650" u="none" cap="none" strike="noStrike">
              <a:solidFill>
                <a:schemeClr val="dk1"/>
              </a:solidFill>
              <a:latin typeface="Calibri"/>
              <a:ea typeface="Calibri"/>
              <a:cs typeface="Calibri"/>
              <a:sym typeface="Calibri"/>
            </a:endParaRPr>
          </a:p>
        </p:txBody>
      </p:sp>
      <p:sp>
        <p:nvSpPr>
          <p:cNvPr id="334" name="Google Shape;334;p9"/>
          <p:cNvSpPr/>
          <p:nvPr/>
        </p:nvSpPr>
        <p:spPr>
          <a:xfrm>
            <a:off x="914301" y="8238133"/>
            <a:ext cx="9567142" cy="260846"/>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Not: have we seen this before?</a:t>
            </a:r>
            <a:endParaRPr b="0" i="0" sz="1350" u="none" cap="none" strike="noStrike">
              <a:solidFill>
                <a:schemeClr val="dk1"/>
              </a:solidFill>
              <a:latin typeface="Calibri"/>
              <a:ea typeface="Calibri"/>
              <a:cs typeface="Calibri"/>
              <a:sym typeface="Calibri"/>
            </a:endParaRPr>
          </a:p>
        </p:txBody>
      </p:sp>
      <p:sp>
        <p:nvSpPr>
          <p:cNvPr id="335" name="Google Shape;335;p9"/>
          <p:cNvSpPr/>
          <p:nvPr/>
        </p:nvSpPr>
        <p:spPr>
          <a:xfrm>
            <a:off x="10667876" y="952500"/>
            <a:ext cx="7620000" cy="8648774"/>
          </a:xfrm>
          <a:prstGeom prst="rect">
            <a:avLst/>
          </a:prstGeom>
          <a:solidFill>
            <a:srgbClr val="E9E5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a:off x="11277451" y="1485801"/>
            <a:ext cx="6279008"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STILL REQUIRED</a:t>
            </a:r>
            <a:endParaRPr b="0" i="0" sz="1050" u="none" cap="none" strike="noStrike">
              <a:solidFill>
                <a:schemeClr val="dk1"/>
              </a:solidFill>
              <a:latin typeface="Calibri"/>
              <a:ea typeface="Calibri"/>
              <a:cs typeface="Calibri"/>
              <a:sym typeface="Calibri"/>
            </a:endParaRPr>
          </a:p>
        </p:txBody>
      </p:sp>
      <p:sp>
        <p:nvSpPr>
          <p:cNvPr id="337" name="Google Shape;337;p9"/>
          <p:cNvSpPr/>
          <p:nvPr/>
        </p:nvSpPr>
        <p:spPr>
          <a:xfrm>
            <a:off x="11277451" y="1739801"/>
            <a:ext cx="6279008" cy="373335"/>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0E0E0C"/>
              </a:buClr>
              <a:buSzPts val="2400"/>
              <a:buFont typeface="Arial"/>
              <a:buNone/>
            </a:pPr>
            <a:r>
              <a:rPr b="0" i="0" lang="en-US" sz="2400" u="none" cap="none" strike="noStrike">
                <a:solidFill>
                  <a:srgbClr val="0E0E0C"/>
                </a:solidFill>
                <a:latin typeface="Arial"/>
                <a:ea typeface="Arial"/>
                <a:cs typeface="Arial"/>
                <a:sym typeface="Arial"/>
              </a:rPr>
              <a:t>Fallback protection.</a:t>
            </a:r>
            <a:endParaRPr b="0" i="0" sz="2400" u="none" cap="none" strike="noStrike">
              <a:solidFill>
                <a:schemeClr val="dk1"/>
              </a:solidFill>
              <a:latin typeface="Calibri"/>
              <a:ea typeface="Calibri"/>
              <a:cs typeface="Calibri"/>
              <a:sym typeface="Calibri"/>
            </a:endParaRPr>
          </a:p>
        </p:txBody>
      </p:sp>
      <p:sp>
        <p:nvSpPr>
          <p:cNvPr id="338" name="Google Shape;338;p9"/>
          <p:cNvSpPr/>
          <p:nvPr/>
        </p:nvSpPr>
        <p:spPr>
          <a:xfrm>
            <a:off x="11277451" y="2341686"/>
            <a:ext cx="6096124" cy="9525"/>
          </a:xfrm>
          <a:prstGeom prst="rect">
            <a:avLst/>
          </a:prstGeom>
          <a:solidFill>
            <a:srgbClr val="0E0E0C">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a:off x="11277451" y="2944564"/>
            <a:ext cx="6096124"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11277451" y="2568649"/>
            <a:ext cx="45720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01</a:t>
            </a:r>
            <a:endParaRPr b="0" i="0" sz="1200" u="none" cap="none" strike="noStrike">
              <a:solidFill>
                <a:schemeClr val="dk1"/>
              </a:solidFill>
              <a:latin typeface="Calibri"/>
              <a:ea typeface="Calibri"/>
              <a:cs typeface="Calibri"/>
              <a:sym typeface="Calibri"/>
            </a:endParaRPr>
          </a:p>
        </p:txBody>
      </p:sp>
      <p:sp>
        <p:nvSpPr>
          <p:cNvPr id="341" name="Google Shape;341;p9"/>
          <p:cNvSpPr/>
          <p:nvPr/>
        </p:nvSpPr>
        <p:spPr>
          <a:xfrm>
            <a:off x="11658451" y="2521024"/>
            <a:ext cx="5886578" cy="290240"/>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Guardrails </a:t>
            </a:r>
            <a:r>
              <a:rPr b="0" i="0" lang="en-US" sz="1425" u="none" cap="none" strike="noStrike">
                <a:solidFill>
                  <a:srgbClr val="0E0E0C"/>
                </a:solidFill>
                <a:latin typeface="Arial"/>
                <a:ea typeface="Arial"/>
                <a:cs typeface="Arial"/>
                <a:sym typeface="Arial"/>
              </a:rPr>
              <a:t>— permissions and sandboxing</a:t>
            </a:r>
            <a:endParaRPr b="0" i="0" sz="1425" u="none" cap="none" strike="noStrike">
              <a:solidFill>
                <a:schemeClr val="dk1"/>
              </a:solidFill>
              <a:latin typeface="Calibri"/>
              <a:ea typeface="Calibri"/>
              <a:cs typeface="Calibri"/>
              <a:sym typeface="Calibri"/>
            </a:endParaRPr>
          </a:p>
        </p:txBody>
      </p:sp>
      <p:sp>
        <p:nvSpPr>
          <p:cNvPr id="342" name="Google Shape;342;p9"/>
          <p:cNvSpPr/>
          <p:nvPr/>
        </p:nvSpPr>
        <p:spPr>
          <a:xfrm>
            <a:off x="11277451" y="3547442"/>
            <a:ext cx="6096124"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9"/>
          <p:cNvSpPr/>
          <p:nvPr/>
        </p:nvSpPr>
        <p:spPr>
          <a:xfrm>
            <a:off x="11277451" y="3171527"/>
            <a:ext cx="45720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02</a:t>
            </a:r>
            <a:endParaRPr b="0" i="0" sz="1200" u="none" cap="none" strike="noStrike">
              <a:solidFill>
                <a:schemeClr val="dk1"/>
              </a:solidFill>
              <a:latin typeface="Calibri"/>
              <a:ea typeface="Calibri"/>
              <a:cs typeface="Calibri"/>
              <a:sym typeface="Calibri"/>
            </a:endParaRPr>
          </a:p>
        </p:txBody>
      </p:sp>
      <p:sp>
        <p:nvSpPr>
          <p:cNvPr id="344" name="Google Shape;344;p9"/>
          <p:cNvSpPr/>
          <p:nvPr/>
        </p:nvSpPr>
        <p:spPr>
          <a:xfrm>
            <a:off x="11658451" y="3123902"/>
            <a:ext cx="5886578" cy="290240"/>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Observability </a:t>
            </a:r>
            <a:r>
              <a:rPr b="0" i="0" lang="en-US" sz="1425" u="none" cap="none" strike="noStrike">
                <a:solidFill>
                  <a:srgbClr val="0E0E0C"/>
                </a:solidFill>
                <a:latin typeface="Arial"/>
                <a:ea typeface="Arial"/>
                <a:cs typeface="Arial"/>
                <a:sym typeface="Arial"/>
              </a:rPr>
              <a:t>— logs and traces</a:t>
            </a:r>
            <a:endParaRPr b="0" i="0" sz="1425" u="none" cap="none" strike="noStrike">
              <a:solidFill>
                <a:schemeClr val="dk1"/>
              </a:solidFill>
              <a:latin typeface="Calibri"/>
              <a:ea typeface="Calibri"/>
              <a:cs typeface="Calibri"/>
              <a:sym typeface="Calibri"/>
            </a:endParaRPr>
          </a:p>
        </p:txBody>
      </p:sp>
      <p:sp>
        <p:nvSpPr>
          <p:cNvPr id="345" name="Google Shape;345;p9"/>
          <p:cNvSpPr/>
          <p:nvPr/>
        </p:nvSpPr>
        <p:spPr>
          <a:xfrm>
            <a:off x="11277451" y="4150320"/>
            <a:ext cx="6096124"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11277451" y="3774405"/>
            <a:ext cx="45720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03</a:t>
            </a:r>
            <a:endParaRPr b="0" i="0" sz="1200" u="none" cap="none" strike="noStrike">
              <a:solidFill>
                <a:schemeClr val="dk1"/>
              </a:solidFill>
              <a:latin typeface="Calibri"/>
              <a:ea typeface="Calibri"/>
              <a:cs typeface="Calibri"/>
              <a:sym typeface="Calibri"/>
            </a:endParaRPr>
          </a:p>
        </p:txBody>
      </p:sp>
      <p:sp>
        <p:nvSpPr>
          <p:cNvPr id="347" name="Google Shape;347;p9"/>
          <p:cNvSpPr/>
          <p:nvPr/>
        </p:nvSpPr>
        <p:spPr>
          <a:xfrm>
            <a:off x="11658451" y="3726780"/>
            <a:ext cx="5886578" cy="290240"/>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0E0E0C"/>
              </a:buClr>
              <a:buSzPts val="1425"/>
              <a:buFont typeface="Arial"/>
              <a:buNone/>
            </a:pPr>
            <a:r>
              <a:rPr b="1" i="0" lang="en-US" sz="1425" u="none" cap="none" strike="noStrike">
                <a:solidFill>
                  <a:srgbClr val="0E0E0C"/>
                </a:solidFill>
                <a:latin typeface="Arial"/>
                <a:ea typeface="Arial"/>
                <a:cs typeface="Arial"/>
                <a:sym typeface="Arial"/>
              </a:rPr>
              <a:t>Detection </a:t>
            </a:r>
            <a:r>
              <a:rPr b="0" i="0" lang="en-US" sz="1425" u="none" cap="none" strike="noStrike">
                <a:solidFill>
                  <a:srgbClr val="0E0E0C"/>
                </a:solidFill>
                <a:latin typeface="Arial"/>
                <a:ea typeface="Arial"/>
                <a:cs typeface="Arial"/>
                <a:sym typeface="Arial"/>
              </a:rPr>
              <a:t>— reactive response to incidents</a:t>
            </a:r>
            <a:endParaRPr b="0" i="0" sz="1425" u="none" cap="none" strike="noStrike">
              <a:solidFill>
                <a:schemeClr val="dk1"/>
              </a:solidFill>
              <a:latin typeface="Calibri"/>
              <a:ea typeface="Calibri"/>
              <a:cs typeface="Calibri"/>
              <a:sym typeface="Calibri"/>
            </a:endParaRPr>
          </a:p>
        </p:txBody>
      </p:sp>
      <p:sp>
        <p:nvSpPr>
          <p:cNvPr id="348" name="Google Shape;348;p9"/>
          <p:cNvSpPr/>
          <p:nvPr/>
        </p:nvSpPr>
        <p:spPr>
          <a:xfrm>
            <a:off x="11277451" y="9077399"/>
            <a:ext cx="6279008"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975"/>
              <a:buFont typeface="Arial"/>
              <a:buNone/>
            </a:pPr>
            <a:r>
              <a:rPr b="0" i="0" lang="en-US" sz="975" u="none" cap="none" strike="noStrike">
                <a:solidFill>
                  <a:srgbClr val="6B6860"/>
                </a:solidFill>
                <a:latin typeface="Arial"/>
                <a:ea typeface="Arial"/>
                <a:cs typeface="Arial"/>
                <a:sym typeface="Arial"/>
              </a:rPr>
              <a:t>CONTINUITY LAYER · MEMORY + IDENTITY + AUDIT ENABLES COHERENCE</a:t>
            </a:r>
            <a:endParaRPr b="0" i="0" sz="975" u="none" cap="none" strike="noStrike">
              <a:solidFill>
                <a:schemeClr val="dk1"/>
              </a:solidFill>
              <a:latin typeface="Calibri"/>
              <a:ea typeface="Calibri"/>
              <a:cs typeface="Calibri"/>
              <a:sym typeface="Calibri"/>
            </a:endParaRPr>
          </a:p>
        </p:txBody>
      </p:sp>
      <p:sp>
        <p:nvSpPr>
          <p:cNvPr id="349" name="Google Shape;349;p9"/>
          <p:cNvSpPr/>
          <p:nvPr/>
        </p:nvSpPr>
        <p:spPr>
          <a:xfrm>
            <a:off x="0" y="9593337"/>
            <a:ext cx="18288000"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685726" y="9864700"/>
            <a:ext cx="273334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OIA · ADVISORY BOARD BRIEF</a:t>
            </a:r>
            <a:endParaRPr b="0" i="0" sz="1050" u="none" cap="none" strike="noStrike">
              <a:solidFill>
                <a:schemeClr val="dk1"/>
              </a:solidFill>
              <a:latin typeface="Calibri"/>
              <a:ea typeface="Calibri"/>
              <a:cs typeface="Calibri"/>
              <a:sym typeface="Calibri"/>
            </a:endParaRPr>
          </a:p>
        </p:txBody>
      </p:sp>
      <p:sp>
        <p:nvSpPr>
          <p:cNvPr id="351" name="Google Shape;351;p9"/>
          <p:cNvSpPr/>
          <p:nvPr/>
        </p:nvSpPr>
        <p:spPr>
          <a:xfrm>
            <a:off x="16701368" y="9864700"/>
            <a:ext cx="977106"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APRIL 2026</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9"/>
        </a:solidFill>
      </p:bgPr>
    </p:bg>
    <p:spTree>
      <p:nvGrpSpPr>
        <p:cNvPr id="356" name="Shape 356"/>
        <p:cNvGrpSpPr/>
        <p:nvPr/>
      </p:nvGrpSpPr>
      <p:grpSpPr>
        <a:xfrm>
          <a:off x="0" y="0"/>
          <a:ext cx="0" cy="0"/>
          <a:chOff x="0" y="0"/>
          <a:chExt cx="0" cy="0"/>
        </a:xfrm>
      </p:grpSpPr>
      <p:sp>
        <p:nvSpPr>
          <p:cNvPr id="357" name="Google Shape;357;p10"/>
          <p:cNvSpPr/>
          <p:nvPr/>
        </p:nvSpPr>
        <p:spPr>
          <a:xfrm>
            <a:off x="0" y="952500"/>
            <a:ext cx="18288000"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p:nvPr/>
        </p:nvSpPr>
        <p:spPr>
          <a:xfrm>
            <a:off x="685726" y="353219"/>
            <a:ext cx="2785078"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AGENTICS </a:t>
            </a:r>
            <a:r>
              <a:rPr b="0" i="0" lang="en-US" sz="1650" u="none" cap="none" strike="noStrike">
                <a:solidFill>
                  <a:srgbClr val="EE5622"/>
                </a:solidFill>
                <a:latin typeface="Arial"/>
                <a:ea typeface="Arial"/>
                <a:cs typeface="Arial"/>
                <a:sym typeface="Arial"/>
              </a:rPr>
              <a:t>[</a:t>
            </a:r>
            <a:r>
              <a:rPr b="0" i="0" lang="en-US" sz="1650" u="none" cap="none" strike="noStrike">
                <a:solidFill>
                  <a:srgbClr val="0E0E0C"/>
                </a:solidFill>
                <a:latin typeface="Arial"/>
                <a:ea typeface="Arial"/>
                <a:cs typeface="Arial"/>
                <a:sym typeface="Arial"/>
              </a:rPr>
              <a:t>FOUNDATION</a:t>
            </a:r>
            <a:r>
              <a:rPr b="0" i="0" lang="en-US" sz="1650" u="none" cap="none" strike="noStrike">
                <a:solidFill>
                  <a:srgbClr val="EE5622"/>
                </a:solidFill>
                <a:latin typeface="Arial"/>
                <a:ea typeface="Arial"/>
                <a:cs typeface="Arial"/>
                <a:sym typeface="Arial"/>
              </a:rPr>
              <a:t>]</a:t>
            </a:r>
            <a:endParaRPr b="0" i="0" sz="1650" u="none" cap="none" strike="noStrike">
              <a:solidFill>
                <a:schemeClr val="dk1"/>
              </a:solidFill>
              <a:latin typeface="Calibri"/>
              <a:ea typeface="Calibri"/>
              <a:cs typeface="Calibri"/>
              <a:sym typeface="Calibri"/>
            </a:endParaRPr>
          </a:p>
        </p:txBody>
      </p:sp>
      <p:sp>
        <p:nvSpPr>
          <p:cNvPr id="359" name="Google Shape;359;p10"/>
          <p:cNvSpPr/>
          <p:nvPr/>
        </p:nvSpPr>
        <p:spPr>
          <a:xfrm>
            <a:off x="15041190" y="388937"/>
            <a:ext cx="2637916"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08 / 10 · CONTINUITY FABRIC</a:t>
            </a:r>
            <a:endParaRPr b="0" i="0" sz="1200" u="none" cap="none" strike="noStrike">
              <a:solidFill>
                <a:schemeClr val="dk1"/>
              </a:solidFill>
              <a:latin typeface="Calibri"/>
              <a:ea typeface="Calibri"/>
              <a:cs typeface="Calibri"/>
              <a:sym typeface="Calibri"/>
            </a:endParaRPr>
          </a:p>
        </p:txBody>
      </p:sp>
      <p:sp>
        <p:nvSpPr>
          <p:cNvPr id="360" name="Google Shape;360;p10"/>
          <p:cNvSpPr/>
          <p:nvPr/>
        </p:nvSpPr>
        <p:spPr>
          <a:xfrm>
            <a:off x="10497840" y="952500"/>
            <a:ext cx="9525" cy="8648774"/>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p:nvPr/>
        </p:nvSpPr>
        <p:spPr>
          <a:xfrm>
            <a:off x="914301" y="1485801"/>
            <a:ext cx="940018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6B6860"/>
                </a:solidFill>
                <a:latin typeface="Arial"/>
                <a:ea typeface="Arial"/>
                <a:cs typeface="Arial"/>
                <a:sym typeface="Arial"/>
              </a:rPr>
              <a:t>LAYER 08 · DEEP DIVE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362" name="Google Shape;362;p10"/>
          <p:cNvSpPr/>
          <p:nvPr/>
        </p:nvSpPr>
        <p:spPr>
          <a:xfrm>
            <a:off x="914301" y="1927076"/>
            <a:ext cx="533301" cy="38075"/>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0"/>
          <p:cNvSpPr/>
          <p:nvPr/>
        </p:nvSpPr>
        <p:spPr>
          <a:xfrm>
            <a:off x="914301" y="2460377"/>
            <a:ext cx="9400180" cy="1232694"/>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0E0E0C"/>
              </a:buClr>
              <a:buSzPts val="4800"/>
              <a:buFont typeface="Arial"/>
              <a:buNone/>
            </a:pPr>
            <a:r>
              <a:rPr b="1" i="0" lang="en-US" sz="4800" u="none" cap="none" strike="noStrike">
                <a:solidFill>
                  <a:srgbClr val="0E0E0C"/>
                </a:solidFill>
                <a:latin typeface="Arial"/>
                <a:ea typeface="Arial"/>
                <a:cs typeface="Arial"/>
                <a:sym typeface="Arial"/>
              </a:rPr>
              <a:t>What lives inside the </a:t>
            </a:r>
            <a:r>
              <a:rPr b="1" i="0" lang="en-US" sz="4800" u="none" cap="none" strike="noStrike">
                <a:solidFill>
                  <a:srgbClr val="EE5622"/>
                </a:solidFill>
                <a:latin typeface="Arial"/>
                <a:ea typeface="Arial"/>
                <a:cs typeface="Arial"/>
                <a:sym typeface="Arial"/>
              </a:rPr>
              <a:t>Continuity Fabric.</a:t>
            </a:r>
            <a:endParaRPr b="0" i="0" sz="4800" u="none" cap="none" strike="noStrike">
              <a:solidFill>
                <a:schemeClr val="dk1"/>
              </a:solidFill>
              <a:latin typeface="Calibri"/>
              <a:ea typeface="Calibri"/>
              <a:cs typeface="Calibri"/>
              <a:sym typeface="Calibri"/>
            </a:endParaRPr>
          </a:p>
        </p:txBody>
      </p:sp>
      <p:sp>
        <p:nvSpPr>
          <p:cNvPr id="364" name="Google Shape;364;p10"/>
          <p:cNvSpPr/>
          <p:nvPr/>
        </p:nvSpPr>
        <p:spPr>
          <a:xfrm>
            <a:off x="914301" y="3921621"/>
            <a:ext cx="9126388" cy="3250902"/>
          </a:xfrm>
          <a:prstGeom prst="rect">
            <a:avLst/>
          </a:prstGeom>
          <a:solidFill>
            <a:srgbClr val="0E0E0C"/>
          </a:solidFill>
          <a:ln cap="flat" cmpd="sng" w="9525">
            <a:solidFill>
              <a:srgbClr val="0E0E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0"/>
          <p:cNvSpPr/>
          <p:nvPr/>
        </p:nvSpPr>
        <p:spPr>
          <a:xfrm>
            <a:off x="4455542" y="3777258"/>
            <a:ext cx="2043906" cy="326926"/>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0"/>
          <p:cNvSpPr/>
          <p:nvPr/>
        </p:nvSpPr>
        <p:spPr>
          <a:xfrm>
            <a:off x="4665092" y="3853458"/>
            <a:ext cx="1701006" cy="212626"/>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200"/>
              <a:buFont typeface="Arial"/>
              <a:buNone/>
            </a:pPr>
            <a:r>
              <a:rPr b="0" i="0" lang="en-US" sz="1200" u="none" cap="none" strike="noStrike">
                <a:solidFill>
                  <a:srgbClr val="F2EFE9"/>
                </a:solidFill>
                <a:latin typeface="Arial"/>
                <a:ea typeface="Arial"/>
                <a:cs typeface="Arial"/>
                <a:sym typeface="Arial"/>
              </a:rPr>
              <a:t>CONTINUITY FABRIC</a:t>
            </a:r>
            <a:endParaRPr b="0" i="0" sz="1200" u="none" cap="none" strike="noStrike">
              <a:solidFill>
                <a:schemeClr val="dk1"/>
              </a:solidFill>
              <a:latin typeface="Calibri"/>
              <a:ea typeface="Calibri"/>
              <a:cs typeface="Calibri"/>
              <a:sym typeface="Calibri"/>
            </a:endParaRPr>
          </a:p>
        </p:txBody>
      </p:sp>
      <p:sp>
        <p:nvSpPr>
          <p:cNvPr id="367" name="Google Shape;367;p10"/>
          <p:cNvSpPr/>
          <p:nvPr/>
        </p:nvSpPr>
        <p:spPr>
          <a:xfrm>
            <a:off x="1226964" y="5773043"/>
            <a:ext cx="4250531" cy="9525"/>
          </a:xfrm>
          <a:prstGeom prst="rect">
            <a:avLst/>
          </a:prstGeom>
          <a:solidFill>
            <a:srgbClr val="F2EFE9">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0"/>
          <p:cNvSpPr/>
          <p:nvPr/>
        </p:nvSpPr>
        <p:spPr>
          <a:xfrm>
            <a:off x="1436439" y="4672335"/>
            <a:ext cx="3946527"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2250"/>
              <a:buFont typeface="Arial"/>
              <a:buNone/>
            </a:pPr>
            <a:r>
              <a:rPr b="0" i="0" lang="en-US" sz="2250" u="none" cap="none" strike="noStrike">
                <a:solidFill>
                  <a:srgbClr val="F2EFE9"/>
                </a:solidFill>
                <a:latin typeface="Arial"/>
                <a:ea typeface="Arial"/>
                <a:cs typeface="Arial"/>
                <a:sym typeface="Arial"/>
              </a:rPr>
              <a:t>Memory</a:t>
            </a:r>
            <a:endParaRPr b="0" i="0" sz="2250" u="none" cap="none" strike="noStrike">
              <a:solidFill>
                <a:schemeClr val="dk1"/>
              </a:solidFill>
              <a:latin typeface="Calibri"/>
              <a:ea typeface="Calibri"/>
              <a:cs typeface="Calibri"/>
              <a:sym typeface="Calibri"/>
            </a:endParaRPr>
          </a:p>
        </p:txBody>
      </p:sp>
      <p:sp>
        <p:nvSpPr>
          <p:cNvPr id="369" name="Google Shape;369;p10"/>
          <p:cNvSpPr/>
          <p:nvPr/>
        </p:nvSpPr>
        <p:spPr>
          <a:xfrm>
            <a:off x="1436439" y="5100960"/>
            <a:ext cx="3946527" cy="269404"/>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F2EFE9"/>
              </a:buClr>
              <a:buSzPts val="1350"/>
              <a:buFont typeface="Arial"/>
              <a:buNone/>
            </a:pPr>
            <a:r>
              <a:rPr b="0" i="0" lang="en-US" sz="1350" u="none" cap="none" strike="noStrike">
                <a:solidFill>
                  <a:srgbClr val="F2EFE9"/>
                </a:solidFill>
                <a:latin typeface="Arial"/>
                <a:ea typeface="Arial"/>
                <a:cs typeface="Arial"/>
                <a:sym typeface="Arial"/>
              </a:rPr>
              <a:t>Persistent state across sessions and workflows.</a:t>
            </a:r>
            <a:endParaRPr b="0" i="0" sz="1350" u="none" cap="none" strike="noStrike">
              <a:solidFill>
                <a:schemeClr val="dk1"/>
              </a:solidFill>
              <a:latin typeface="Calibri"/>
              <a:ea typeface="Calibri"/>
              <a:cs typeface="Calibri"/>
              <a:sym typeface="Calibri"/>
            </a:endParaRPr>
          </a:p>
        </p:txBody>
      </p:sp>
      <p:sp>
        <p:nvSpPr>
          <p:cNvPr id="370" name="Google Shape;370;p10"/>
          <p:cNvSpPr/>
          <p:nvPr/>
        </p:nvSpPr>
        <p:spPr>
          <a:xfrm>
            <a:off x="5477495" y="5773043"/>
            <a:ext cx="4250531" cy="9525"/>
          </a:xfrm>
          <a:prstGeom prst="rect">
            <a:avLst/>
          </a:prstGeom>
          <a:solidFill>
            <a:srgbClr val="F2EFE9">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0"/>
          <p:cNvSpPr/>
          <p:nvPr/>
        </p:nvSpPr>
        <p:spPr>
          <a:xfrm>
            <a:off x="9720088" y="4462859"/>
            <a:ext cx="9525" cy="1318121"/>
          </a:xfrm>
          <a:prstGeom prst="rect">
            <a:avLst/>
          </a:prstGeom>
          <a:solidFill>
            <a:srgbClr val="F2EFE9">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0"/>
          <p:cNvSpPr/>
          <p:nvPr/>
        </p:nvSpPr>
        <p:spPr>
          <a:xfrm>
            <a:off x="5686970" y="4672335"/>
            <a:ext cx="3938352"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2250"/>
              <a:buFont typeface="Arial"/>
              <a:buNone/>
            </a:pPr>
            <a:r>
              <a:rPr b="0" i="0" lang="en-US" sz="2250" u="none" cap="none" strike="noStrike">
                <a:solidFill>
                  <a:srgbClr val="F2EFE9"/>
                </a:solidFill>
                <a:latin typeface="Arial"/>
                <a:ea typeface="Arial"/>
                <a:cs typeface="Arial"/>
                <a:sym typeface="Arial"/>
              </a:rPr>
              <a:t>Identity</a:t>
            </a:r>
            <a:endParaRPr b="0" i="0" sz="2250" u="none" cap="none" strike="noStrike">
              <a:solidFill>
                <a:schemeClr val="dk1"/>
              </a:solidFill>
              <a:latin typeface="Calibri"/>
              <a:ea typeface="Calibri"/>
              <a:cs typeface="Calibri"/>
              <a:sym typeface="Calibri"/>
            </a:endParaRPr>
          </a:p>
        </p:txBody>
      </p:sp>
      <p:sp>
        <p:nvSpPr>
          <p:cNvPr id="373" name="Google Shape;373;p10"/>
          <p:cNvSpPr/>
          <p:nvPr/>
        </p:nvSpPr>
        <p:spPr>
          <a:xfrm>
            <a:off x="5686970" y="5100960"/>
            <a:ext cx="3938352" cy="500707"/>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F2EFE9"/>
              </a:buClr>
              <a:buSzPts val="1350"/>
              <a:buFont typeface="Arial"/>
              <a:buNone/>
            </a:pPr>
            <a:r>
              <a:rPr b="0" i="0" lang="en-US" sz="1350" u="none" cap="none" strike="noStrike">
                <a:solidFill>
                  <a:srgbClr val="F2EFE9"/>
                </a:solidFill>
                <a:latin typeface="Arial"/>
                <a:ea typeface="Arial"/>
                <a:cs typeface="Arial"/>
                <a:sym typeface="Arial"/>
              </a:rPr>
              <a:t>Consistent understanding of who is acting and why.</a:t>
            </a:r>
            <a:endParaRPr b="0" i="0" sz="1350" u="none" cap="none" strike="noStrike">
              <a:solidFill>
                <a:schemeClr val="dk1"/>
              </a:solidFill>
              <a:latin typeface="Calibri"/>
              <a:ea typeface="Calibri"/>
              <a:cs typeface="Calibri"/>
              <a:sym typeface="Calibri"/>
            </a:endParaRPr>
          </a:p>
        </p:txBody>
      </p:sp>
      <p:sp>
        <p:nvSpPr>
          <p:cNvPr id="374" name="Google Shape;374;p10"/>
          <p:cNvSpPr/>
          <p:nvPr/>
        </p:nvSpPr>
        <p:spPr>
          <a:xfrm>
            <a:off x="1436439" y="5990456"/>
            <a:ext cx="3946527"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2250"/>
              <a:buFont typeface="Arial"/>
              <a:buNone/>
            </a:pPr>
            <a:r>
              <a:rPr b="0" i="0" lang="en-US" sz="2250" u="none" cap="none" strike="noStrike">
                <a:solidFill>
                  <a:srgbClr val="F2EFE9"/>
                </a:solidFill>
                <a:latin typeface="Arial"/>
                <a:ea typeface="Arial"/>
                <a:cs typeface="Arial"/>
                <a:sym typeface="Arial"/>
              </a:rPr>
              <a:t>Audit</a:t>
            </a:r>
            <a:endParaRPr b="0" i="0" sz="2250" u="none" cap="none" strike="noStrike">
              <a:solidFill>
                <a:schemeClr val="dk1"/>
              </a:solidFill>
              <a:latin typeface="Calibri"/>
              <a:ea typeface="Calibri"/>
              <a:cs typeface="Calibri"/>
              <a:sym typeface="Calibri"/>
            </a:endParaRPr>
          </a:p>
        </p:txBody>
      </p:sp>
      <p:sp>
        <p:nvSpPr>
          <p:cNvPr id="375" name="Google Shape;375;p10"/>
          <p:cNvSpPr/>
          <p:nvPr/>
        </p:nvSpPr>
        <p:spPr>
          <a:xfrm>
            <a:off x="1436439" y="6419081"/>
            <a:ext cx="3946527" cy="269404"/>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F2EFE9"/>
              </a:buClr>
              <a:buSzPts val="1350"/>
              <a:buFont typeface="Arial"/>
              <a:buNone/>
            </a:pPr>
            <a:r>
              <a:rPr b="0" i="0" lang="en-US" sz="1350" u="none" cap="none" strike="noStrike">
                <a:solidFill>
                  <a:srgbClr val="F2EFE9"/>
                </a:solidFill>
                <a:latin typeface="Arial"/>
                <a:ea typeface="Arial"/>
                <a:cs typeface="Arial"/>
                <a:sym typeface="Arial"/>
              </a:rPr>
              <a:t>Traceable reasoning and decision history.</a:t>
            </a:r>
            <a:endParaRPr b="0" i="0" sz="1350" u="none" cap="none" strike="noStrike">
              <a:solidFill>
                <a:schemeClr val="dk1"/>
              </a:solidFill>
              <a:latin typeface="Calibri"/>
              <a:ea typeface="Calibri"/>
              <a:cs typeface="Calibri"/>
              <a:sym typeface="Calibri"/>
            </a:endParaRPr>
          </a:p>
        </p:txBody>
      </p:sp>
      <p:sp>
        <p:nvSpPr>
          <p:cNvPr id="376" name="Google Shape;376;p10"/>
          <p:cNvSpPr/>
          <p:nvPr/>
        </p:nvSpPr>
        <p:spPr>
          <a:xfrm>
            <a:off x="9720088" y="5780980"/>
            <a:ext cx="9525" cy="1078880"/>
          </a:xfrm>
          <a:prstGeom prst="rect">
            <a:avLst/>
          </a:prstGeom>
          <a:solidFill>
            <a:srgbClr val="F2EFE9">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0"/>
          <p:cNvSpPr/>
          <p:nvPr/>
        </p:nvSpPr>
        <p:spPr>
          <a:xfrm>
            <a:off x="5686970" y="5990456"/>
            <a:ext cx="3938352"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2250"/>
              <a:buFont typeface="Arial"/>
              <a:buNone/>
            </a:pPr>
            <a:r>
              <a:rPr b="0" i="0" lang="en-US" sz="2250" u="none" cap="none" strike="noStrike">
                <a:solidFill>
                  <a:srgbClr val="F2EFE9"/>
                </a:solidFill>
                <a:latin typeface="Arial"/>
                <a:ea typeface="Arial"/>
                <a:cs typeface="Arial"/>
                <a:sym typeface="Arial"/>
              </a:rPr>
              <a:t>Learning Constraints</a:t>
            </a:r>
            <a:endParaRPr b="0" i="0" sz="2250" u="none" cap="none" strike="noStrike">
              <a:solidFill>
                <a:schemeClr val="dk1"/>
              </a:solidFill>
              <a:latin typeface="Calibri"/>
              <a:ea typeface="Calibri"/>
              <a:cs typeface="Calibri"/>
              <a:sym typeface="Calibri"/>
            </a:endParaRPr>
          </a:p>
        </p:txBody>
      </p:sp>
      <p:sp>
        <p:nvSpPr>
          <p:cNvPr id="378" name="Google Shape;378;p10"/>
          <p:cNvSpPr/>
          <p:nvPr/>
        </p:nvSpPr>
        <p:spPr>
          <a:xfrm>
            <a:off x="5686970" y="6419081"/>
            <a:ext cx="3938352" cy="269404"/>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F2EFE9"/>
              </a:buClr>
              <a:buSzPts val="1350"/>
              <a:buFont typeface="Arial"/>
              <a:buNone/>
            </a:pPr>
            <a:r>
              <a:rPr b="0" i="0" lang="en-US" sz="1350" u="none" cap="none" strike="noStrike">
                <a:solidFill>
                  <a:srgbClr val="F2EFE9"/>
                </a:solidFill>
                <a:latin typeface="Arial"/>
                <a:ea typeface="Arial"/>
                <a:cs typeface="Arial"/>
                <a:sym typeface="Arial"/>
              </a:rPr>
              <a:t>Adaptation that is bounded, reversible, and safe.</a:t>
            </a:r>
            <a:endParaRPr b="0" i="0" sz="1350" u="none" cap="none" strike="noStrike">
              <a:solidFill>
                <a:schemeClr val="dk1"/>
              </a:solidFill>
              <a:latin typeface="Calibri"/>
              <a:ea typeface="Calibri"/>
              <a:cs typeface="Calibri"/>
              <a:sym typeface="Calibri"/>
            </a:endParaRPr>
          </a:p>
        </p:txBody>
      </p:sp>
      <p:sp>
        <p:nvSpPr>
          <p:cNvPr id="379" name="Google Shape;379;p10"/>
          <p:cNvSpPr/>
          <p:nvPr/>
        </p:nvSpPr>
        <p:spPr>
          <a:xfrm>
            <a:off x="914301" y="7615287"/>
            <a:ext cx="4178000" cy="30797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E0E0C"/>
              </a:buClr>
              <a:buSzPts val="1950"/>
              <a:buFont typeface="Arial"/>
              <a:buNone/>
            </a:pPr>
            <a:r>
              <a:rPr b="1" i="0" lang="en-US" sz="1950" u="none" cap="none" strike="noStrike">
                <a:solidFill>
                  <a:srgbClr val="0E0E0C"/>
                </a:solidFill>
                <a:latin typeface="Arial"/>
                <a:ea typeface="Arial"/>
                <a:cs typeface="Arial"/>
                <a:sym typeface="Arial"/>
              </a:rPr>
              <a:t>Continuity turns intelligent outputs</a:t>
            </a:r>
            <a:endParaRPr b="0" i="0" sz="1950" u="none" cap="none" strike="noStrike">
              <a:solidFill>
                <a:schemeClr val="dk1"/>
              </a:solidFill>
              <a:latin typeface="Calibri"/>
              <a:ea typeface="Calibri"/>
              <a:cs typeface="Calibri"/>
              <a:sym typeface="Calibri"/>
            </a:endParaRPr>
          </a:p>
        </p:txBody>
      </p:sp>
      <p:sp>
        <p:nvSpPr>
          <p:cNvPr id="380" name="Google Shape;380;p10"/>
          <p:cNvSpPr/>
          <p:nvPr/>
        </p:nvSpPr>
        <p:spPr>
          <a:xfrm>
            <a:off x="914301" y="7937252"/>
            <a:ext cx="528017" cy="30797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E0E0C"/>
              </a:buClr>
              <a:buSzPts val="1950"/>
              <a:buFont typeface="Arial"/>
              <a:buNone/>
            </a:pPr>
            <a:r>
              <a:rPr b="1" i="0" lang="en-US" sz="1950" u="none" cap="none" strike="noStrike">
                <a:solidFill>
                  <a:srgbClr val="0E0E0C"/>
                </a:solidFill>
                <a:latin typeface="Arial"/>
                <a:ea typeface="Arial"/>
                <a:cs typeface="Arial"/>
                <a:sym typeface="Arial"/>
              </a:rPr>
              <a:t>into</a:t>
            </a:r>
            <a:endParaRPr b="0" i="0" sz="1950" u="none" cap="none" strike="noStrike">
              <a:solidFill>
                <a:schemeClr val="dk1"/>
              </a:solidFill>
              <a:latin typeface="Calibri"/>
              <a:ea typeface="Calibri"/>
              <a:cs typeface="Calibri"/>
              <a:sym typeface="Calibri"/>
            </a:endParaRPr>
          </a:p>
        </p:txBody>
      </p:sp>
      <p:sp>
        <p:nvSpPr>
          <p:cNvPr id="381" name="Google Shape;381;p10"/>
          <p:cNvSpPr/>
          <p:nvPr/>
        </p:nvSpPr>
        <p:spPr>
          <a:xfrm>
            <a:off x="1414611" y="7937252"/>
            <a:ext cx="2666914" cy="307975"/>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EE5622"/>
              </a:buClr>
              <a:buSzPts val="1950"/>
              <a:buFont typeface="Arial"/>
              <a:buNone/>
            </a:pPr>
            <a:r>
              <a:rPr b="1" i="0" lang="en-US" sz="1950" u="none" cap="none" strike="noStrike">
                <a:solidFill>
                  <a:srgbClr val="EE5622"/>
                </a:solidFill>
                <a:latin typeface="Arial"/>
                <a:ea typeface="Arial"/>
                <a:cs typeface="Arial"/>
                <a:sym typeface="Arial"/>
              </a:rPr>
              <a:t>accountable systems.</a:t>
            </a:r>
            <a:endParaRPr b="0" i="0" sz="1950" u="none" cap="none" strike="noStrike">
              <a:solidFill>
                <a:schemeClr val="dk1"/>
              </a:solidFill>
              <a:latin typeface="Calibri"/>
              <a:ea typeface="Calibri"/>
              <a:cs typeface="Calibri"/>
              <a:sym typeface="Calibri"/>
            </a:endParaRPr>
          </a:p>
        </p:txBody>
      </p:sp>
      <p:sp>
        <p:nvSpPr>
          <p:cNvPr id="382" name="Google Shape;382;p10"/>
          <p:cNvSpPr/>
          <p:nvPr/>
        </p:nvSpPr>
        <p:spPr>
          <a:xfrm>
            <a:off x="914301" y="8292455"/>
            <a:ext cx="9400180" cy="260846"/>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6B6860"/>
              </a:buClr>
              <a:buSzPts val="1350"/>
              <a:buFont typeface="Arial"/>
              <a:buNone/>
            </a:pPr>
            <a:r>
              <a:rPr b="0" i="0" lang="en-US" sz="1350" u="none" cap="none" strike="noStrike">
                <a:solidFill>
                  <a:srgbClr val="6B6860"/>
                </a:solidFill>
                <a:latin typeface="Arial"/>
                <a:ea typeface="Arial"/>
                <a:cs typeface="Arial"/>
                <a:sym typeface="Arial"/>
              </a:rPr>
              <a:t>Enables coherence across time, context, and action.</a:t>
            </a:r>
            <a:endParaRPr b="0" i="0" sz="1350" u="none" cap="none" strike="noStrike">
              <a:solidFill>
                <a:schemeClr val="dk1"/>
              </a:solidFill>
              <a:latin typeface="Calibri"/>
              <a:ea typeface="Calibri"/>
              <a:cs typeface="Calibri"/>
              <a:sym typeface="Calibri"/>
            </a:endParaRPr>
          </a:p>
        </p:txBody>
      </p:sp>
      <p:sp>
        <p:nvSpPr>
          <p:cNvPr id="383" name="Google Shape;383;p10"/>
          <p:cNvSpPr/>
          <p:nvPr/>
        </p:nvSpPr>
        <p:spPr>
          <a:xfrm>
            <a:off x="10505777" y="952500"/>
            <a:ext cx="7782223" cy="8648774"/>
          </a:xfrm>
          <a:prstGeom prst="rect">
            <a:avLst/>
          </a:prstGeom>
          <a:solidFill>
            <a:srgbClr val="E9E5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0"/>
          <p:cNvSpPr/>
          <p:nvPr/>
        </p:nvSpPr>
        <p:spPr>
          <a:xfrm>
            <a:off x="11115352" y="1485801"/>
            <a:ext cx="6446097"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WITHOUT THIS LAYER</a:t>
            </a:r>
            <a:endParaRPr b="0" i="0" sz="1050" u="none" cap="none" strike="noStrike">
              <a:solidFill>
                <a:schemeClr val="dk1"/>
              </a:solidFill>
              <a:latin typeface="Calibri"/>
              <a:ea typeface="Calibri"/>
              <a:cs typeface="Calibri"/>
              <a:sym typeface="Calibri"/>
            </a:endParaRPr>
          </a:p>
        </p:txBody>
      </p:sp>
      <p:sp>
        <p:nvSpPr>
          <p:cNvPr id="385" name="Google Shape;385;p10"/>
          <p:cNvSpPr/>
          <p:nvPr/>
        </p:nvSpPr>
        <p:spPr>
          <a:xfrm>
            <a:off x="11115352" y="1739801"/>
            <a:ext cx="6446097" cy="624731"/>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0E0E0C"/>
              </a:buClr>
              <a:buSzPts val="2100"/>
              <a:buFont typeface="Arial"/>
              <a:buNone/>
            </a:pPr>
            <a:r>
              <a:rPr b="0" i="0" lang="en-US" sz="2100" u="none" cap="none" strike="noStrike">
                <a:solidFill>
                  <a:srgbClr val="0E0E0C"/>
                </a:solidFill>
                <a:latin typeface="Arial"/>
                <a:ea typeface="Arial"/>
                <a:cs typeface="Arial"/>
                <a:sym typeface="Arial"/>
              </a:rPr>
              <a:t>Intelligence without accountability.</a:t>
            </a:r>
            <a:endParaRPr b="0" i="0" sz="2100" u="none" cap="none" strike="noStrike">
              <a:solidFill>
                <a:schemeClr val="dk1"/>
              </a:solidFill>
              <a:latin typeface="Calibri"/>
              <a:ea typeface="Calibri"/>
              <a:cs typeface="Calibri"/>
              <a:sym typeface="Calibri"/>
            </a:endParaRPr>
          </a:p>
        </p:txBody>
      </p:sp>
      <p:sp>
        <p:nvSpPr>
          <p:cNvPr id="386" name="Google Shape;386;p10"/>
          <p:cNvSpPr/>
          <p:nvPr/>
        </p:nvSpPr>
        <p:spPr>
          <a:xfrm>
            <a:off x="11115352" y="2593082"/>
            <a:ext cx="6258346" cy="9525"/>
          </a:xfrm>
          <a:prstGeom prst="rect">
            <a:avLst/>
          </a:prstGeom>
          <a:solidFill>
            <a:srgbClr val="0E0E0C">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0"/>
          <p:cNvSpPr/>
          <p:nvPr/>
        </p:nvSpPr>
        <p:spPr>
          <a:xfrm>
            <a:off x="11115352" y="3188022"/>
            <a:ext cx="6258346"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0"/>
          <p:cNvSpPr/>
          <p:nvPr/>
        </p:nvSpPr>
        <p:spPr>
          <a:xfrm>
            <a:off x="11115352" y="2820045"/>
            <a:ext cx="45720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01</a:t>
            </a:r>
            <a:endParaRPr b="0" i="0" sz="1200" u="none" cap="none" strike="noStrike">
              <a:solidFill>
                <a:schemeClr val="dk1"/>
              </a:solidFill>
              <a:latin typeface="Calibri"/>
              <a:ea typeface="Calibri"/>
              <a:cs typeface="Calibri"/>
              <a:sym typeface="Calibri"/>
            </a:endParaRPr>
          </a:p>
        </p:txBody>
      </p:sp>
      <p:sp>
        <p:nvSpPr>
          <p:cNvPr id="389" name="Google Shape;389;p10"/>
          <p:cNvSpPr/>
          <p:nvPr/>
        </p:nvSpPr>
        <p:spPr>
          <a:xfrm>
            <a:off x="11496352" y="2772420"/>
            <a:ext cx="6053667" cy="282302"/>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0E0E0C"/>
              </a:buClr>
              <a:buSzPts val="1425"/>
              <a:buFont typeface="Arial"/>
              <a:buNone/>
            </a:pPr>
            <a:r>
              <a:rPr b="0" i="0" lang="en-US" sz="1425" u="none" cap="none" strike="noStrike">
                <a:solidFill>
                  <a:srgbClr val="0E0E0C"/>
                </a:solidFill>
                <a:latin typeface="Arial"/>
                <a:ea typeface="Arial"/>
                <a:cs typeface="Arial"/>
                <a:sym typeface="Arial"/>
              </a:rPr>
              <a:t>Stateless agents</a:t>
            </a:r>
            <a:endParaRPr b="0" i="0" sz="1425" u="none" cap="none" strike="noStrike">
              <a:solidFill>
                <a:schemeClr val="dk1"/>
              </a:solidFill>
              <a:latin typeface="Calibri"/>
              <a:ea typeface="Calibri"/>
              <a:cs typeface="Calibri"/>
              <a:sym typeface="Calibri"/>
            </a:endParaRPr>
          </a:p>
        </p:txBody>
      </p:sp>
      <p:sp>
        <p:nvSpPr>
          <p:cNvPr id="390" name="Google Shape;390;p10"/>
          <p:cNvSpPr/>
          <p:nvPr/>
        </p:nvSpPr>
        <p:spPr>
          <a:xfrm>
            <a:off x="11115352" y="3782963"/>
            <a:ext cx="6258346"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0"/>
          <p:cNvSpPr/>
          <p:nvPr/>
        </p:nvSpPr>
        <p:spPr>
          <a:xfrm>
            <a:off x="11115352" y="3414985"/>
            <a:ext cx="45720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02</a:t>
            </a:r>
            <a:endParaRPr b="0" i="0" sz="1200" u="none" cap="none" strike="noStrike">
              <a:solidFill>
                <a:schemeClr val="dk1"/>
              </a:solidFill>
              <a:latin typeface="Calibri"/>
              <a:ea typeface="Calibri"/>
              <a:cs typeface="Calibri"/>
              <a:sym typeface="Calibri"/>
            </a:endParaRPr>
          </a:p>
        </p:txBody>
      </p:sp>
      <p:sp>
        <p:nvSpPr>
          <p:cNvPr id="392" name="Google Shape;392;p10"/>
          <p:cNvSpPr/>
          <p:nvPr/>
        </p:nvSpPr>
        <p:spPr>
          <a:xfrm>
            <a:off x="11496352" y="3367360"/>
            <a:ext cx="6053667" cy="282302"/>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0E0E0C"/>
              </a:buClr>
              <a:buSzPts val="1425"/>
              <a:buFont typeface="Arial"/>
              <a:buNone/>
            </a:pPr>
            <a:r>
              <a:rPr b="0" i="0" lang="en-US" sz="1425" u="none" cap="none" strike="noStrike">
                <a:solidFill>
                  <a:srgbClr val="0E0E0C"/>
                </a:solidFill>
                <a:latin typeface="Arial"/>
                <a:ea typeface="Arial"/>
                <a:cs typeface="Arial"/>
                <a:sym typeface="Arial"/>
              </a:rPr>
              <a:t>Untraceable decisions</a:t>
            </a:r>
            <a:endParaRPr b="0" i="0" sz="1425" u="none" cap="none" strike="noStrike">
              <a:solidFill>
                <a:schemeClr val="dk1"/>
              </a:solidFill>
              <a:latin typeface="Calibri"/>
              <a:ea typeface="Calibri"/>
              <a:cs typeface="Calibri"/>
              <a:sym typeface="Calibri"/>
            </a:endParaRPr>
          </a:p>
        </p:txBody>
      </p:sp>
      <p:sp>
        <p:nvSpPr>
          <p:cNvPr id="393" name="Google Shape;393;p10"/>
          <p:cNvSpPr/>
          <p:nvPr/>
        </p:nvSpPr>
        <p:spPr>
          <a:xfrm>
            <a:off x="11115352" y="4377903"/>
            <a:ext cx="6258346"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11115352" y="4009926"/>
            <a:ext cx="45720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03</a:t>
            </a:r>
            <a:endParaRPr b="0" i="0" sz="1200" u="none" cap="none" strike="noStrike">
              <a:solidFill>
                <a:schemeClr val="dk1"/>
              </a:solidFill>
              <a:latin typeface="Calibri"/>
              <a:ea typeface="Calibri"/>
              <a:cs typeface="Calibri"/>
              <a:sym typeface="Calibri"/>
            </a:endParaRPr>
          </a:p>
        </p:txBody>
      </p:sp>
      <p:sp>
        <p:nvSpPr>
          <p:cNvPr id="395" name="Google Shape;395;p10"/>
          <p:cNvSpPr/>
          <p:nvPr/>
        </p:nvSpPr>
        <p:spPr>
          <a:xfrm>
            <a:off x="11496352" y="3962301"/>
            <a:ext cx="6053667" cy="282302"/>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0E0E0C"/>
              </a:buClr>
              <a:buSzPts val="1425"/>
              <a:buFont typeface="Arial"/>
              <a:buNone/>
            </a:pPr>
            <a:r>
              <a:rPr b="0" i="0" lang="en-US" sz="1425" u="none" cap="none" strike="noStrike">
                <a:solidFill>
                  <a:srgbClr val="0E0E0C"/>
                </a:solidFill>
                <a:latin typeface="Arial"/>
                <a:ea typeface="Arial"/>
                <a:cs typeface="Arial"/>
                <a:sym typeface="Arial"/>
              </a:rPr>
              <a:t>Drift over time</a:t>
            </a:r>
            <a:endParaRPr b="0" i="0" sz="1425" u="none" cap="none" strike="noStrike">
              <a:solidFill>
                <a:schemeClr val="dk1"/>
              </a:solidFill>
              <a:latin typeface="Calibri"/>
              <a:ea typeface="Calibri"/>
              <a:cs typeface="Calibri"/>
              <a:sym typeface="Calibri"/>
            </a:endParaRPr>
          </a:p>
        </p:txBody>
      </p:sp>
      <p:sp>
        <p:nvSpPr>
          <p:cNvPr id="396" name="Google Shape;396;p10"/>
          <p:cNvSpPr/>
          <p:nvPr/>
        </p:nvSpPr>
        <p:spPr>
          <a:xfrm>
            <a:off x="11115352" y="4972844"/>
            <a:ext cx="6258346"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0"/>
          <p:cNvSpPr/>
          <p:nvPr/>
        </p:nvSpPr>
        <p:spPr>
          <a:xfrm>
            <a:off x="11115352" y="4604866"/>
            <a:ext cx="45720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04</a:t>
            </a:r>
            <a:endParaRPr b="0" i="0" sz="1200" u="none" cap="none" strike="noStrike">
              <a:solidFill>
                <a:schemeClr val="dk1"/>
              </a:solidFill>
              <a:latin typeface="Calibri"/>
              <a:ea typeface="Calibri"/>
              <a:cs typeface="Calibri"/>
              <a:sym typeface="Calibri"/>
            </a:endParaRPr>
          </a:p>
        </p:txBody>
      </p:sp>
      <p:sp>
        <p:nvSpPr>
          <p:cNvPr id="398" name="Google Shape;398;p10"/>
          <p:cNvSpPr/>
          <p:nvPr/>
        </p:nvSpPr>
        <p:spPr>
          <a:xfrm>
            <a:off x="11496352" y="4557241"/>
            <a:ext cx="6053667" cy="282302"/>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0E0E0C"/>
              </a:buClr>
              <a:buSzPts val="1425"/>
              <a:buFont typeface="Arial"/>
              <a:buNone/>
            </a:pPr>
            <a:r>
              <a:rPr b="0" i="0" lang="en-US" sz="1425" u="none" cap="none" strike="noStrike">
                <a:solidFill>
                  <a:srgbClr val="0E0E0C"/>
                </a:solidFill>
                <a:latin typeface="Arial"/>
                <a:ea typeface="Arial"/>
                <a:cs typeface="Arial"/>
                <a:sym typeface="Arial"/>
              </a:rPr>
              <a:t>No system accountability</a:t>
            </a:r>
            <a:endParaRPr b="0" i="0" sz="1425" u="none" cap="none" strike="noStrike">
              <a:solidFill>
                <a:schemeClr val="dk1"/>
              </a:solidFill>
              <a:latin typeface="Calibri"/>
              <a:ea typeface="Calibri"/>
              <a:cs typeface="Calibri"/>
              <a:sym typeface="Calibri"/>
            </a:endParaRPr>
          </a:p>
        </p:txBody>
      </p:sp>
      <p:sp>
        <p:nvSpPr>
          <p:cNvPr id="399" name="Google Shape;399;p10"/>
          <p:cNvSpPr/>
          <p:nvPr/>
        </p:nvSpPr>
        <p:spPr>
          <a:xfrm>
            <a:off x="11115352" y="9077399"/>
            <a:ext cx="6446097" cy="1809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975"/>
              <a:buFont typeface="Arial"/>
              <a:buNone/>
            </a:pPr>
            <a:r>
              <a:rPr b="0" i="0" lang="en-US" sz="975" u="none" cap="none" strike="noStrike">
                <a:solidFill>
                  <a:srgbClr val="6B6860"/>
                </a:solidFill>
                <a:latin typeface="Arial"/>
                <a:ea typeface="Arial"/>
                <a:cs typeface="Arial"/>
                <a:sym typeface="Arial"/>
              </a:rPr>
              <a:t>THE OPERATING LAYER JENSEN'S STACK LEAVES UNSPECIFIED</a:t>
            </a:r>
            <a:endParaRPr b="0" i="0" sz="975" u="none" cap="none" strike="noStrike">
              <a:solidFill>
                <a:schemeClr val="dk1"/>
              </a:solidFill>
              <a:latin typeface="Calibri"/>
              <a:ea typeface="Calibri"/>
              <a:cs typeface="Calibri"/>
              <a:sym typeface="Calibri"/>
            </a:endParaRPr>
          </a:p>
        </p:txBody>
      </p:sp>
      <p:sp>
        <p:nvSpPr>
          <p:cNvPr id="400" name="Google Shape;400;p10"/>
          <p:cNvSpPr/>
          <p:nvPr/>
        </p:nvSpPr>
        <p:spPr>
          <a:xfrm>
            <a:off x="0" y="9593337"/>
            <a:ext cx="18288000"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685726" y="9864700"/>
            <a:ext cx="273334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OIA · ADVISORY BOARD BRIEF</a:t>
            </a:r>
            <a:endParaRPr b="0" i="0" sz="1050" u="none" cap="none" strike="noStrike">
              <a:solidFill>
                <a:schemeClr val="dk1"/>
              </a:solidFill>
              <a:latin typeface="Calibri"/>
              <a:ea typeface="Calibri"/>
              <a:cs typeface="Calibri"/>
              <a:sym typeface="Calibri"/>
            </a:endParaRPr>
          </a:p>
        </p:txBody>
      </p:sp>
      <p:sp>
        <p:nvSpPr>
          <p:cNvPr id="402" name="Google Shape;402;p10"/>
          <p:cNvSpPr/>
          <p:nvPr/>
        </p:nvSpPr>
        <p:spPr>
          <a:xfrm>
            <a:off x="16701368" y="9864700"/>
            <a:ext cx="977106"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APRIL 2026</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9"/>
        </a:solidFill>
      </p:bgPr>
    </p:bg>
    <p:spTree>
      <p:nvGrpSpPr>
        <p:cNvPr id="407" name="Shape 407"/>
        <p:cNvGrpSpPr/>
        <p:nvPr/>
      </p:nvGrpSpPr>
      <p:grpSpPr>
        <a:xfrm>
          <a:off x="0" y="0"/>
          <a:ext cx="0" cy="0"/>
          <a:chOff x="0" y="0"/>
          <a:chExt cx="0" cy="0"/>
        </a:xfrm>
      </p:grpSpPr>
      <p:sp>
        <p:nvSpPr>
          <p:cNvPr id="408" name="Google Shape;408;p11"/>
          <p:cNvSpPr/>
          <p:nvPr/>
        </p:nvSpPr>
        <p:spPr>
          <a:xfrm>
            <a:off x="0" y="952500"/>
            <a:ext cx="18288000"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1"/>
          <p:cNvSpPr/>
          <p:nvPr/>
        </p:nvSpPr>
        <p:spPr>
          <a:xfrm>
            <a:off x="685726" y="353219"/>
            <a:ext cx="2785078"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0E0C"/>
              </a:buClr>
              <a:buSzPts val="1650"/>
              <a:buFont typeface="Arial"/>
              <a:buNone/>
            </a:pPr>
            <a:r>
              <a:rPr b="0" i="0" lang="en-US" sz="1650" u="none" cap="none" strike="noStrike">
                <a:solidFill>
                  <a:srgbClr val="0E0E0C"/>
                </a:solidFill>
                <a:latin typeface="Arial"/>
                <a:ea typeface="Arial"/>
                <a:cs typeface="Arial"/>
                <a:sym typeface="Arial"/>
              </a:rPr>
              <a:t>AGENTICS </a:t>
            </a:r>
            <a:r>
              <a:rPr b="0" i="0" lang="en-US" sz="1650" u="none" cap="none" strike="noStrike">
                <a:solidFill>
                  <a:srgbClr val="EE5622"/>
                </a:solidFill>
                <a:latin typeface="Arial"/>
                <a:ea typeface="Arial"/>
                <a:cs typeface="Arial"/>
                <a:sym typeface="Arial"/>
              </a:rPr>
              <a:t>[</a:t>
            </a:r>
            <a:r>
              <a:rPr b="0" i="0" lang="en-US" sz="1650" u="none" cap="none" strike="noStrike">
                <a:solidFill>
                  <a:srgbClr val="0E0E0C"/>
                </a:solidFill>
                <a:latin typeface="Arial"/>
                <a:ea typeface="Arial"/>
                <a:cs typeface="Arial"/>
                <a:sym typeface="Arial"/>
              </a:rPr>
              <a:t>FOUNDATION</a:t>
            </a:r>
            <a:r>
              <a:rPr b="0" i="0" lang="en-US" sz="1650" u="none" cap="none" strike="noStrike">
                <a:solidFill>
                  <a:srgbClr val="EE5622"/>
                </a:solidFill>
                <a:latin typeface="Arial"/>
                <a:ea typeface="Arial"/>
                <a:cs typeface="Arial"/>
                <a:sym typeface="Arial"/>
              </a:rPr>
              <a:t>]</a:t>
            </a:r>
            <a:endParaRPr b="0" i="0" sz="1650" u="none" cap="none" strike="noStrike">
              <a:solidFill>
                <a:schemeClr val="dk1"/>
              </a:solidFill>
              <a:latin typeface="Calibri"/>
              <a:ea typeface="Calibri"/>
              <a:cs typeface="Calibri"/>
              <a:sym typeface="Calibri"/>
            </a:endParaRPr>
          </a:p>
        </p:txBody>
      </p:sp>
      <p:sp>
        <p:nvSpPr>
          <p:cNvPr id="410" name="Google Shape;410;p11"/>
          <p:cNvSpPr/>
          <p:nvPr/>
        </p:nvSpPr>
        <p:spPr>
          <a:xfrm>
            <a:off x="16043423" y="388937"/>
            <a:ext cx="1635050"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09 / 10 · THE ASK</a:t>
            </a:r>
            <a:endParaRPr b="0" i="0" sz="1200" u="none" cap="none" strike="noStrike">
              <a:solidFill>
                <a:schemeClr val="dk1"/>
              </a:solidFill>
              <a:latin typeface="Calibri"/>
              <a:ea typeface="Calibri"/>
              <a:cs typeface="Calibri"/>
              <a:sym typeface="Calibri"/>
            </a:endParaRPr>
          </a:p>
        </p:txBody>
      </p:sp>
      <p:sp>
        <p:nvSpPr>
          <p:cNvPr id="411" name="Google Shape;411;p11"/>
          <p:cNvSpPr/>
          <p:nvPr/>
        </p:nvSpPr>
        <p:spPr>
          <a:xfrm>
            <a:off x="914301" y="1866801"/>
            <a:ext cx="7770292"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6B6860"/>
                </a:solidFill>
                <a:latin typeface="Arial"/>
                <a:ea typeface="Arial"/>
                <a:cs typeface="Arial"/>
                <a:sym typeface="Arial"/>
              </a:rPr>
              <a:t>FUTURE HORIZON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412" name="Google Shape;412;p11"/>
          <p:cNvSpPr/>
          <p:nvPr/>
        </p:nvSpPr>
        <p:spPr>
          <a:xfrm>
            <a:off x="914301" y="2422426"/>
            <a:ext cx="533301" cy="38075"/>
          </a:xfrm>
          <a:prstGeom prst="rect">
            <a:avLst/>
          </a:prstGeom>
          <a:solidFill>
            <a:srgbClr val="EE56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1"/>
          <p:cNvSpPr/>
          <p:nvPr/>
        </p:nvSpPr>
        <p:spPr>
          <a:xfrm>
            <a:off x="914301" y="2728764"/>
            <a:ext cx="7770292" cy="1168946"/>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0E0E0C"/>
              </a:buClr>
              <a:buSzPts val="8400"/>
              <a:buFont typeface="Arial"/>
              <a:buNone/>
            </a:pPr>
            <a:r>
              <a:rPr b="1" i="0" lang="en-US" sz="8400" u="none" cap="none" strike="noStrike">
                <a:solidFill>
                  <a:srgbClr val="0E0E0C"/>
                </a:solidFill>
                <a:latin typeface="Arial"/>
                <a:ea typeface="Arial"/>
                <a:cs typeface="Arial"/>
                <a:sym typeface="Arial"/>
              </a:rPr>
              <a:t>Adopt.</a:t>
            </a:r>
            <a:endParaRPr b="0" i="0" sz="8400" u="none" cap="none" strike="noStrike">
              <a:solidFill>
                <a:schemeClr val="dk1"/>
              </a:solidFill>
              <a:latin typeface="Calibri"/>
              <a:ea typeface="Calibri"/>
              <a:cs typeface="Calibri"/>
              <a:sym typeface="Calibri"/>
            </a:endParaRPr>
          </a:p>
        </p:txBody>
      </p:sp>
      <p:sp>
        <p:nvSpPr>
          <p:cNvPr id="414" name="Google Shape;414;p11"/>
          <p:cNvSpPr/>
          <p:nvPr/>
        </p:nvSpPr>
        <p:spPr>
          <a:xfrm>
            <a:off x="914301" y="4011910"/>
            <a:ext cx="7770292" cy="1168946"/>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0E0E0C"/>
              </a:buClr>
              <a:buSzPts val="8400"/>
              <a:buFont typeface="Arial"/>
              <a:buNone/>
            </a:pPr>
            <a:r>
              <a:rPr b="1" i="0" lang="en-US" sz="8400" u="none" cap="none" strike="noStrike">
                <a:solidFill>
                  <a:srgbClr val="0E0E0C"/>
                </a:solidFill>
                <a:latin typeface="Arial"/>
                <a:ea typeface="Arial"/>
                <a:cs typeface="Arial"/>
                <a:sym typeface="Arial"/>
              </a:rPr>
              <a:t>Ratify.</a:t>
            </a:r>
            <a:endParaRPr b="0" i="0" sz="8400" u="none" cap="none" strike="noStrike">
              <a:solidFill>
                <a:schemeClr val="dk1"/>
              </a:solidFill>
              <a:latin typeface="Calibri"/>
              <a:ea typeface="Calibri"/>
              <a:cs typeface="Calibri"/>
              <a:sym typeface="Calibri"/>
            </a:endParaRPr>
          </a:p>
        </p:txBody>
      </p:sp>
      <p:sp>
        <p:nvSpPr>
          <p:cNvPr id="415" name="Google Shape;415;p11"/>
          <p:cNvSpPr/>
          <p:nvPr/>
        </p:nvSpPr>
        <p:spPr>
          <a:xfrm>
            <a:off x="914301" y="5295056"/>
            <a:ext cx="7770292" cy="1168946"/>
          </a:xfrm>
          <a:prstGeom prst="rect">
            <a:avLst/>
          </a:prstGeom>
          <a:noFill/>
          <a:ln>
            <a:noFill/>
          </a:ln>
        </p:spPr>
        <p:txBody>
          <a:bodyPr anchorCtr="0" anchor="t" bIns="25400" lIns="25400" spcFirstLastPara="1" rIns="25400" wrap="square" tIns="25400">
            <a:noAutofit/>
          </a:bodyPr>
          <a:lstStyle/>
          <a:p>
            <a:pPr indent="0" lvl="0" marL="0" marR="0" rtl="0" algn="l">
              <a:lnSpc>
                <a:spcPct val="106000"/>
              </a:lnSpc>
              <a:spcBef>
                <a:spcPts val="0"/>
              </a:spcBef>
              <a:spcAft>
                <a:spcPts val="0"/>
              </a:spcAft>
              <a:buClr>
                <a:srgbClr val="EE5622"/>
              </a:buClr>
              <a:buSzPts val="8400"/>
              <a:buFont typeface="Arial"/>
              <a:buNone/>
            </a:pPr>
            <a:r>
              <a:rPr b="1" i="0" lang="en-US" sz="8400" u="none" cap="none" strike="noStrike">
                <a:solidFill>
                  <a:srgbClr val="EE5622"/>
                </a:solidFill>
                <a:latin typeface="Arial"/>
                <a:ea typeface="Arial"/>
                <a:cs typeface="Arial"/>
                <a:sym typeface="Arial"/>
              </a:rPr>
              <a:t>Champion.</a:t>
            </a:r>
            <a:endParaRPr b="0" i="0" sz="8400" u="none" cap="none" strike="noStrike">
              <a:solidFill>
                <a:schemeClr val="dk1"/>
              </a:solidFill>
              <a:latin typeface="Calibri"/>
              <a:ea typeface="Calibri"/>
              <a:cs typeface="Calibri"/>
              <a:sym typeface="Calibri"/>
            </a:endParaRPr>
          </a:p>
        </p:txBody>
      </p:sp>
      <p:sp>
        <p:nvSpPr>
          <p:cNvPr id="416" name="Google Shape;416;p11"/>
          <p:cNvSpPr/>
          <p:nvPr/>
        </p:nvSpPr>
        <p:spPr>
          <a:xfrm>
            <a:off x="914301" y="8512348"/>
            <a:ext cx="7770292"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 FOR THE AGENTICS FOUNDATION</a:t>
            </a:r>
            <a:endParaRPr b="0" i="0" sz="1200" u="none" cap="none" strike="noStrike">
              <a:solidFill>
                <a:schemeClr val="dk1"/>
              </a:solidFill>
              <a:latin typeface="Calibri"/>
              <a:ea typeface="Calibri"/>
              <a:cs typeface="Calibri"/>
              <a:sym typeface="Calibri"/>
            </a:endParaRPr>
          </a:p>
        </p:txBody>
      </p:sp>
      <p:sp>
        <p:nvSpPr>
          <p:cNvPr id="417" name="Google Shape;417;p11"/>
          <p:cNvSpPr/>
          <p:nvPr/>
        </p:nvSpPr>
        <p:spPr>
          <a:xfrm>
            <a:off x="9144000" y="952500"/>
            <a:ext cx="9144000" cy="8648774"/>
          </a:xfrm>
          <a:prstGeom prst="rect">
            <a:avLst/>
          </a:prstGeom>
          <a:solidFill>
            <a:srgbClr val="E9E5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1"/>
          <p:cNvSpPr/>
          <p:nvPr/>
        </p:nvSpPr>
        <p:spPr>
          <a:xfrm>
            <a:off x="9144000" y="952500"/>
            <a:ext cx="9525" cy="8648774"/>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
          <p:cNvSpPr/>
          <p:nvPr/>
        </p:nvSpPr>
        <p:spPr>
          <a:xfrm>
            <a:off x="10066238" y="1866801"/>
            <a:ext cx="7526685"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6B6860"/>
                </a:solidFill>
                <a:latin typeface="Arial"/>
                <a:ea typeface="Arial"/>
                <a:cs typeface="Arial"/>
                <a:sym typeface="Arial"/>
              </a:rPr>
              <a:t>MANDATE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420" name="Google Shape;420;p11"/>
          <p:cNvSpPr/>
          <p:nvPr/>
        </p:nvSpPr>
        <p:spPr>
          <a:xfrm>
            <a:off x="10066238" y="2972470"/>
            <a:ext cx="7307461" cy="9525"/>
          </a:xfrm>
          <a:prstGeom prst="rect">
            <a:avLst/>
          </a:prstGeom>
          <a:solidFill>
            <a:srgbClr val="0E0E0C">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1"/>
          <p:cNvSpPr/>
          <p:nvPr/>
        </p:nvSpPr>
        <p:spPr>
          <a:xfrm>
            <a:off x="10066238" y="3846959"/>
            <a:ext cx="7307461"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p:nvPr/>
        </p:nvSpPr>
        <p:spPr>
          <a:xfrm>
            <a:off x="10066238" y="3304208"/>
            <a:ext cx="838200" cy="196751"/>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01</a:t>
            </a:r>
            <a:endParaRPr b="0" i="0" sz="1050" u="none" cap="none" strike="noStrike">
              <a:solidFill>
                <a:schemeClr val="dk1"/>
              </a:solidFill>
              <a:latin typeface="Calibri"/>
              <a:ea typeface="Calibri"/>
              <a:cs typeface="Calibri"/>
              <a:sym typeface="Calibri"/>
            </a:endParaRPr>
          </a:p>
        </p:txBody>
      </p:sp>
      <p:sp>
        <p:nvSpPr>
          <p:cNvPr id="423" name="Google Shape;423;p11"/>
          <p:cNvSpPr/>
          <p:nvPr/>
        </p:nvSpPr>
        <p:spPr>
          <a:xfrm>
            <a:off x="10828238" y="3247058"/>
            <a:ext cx="5494020" cy="371351"/>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0E0E0C"/>
              </a:buClr>
              <a:buSzPts val="2100"/>
              <a:buFont typeface="Arial"/>
              <a:buNone/>
            </a:pPr>
            <a:r>
              <a:rPr b="1" i="0" lang="en-US" sz="2100" u="none" cap="none" strike="noStrike">
                <a:solidFill>
                  <a:srgbClr val="0E0E0C"/>
                </a:solidFill>
                <a:latin typeface="Arial"/>
                <a:ea typeface="Arial"/>
                <a:cs typeface="Arial"/>
                <a:sym typeface="Arial"/>
              </a:rPr>
              <a:t>Take ownership of the model.</a:t>
            </a:r>
            <a:endParaRPr b="0" i="0" sz="2100" u="none" cap="none" strike="noStrike">
              <a:solidFill>
                <a:schemeClr val="dk1"/>
              </a:solidFill>
              <a:latin typeface="Calibri"/>
              <a:ea typeface="Calibri"/>
              <a:cs typeface="Calibri"/>
              <a:sym typeface="Calibri"/>
            </a:endParaRPr>
          </a:p>
        </p:txBody>
      </p:sp>
      <p:sp>
        <p:nvSpPr>
          <p:cNvPr id="424" name="Google Shape;424;p11"/>
          <p:cNvSpPr/>
          <p:nvPr/>
        </p:nvSpPr>
        <p:spPr>
          <a:xfrm>
            <a:off x="10066238" y="4721448"/>
            <a:ext cx="7307461"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a:off x="10066238" y="4178697"/>
            <a:ext cx="838200" cy="196751"/>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02</a:t>
            </a:r>
            <a:endParaRPr b="0" i="0" sz="1050" u="none" cap="none" strike="noStrike">
              <a:solidFill>
                <a:schemeClr val="dk1"/>
              </a:solidFill>
              <a:latin typeface="Calibri"/>
              <a:ea typeface="Calibri"/>
              <a:cs typeface="Calibri"/>
              <a:sym typeface="Calibri"/>
            </a:endParaRPr>
          </a:p>
        </p:txBody>
      </p:sp>
      <p:sp>
        <p:nvSpPr>
          <p:cNvPr id="426" name="Google Shape;426;p11"/>
          <p:cNvSpPr/>
          <p:nvPr/>
        </p:nvSpPr>
        <p:spPr>
          <a:xfrm>
            <a:off x="10828238" y="4121547"/>
            <a:ext cx="5494020" cy="371351"/>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0E0E0C"/>
              </a:buClr>
              <a:buSzPts val="2100"/>
              <a:buFont typeface="Arial"/>
              <a:buNone/>
            </a:pPr>
            <a:r>
              <a:rPr b="1" i="0" lang="en-US" sz="2100" u="none" cap="none" strike="noStrike">
                <a:solidFill>
                  <a:srgbClr val="0E0E0C"/>
                </a:solidFill>
                <a:latin typeface="Arial"/>
                <a:ea typeface="Arial"/>
                <a:cs typeface="Arial"/>
                <a:sym typeface="Arial"/>
              </a:rPr>
              <a:t>Ratify as a vendor-neutral specification.</a:t>
            </a:r>
            <a:endParaRPr b="0" i="0" sz="2100" u="none" cap="none" strike="noStrike">
              <a:solidFill>
                <a:schemeClr val="dk1"/>
              </a:solidFill>
              <a:latin typeface="Calibri"/>
              <a:ea typeface="Calibri"/>
              <a:cs typeface="Calibri"/>
              <a:sym typeface="Calibri"/>
            </a:endParaRPr>
          </a:p>
        </p:txBody>
      </p:sp>
      <p:sp>
        <p:nvSpPr>
          <p:cNvPr id="427" name="Google Shape;427;p11"/>
          <p:cNvSpPr/>
          <p:nvPr/>
        </p:nvSpPr>
        <p:spPr>
          <a:xfrm>
            <a:off x="10066238" y="5595937"/>
            <a:ext cx="7307461"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1"/>
          <p:cNvSpPr/>
          <p:nvPr/>
        </p:nvSpPr>
        <p:spPr>
          <a:xfrm>
            <a:off x="10066238" y="5053186"/>
            <a:ext cx="838200" cy="196751"/>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03</a:t>
            </a:r>
            <a:endParaRPr b="0" i="0" sz="1050" u="none" cap="none" strike="noStrike">
              <a:solidFill>
                <a:schemeClr val="dk1"/>
              </a:solidFill>
              <a:latin typeface="Calibri"/>
              <a:ea typeface="Calibri"/>
              <a:cs typeface="Calibri"/>
              <a:sym typeface="Calibri"/>
            </a:endParaRPr>
          </a:p>
        </p:txBody>
      </p:sp>
      <p:sp>
        <p:nvSpPr>
          <p:cNvPr id="429" name="Google Shape;429;p11"/>
          <p:cNvSpPr/>
          <p:nvPr/>
        </p:nvSpPr>
        <p:spPr>
          <a:xfrm>
            <a:off x="10828238" y="4996036"/>
            <a:ext cx="5494020" cy="371351"/>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0E0E0C"/>
              </a:buClr>
              <a:buSzPts val="2100"/>
              <a:buFont typeface="Arial"/>
              <a:buNone/>
            </a:pPr>
            <a:r>
              <a:rPr b="1" i="0" lang="en-US" sz="2100" u="none" cap="none" strike="noStrike">
                <a:solidFill>
                  <a:srgbClr val="0E0E0C"/>
                </a:solidFill>
                <a:latin typeface="Arial"/>
                <a:ea typeface="Arial"/>
                <a:cs typeface="Arial"/>
                <a:sym typeface="Arial"/>
              </a:rPr>
              <a:t>Establish a formal contribution process.</a:t>
            </a:r>
            <a:endParaRPr b="0" i="0" sz="2100" u="none" cap="none" strike="noStrike">
              <a:solidFill>
                <a:schemeClr val="dk1"/>
              </a:solidFill>
              <a:latin typeface="Calibri"/>
              <a:ea typeface="Calibri"/>
              <a:cs typeface="Calibri"/>
              <a:sym typeface="Calibri"/>
            </a:endParaRPr>
          </a:p>
        </p:txBody>
      </p:sp>
      <p:sp>
        <p:nvSpPr>
          <p:cNvPr id="430" name="Google Shape;430;p11"/>
          <p:cNvSpPr/>
          <p:nvPr/>
        </p:nvSpPr>
        <p:spPr>
          <a:xfrm>
            <a:off x="10066238" y="6470427"/>
            <a:ext cx="7307461"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1"/>
          <p:cNvSpPr/>
          <p:nvPr/>
        </p:nvSpPr>
        <p:spPr>
          <a:xfrm>
            <a:off x="10066238" y="5927675"/>
            <a:ext cx="838200" cy="196751"/>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04</a:t>
            </a:r>
            <a:endParaRPr b="0" i="0" sz="1050" u="none" cap="none" strike="noStrike">
              <a:solidFill>
                <a:schemeClr val="dk1"/>
              </a:solidFill>
              <a:latin typeface="Calibri"/>
              <a:ea typeface="Calibri"/>
              <a:cs typeface="Calibri"/>
              <a:sym typeface="Calibri"/>
            </a:endParaRPr>
          </a:p>
        </p:txBody>
      </p:sp>
      <p:sp>
        <p:nvSpPr>
          <p:cNvPr id="432" name="Google Shape;432;p11"/>
          <p:cNvSpPr/>
          <p:nvPr/>
        </p:nvSpPr>
        <p:spPr>
          <a:xfrm>
            <a:off x="10828238" y="5870525"/>
            <a:ext cx="5494020" cy="371351"/>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0E0E0C"/>
              </a:buClr>
              <a:buSzPts val="2100"/>
              <a:buFont typeface="Arial"/>
              <a:buNone/>
            </a:pPr>
            <a:r>
              <a:rPr b="1" i="0" lang="en-US" sz="2100" u="none" cap="none" strike="noStrike">
                <a:solidFill>
                  <a:srgbClr val="0E0E0C"/>
                </a:solidFill>
                <a:latin typeface="Arial"/>
                <a:ea typeface="Arial"/>
                <a:cs typeface="Arial"/>
                <a:sym typeface="Arial"/>
              </a:rPr>
              <a:t>Certify reference implementations.</a:t>
            </a:r>
            <a:endParaRPr b="0" i="0" sz="2100" u="none" cap="none" strike="noStrike">
              <a:solidFill>
                <a:schemeClr val="dk1"/>
              </a:solidFill>
              <a:latin typeface="Calibri"/>
              <a:ea typeface="Calibri"/>
              <a:cs typeface="Calibri"/>
              <a:sym typeface="Calibri"/>
            </a:endParaRPr>
          </a:p>
        </p:txBody>
      </p:sp>
      <p:sp>
        <p:nvSpPr>
          <p:cNvPr id="433" name="Google Shape;433;p11"/>
          <p:cNvSpPr/>
          <p:nvPr/>
        </p:nvSpPr>
        <p:spPr>
          <a:xfrm>
            <a:off x="10066238" y="7344916"/>
            <a:ext cx="7307461" cy="9525"/>
          </a:xfrm>
          <a:prstGeom prst="rect">
            <a:avLst/>
          </a:prstGeom>
          <a:solidFill>
            <a:srgbClr val="0E0E0C">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a:off x="10066238" y="6802164"/>
            <a:ext cx="838200" cy="196751"/>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05</a:t>
            </a:r>
            <a:endParaRPr b="0" i="0" sz="1050" u="none" cap="none" strike="noStrike">
              <a:solidFill>
                <a:schemeClr val="dk1"/>
              </a:solidFill>
              <a:latin typeface="Calibri"/>
              <a:ea typeface="Calibri"/>
              <a:cs typeface="Calibri"/>
              <a:sym typeface="Calibri"/>
            </a:endParaRPr>
          </a:p>
        </p:txBody>
      </p:sp>
      <p:sp>
        <p:nvSpPr>
          <p:cNvPr id="435" name="Google Shape;435;p11"/>
          <p:cNvSpPr/>
          <p:nvPr/>
        </p:nvSpPr>
        <p:spPr>
          <a:xfrm>
            <a:off x="10828238" y="6745014"/>
            <a:ext cx="5494020" cy="371351"/>
          </a:xfrm>
          <a:prstGeom prst="rect">
            <a:avLst/>
          </a:prstGeom>
          <a:noFill/>
          <a:ln>
            <a:noFill/>
          </a:ln>
        </p:spPr>
        <p:txBody>
          <a:bodyPr anchorCtr="0" anchor="t" bIns="25400" lIns="25400" spcFirstLastPara="1" rIns="25400" wrap="square" tIns="25400">
            <a:noAutofit/>
          </a:bodyPr>
          <a:lstStyle/>
          <a:p>
            <a:pPr indent="0" lvl="0" marL="0" marR="0" rtl="0" algn="l">
              <a:lnSpc>
                <a:spcPct val="125000"/>
              </a:lnSpc>
              <a:spcBef>
                <a:spcPts val="0"/>
              </a:spcBef>
              <a:spcAft>
                <a:spcPts val="0"/>
              </a:spcAft>
              <a:buClr>
                <a:srgbClr val="0E0E0C"/>
              </a:buClr>
              <a:buSzPts val="2100"/>
              <a:buFont typeface="Arial"/>
              <a:buNone/>
            </a:pPr>
            <a:r>
              <a:rPr b="1" i="0" lang="en-US" sz="2100" u="none" cap="none" strike="noStrike">
                <a:solidFill>
                  <a:srgbClr val="0E0E0C"/>
                </a:solidFill>
                <a:latin typeface="Arial"/>
                <a:ea typeface="Arial"/>
                <a:cs typeface="Arial"/>
                <a:sym typeface="Arial"/>
              </a:rPr>
              <a:t>Evangelize as the enterprise standard.</a:t>
            </a:r>
            <a:endParaRPr b="0" i="0" sz="2100" u="none" cap="none" strike="noStrike">
              <a:solidFill>
                <a:schemeClr val="dk1"/>
              </a:solidFill>
              <a:latin typeface="Calibri"/>
              <a:ea typeface="Calibri"/>
              <a:cs typeface="Calibri"/>
              <a:sym typeface="Calibri"/>
            </a:endParaRPr>
          </a:p>
        </p:txBody>
      </p:sp>
      <p:sp>
        <p:nvSpPr>
          <p:cNvPr id="436" name="Google Shape;436;p11"/>
          <p:cNvSpPr/>
          <p:nvPr/>
        </p:nvSpPr>
        <p:spPr>
          <a:xfrm>
            <a:off x="10066238" y="8512348"/>
            <a:ext cx="7526685"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200"/>
              <a:buFont typeface="Arial"/>
              <a:buNone/>
            </a:pPr>
            <a:r>
              <a:rPr b="0" i="0" lang="en-US" sz="1200" u="none" cap="none" strike="noStrike">
                <a:solidFill>
                  <a:srgbClr val="6B6860"/>
                </a:solidFill>
                <a:latin typeface="Arial"/>
                <a:ea typeface="Arial"/>
                <a:cs typeface="Arial"/>
                <a:sym typeface="Arial"/>
              </a:rPr>
              <a:t>STRATEGY · 2026 — 2029</a:t>
            </a:r>
            <a:endParaRPr b="0" i="0" sz="1200" u="none" cap="none" strike="noStrike">
              <a:solidFill>
                <a:schemeClr val="dk1"/>
              </a:solidFill>
              <a:latin typeface="Calibri"/>
              <a:ea typeface="Calibri"/>
              <a:cs typeface="Calibri"/>
              <a:sym typeface="Calibri"/>
            </a:endParaRPr>
          </a:p>
        </p:txBody>
      </p:sp>
      <p:sp>
        <p:nvSpPr>
          <p:cNvPr id="437" name="Google Shape;437;p11"/>
          <p:cNvSpPr/>
          <p:nvPr/>
        </p:nvSpPr>
        <p:spPr>
          <a:xfrm>
            <a:off x="0" y="9593337"/>
            <a:ext cx="18288000" cy="9525"/>
          </a:xfrm>
          <a:prstGeom prst="rect">
            <a:avLst/>
          </a:prstGeom>
          <a:solidFill>
            <a:srgbClr val="0E0E0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685726" y="9864700"/>
            <a:ext cx="273334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OIA · ADVISORY BOARD BRIEF</a:t>
            </a:r>
            <a:endParaRPr b="0" i="0" sz="1050" u="none" cap="none" strike="noStrike">
              <a:solidFill>
                <a:schemeClr val="dk1"/>
              </a:solidFill>
              <a:latin typeface="Calibri"/>
              <a:ea typeface="Calibri"/>
              <a:cs typeface="Calibri"/>
              <a:sym typeface="Calibri"/>
            </a:endParaRPr>
          </a:p>
        </p:txBody>
      </p:sp>
      <p:sp>
        <p:nvSpPr>
          <p:cNvPr id="439" name="Google Shape;439;p11"/>
          <p:cNvSpPr/>
          <p:nvPr/>
        </p:nvSpPr>
        <p:spPr>
          <a:xfrm>
            <a:off x="16701368" y="9864700"/>
            <a:ext cx="977106"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6860"/>
              </a:buClr>
              <a:buSzPts val="1050"/>
              <a:buFont typeface="Arial"/>
              <a:buNone/>
            </a:pPr>
            <a:r>
              <a:rPr b="0" i="0" lang="en-US" sz="1050" u="none" cap="none" strike="noStrike">
                <a:solidFill>
                  <a:srgbClr val="6B6860"/>
                </a:solidFill>
                <a:latin typeface="Arial"/>
                <a:ea typeface="Arial"/>
                <a:cs typeface="Arial"/>
                <a:sym typeface="Arial"/>
              </a:rPr>
              <a:t>APRIL 2026</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0E0C"/>
        </a:solidFill>
      </p:bgPr>
    </p:bg>
    <p:spTree>
      <p:nvGrpSpPr>
        <p:cNvPr id="444" name="Shape 444"/>
        <p:cNvGrpSpPr/>
        <p:nvPr/>
      </p:nvGrpSpPr>
      <p:grpSpPr>
        <a:xfrm>
          <a:off x="0" y="0"/>
          <a:ext cx="0" cy="0"/>
          <a:chOff x="0" y="0"/>
          <a:chExt cx="0" cy="0"/>
        </a:xfrm>
      </p:grpSpPr>
      <p:sp>
        <p:nvSpPr>
          <p:cNvPr id="445" name="Google Shape;445;p12"/>
          <p:cNvSpPr/>
          <p:nvPr/>
        </p:nvSpPr>
        <p:spPr>
          <a:xfrm>
            <a:off x="0" y="952500"/>
            <a:ext cx="18288000" cy="9525"/>
          </a:xfrm>
          <a:prstGeom prst="rect">
            <a:avLst/>
          </a:prstGeom>
          <a:solidFill>
            <a:srgbClr val="F2EFE9">
              <a:alpha val="1411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2"/>
          <p:cNvSpPr/>
          <p:nvPr/>
        </p:nvSpPr>
        <p:spPr>
          <a:xfrm>
            <a:off x="685726" y="353219"/>
            <a:ext cx="2785078" cy="28416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650"/>
              <a:buFont typeface="Arial"/>
              <a:buNone/>
            </a:pPr>
            <a:r>
              <a:rPr b="0" i="0" lang="en-US" sz="1650" u="none" cap="none" strike="noStrike">
                <a:solidFill>
                  <a:srgbClr val="F2EFE9"/>
                </a:solidFill>
                <a:latin typeface="Arial"/>
                <a:ea typeface="Arial"/>
                <a:cs typeface="Arial"/>
                <a:sym typeface="Arial"/>
              </a:rPr>
              <a:t>AGENTICS </a:t>
            </a:r>
            <a:r>
              <a:rPr b="0" i="0" lang="en-US" sz="1650" u="none" cap="none" strike="noStrike">
                <a:solidFill>
                  <a:srgbClr val="EE5622"/>
                </a:solidFill>
                <a:latin typeface="Arial"/>
                <a:ea typeface="Arial"/>
                <a:cs typeface="Arial"/>
                <a:sym typeface="Arial"/>
              </a:rPr>
              <a:t>[</a:t>
            </a:r>
            <a:r>
              <a:rPr b="0" i="0" lang="en-US" sz="1650" u="none" cap="none" strike="noStrike">
                <a:solidFill>
                  <a:srgbClr val="F2EFE9"/>
                </a:solidFill>
                <a:latin typeface="Arial"/>
                <a:ea typeface="Arial"/>
                <a:cs typeface="Arial"/>
                <a:sym typeface="Arial"/>
              </a:rPr>
              <a:t>FOUNDATION</a:t>
            </a:r>
            <a:r>
              <a:rPr b="0" i="0" lang="en-US" sz="1650" u="none" cap="none" strike="noStrike">
                <a:solidFill>
                  <a:srgbClr val="EE5622"/>
                </a:solidFill>
                <a:latin typeface="Arial"/>
                <a:ea typeface="Arial"/>
                <a:cs typeface="Arial"/>
                <a:sym typeface="Arial"/>
              </a:rPr>
              <a:t>]</a:t>
            </a:r>
            <a:endParaRPr b="0" i="0" sz="1650" u="none" cap="none" strike="noStrike">
              <a:solidFill>
                <a:schemeClr val="dk1"/>
              </a:solidFill>
              <a:latin typeface="Calibri"/>
              <a:ea typeface="Calibri"/>
              <a:cs typeface="Calibri"/>
              <a:sym typeface="Calibri"/>
            </a:endParaRPr>
          </a:p>
        </p:txBody>
      </p:sp>
      <p:sp>
        <p:nvSpPr>
          <p:cNvPr id="447" name="Google Shape;447;p12"/>
          <p:cNvSpPr/>
          <p:nvPr/>
        </p:nvSpPr>
        <p:spPr>
          <a:xfrm>
            <a:off x="15618768" y="388937"/>
            <a:ext cx="2059707"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200"/>
              <a:buFont typeface="Arial"/>
              <a:buNone/>
            </a:pPr>
            <a:r>
              <a:rPr b="0" i="0" lang="en-US" sz="1200" u="none" cap="none" strike="noStrike">
                <a:solidFill>
                  <a:srgbClr val="F2EFE9"/>
                </a:solidFill>
                <a:latin typeface="Arial"/>
                <a:ea typeface="Arial"/>
                <a:cs typeface="Arial"/>
                <a:sym typeface="Arial"/>
              </a:rPr>
              <a:t>10 / 10 · WHAT'S NEXT</a:t>
            </a:r>
            <a:endParaRPr b="0" i="0" sz="1200" u="none" cap="none" strike="noStrike">
              <a:solidFill>
                <a:schemeClr val="dk1"/>
              </a:solidFill>
              <a:latin typeface="Calibri"/>
              <a:ea typeface="Calibri"/>
              <a:cs typeface="Calibri"/>
              <a:sym typeface="Calibri"/>
            </a:endParaRPr>
          </a:p>
        </p:txBody>
      </p:sp>
      <p:sp>
        <p:nvSpPr>
          <p:cNvPr id="448" name="Google Shape;448;p12"/>
          <p:cNvSpPr/>
          <p:nvPr/>
        </p:nvSpPr>
        <p:spPr>
          <a:xfrm>
            <a:off x="8221638" y="952500"/>
            <a:ext cx="9525" cy="8648774"/>
          </a:xfrm>
          <a:prstGeom prst="rect">
            <a:avLst/>
          </a:prstGeom>
          <a:solidFill>
            <a:srgbClr val="F2EFE9">
              <a:alpha val="1411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2"/>
          <p:cNvSpPr/>
          <p:nvPr/>
        </p:nvSpPr>
        <p:spPr>
          <a:xfrm>
            <a:off x="914301" y="2095500"/>
            <a:ext cx="6820259"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F2EFE9"/>
                </a:solidFill>
                <a:latin typeface="Arial"/>
                <a:ea typeface="Arial"/>
                <a:cs typeface="Arial"/>
                <a:sym typeface="Arial"/>
              </a:rPr>
              <a:t>CONCLUSION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450" name="Google Shape;450;p12"/>
          <p:cNvSpPr/>
          <p:nvPr/>
        </p:nvSpPr>
        <p:spPr>
          <a:xfrm>
            <a:off x="914301" y="2651125"/>
            <a:ext cx="6820259" cy="4099495"/>
          </a:xfrm>
          <a:prstGeom prst="rect">
            <a:avLst/>
          </a:prstGeom>
          <a:noFill/>
          <a:ln>
            <a:noFill/>
          </a:ln>
        </p:spPr>
        <p:txBody>
          <a:bodyPr anchorCtr="0" anchor="t" bIns="25400" lIns="25400" spcFirstLastPara="1" rIns="25400" wrap="square" tIns="25400">
            <a:noAutofit/>
          </a:bodyPr>
          <a:lstStyle/>
          <a:p>
            <a:pPr indent="0" lvl="0" marL="0" marR="0" rtl="0" algn="l">
              <a:lnSpc>
                <a:spcPct val="82000"/>
              </a:lnSpc>
              <a:spcBef>
                <a:spcPts val="0"/>
              </a:spcBef>
              <a:spcAft>
                <a:spcPts val="0"/>
              </a:spcAft>
              <a:buClr>
                <a:srgbClr val="EE5622"/>
              </a:buClr>
              <a:buSzPts val="39000"/>
              <a:buFont typeface="Arial"/>
              <a:buNone/>
            </a:pPr>
            <a:r>
              <a:rPr b="0" i="0" lang="en-US" sz="39000" u="none" cap="none" strike="noStrike">
                <a:solidFill>
                  <a:srgbClr val="EE5622"/>
                </a:solidFill>
                <a:latin typeface="Arial"/>
                <a:ea typeface="Arial"/>
                <a:cs typeface="Arial"/>
                <a:sym typeface="Arial"/>
              </a:rPr>
              <a:t>5</a:t>
            </a:r>
            <a:endParaRPr b="0" i="0" sz="39000" u="none" cap="none" strike="noStrike">
              <a:solidFill>
                <a:schemeClr val="dk1"/>
              </a:solidFill>
              <a:latin typeface="Calibri"/>
              <a:ea typeface="Calibri"/>
              <a:cs typeface="Calibri"/>
              <a:sym typeface="Calibri"/>
            </a:endParaRPr>
          </a:p>
        </p:txBody>
      </p:sp>
      <p:sp>
        <p:nvSpPr>
          <p:cNvPr id="451" name="Google Shape;451;p12"/>
          <p:cNvSpPr/>
          <p:nvPr/>
        </p:nvSpPr>
        <p:spPr>
          <a:xfrm>
            <a:off x="914301" y="7723311"/>
            <a:ext cx="5101590" cy="1001762"/>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F2EFE9"/>
              </a:buClr>
              <a:buSzPts val="3300"/>
              <a:buFont typeface="Arial"/>
              <a:buNone/>
            </a:pPr>
            <a:r>
              <a:rPr b="1" i="0" lang="en-US" sz="3300" u="none" cap="none" strike="noStrike">
                <a:solidFill>
                  <a:srgbClr val="F2EFE9"/>
                </a:solidFill>
                <a:latin typeface="Arial"/>
                <a:ea typeface="Arial"/>
                <a:cs typeface="Arial"/>
                <a:sym typeface="Arial"/>
              </a:rPr>
              <a:t>Five </a:t>
            </a:r>
            <a:r>
              <a:rPr b="1" i="0" lang="en-US" sz="3300" u="none" cap="none" strike="noStrike">
                <a:solidFill>
                  <a:srgbClr val="EE5622"/>
                </a:solidFill>
                <a:latin typeface="Arial"/>
                <a:ea typeface="Arial"/>
                <a:cs typeface="Arial"/>
                <a:sym typeface="Arial"/>
              </a:rPr>
              <a:t>questions </a:t>
            </a:r>
            <a:r>
              <a:rPr b="1" i="0" lang="en-US" sz="3300" u="none" cap="none" strike="noStrike">
                <a:solidFill>
                  <a:srgbClr val="F2EFE9"/>
                </a:solidFill>
                <a:latin typeface="Arial"/>
                <a:ea typeface="Arial"/>
                <a:cs typeface="Arial"/>
                <a:sym typeface="Arial"/>
              </a:rPr>
              <a:t>to answer next.</a:t>
            </a:r>
            <a:endParaRPr b="0" i="0" sz="3300" u="none" cap="none" strike="noStrike">
              <a:solidFill>
                <a:schemeClr val="dk1"/>
              </a:solidFill>
              <a:latin typeface="Calibri"/>
              <a:ea typeface="Calibri"/>
              <a:cs typeface="Calibri"/>
              <a:sym typeface="Calibri"/>
            </a:endParaRPr>
          </a:p>
        </p:txBody>
      </p:sp>
      <p:sp>
        <p:nvSpPr>
          <p:cNvPr id="452" name="Google Shape;452;p12"/>
          <p:cNvSpPr/>
          <p:nvPr/>
        </p:nvSpPr>
        <p:spPr>
          <a:xfrm>
            <a:off x="9143876" y="2499816"/>
            <a:ext cx="8476718" cy="212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200"/>
              <a:buFont typeface="Arial"/>
              <a:buNone/>
            </a:pPr>
            <a:r>
              <a:rPr b="0" i="0" lang="en-US" sz="1200" u="none" cap="none" strike="noStrike">
                <a:solidFill>
                  <a:srgbClr val="EE5622"/>
                </a:solidFill>
                <a:latin typeface="Arial"/>
                <a:ea typeface="Arial"/>
                <a:cs typeface="Arial"/>
                <a:sym typeface="Arial"/>
              </a:rPr>
              <a:t>[ </a:t>
            </a:r>
            <a:r>
              <a:rPr b="0" i="0" lang="en-US" sz="1200" u="none" cap="none" strike="noStrike">
                <a:solidFill>
                  <a:srgbClr val="F2EFE9"/>
                </a:solidFill>
                <a:latin typeface="Arial"/>
                <a:ea typeface="Arial"/>
                <a:cs typeface="Arial"/>
                <a:sym typeface="Arial"/>
              </a:rPr>
              <a:t>OPEN QUESTIONS </a:t>
            </a:r>
            <a:r>
              <a:rPr b="0" i="0" lang="en-US" sz="1200" u="none" cap="none" strike="noStrike">
                <a:solidFill>
                  <a:srgbClr val="EE5622"/>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453" name="Google Shape;453;p12"/>
          <p:cNvSpPr/>
          <p:nvPr/>
        </p:nvSpPr>
        <p:spPr>
          <a:xfrm>
            <a:off x="9143876" y="2941092"/>
            <a:ext cx="8229823" cy="9525"/>
          </a:xfrm>
          <a:prstGeom prst="rect">
            <a:avLst/>
          </a:prstGeom>
          <a:solidFill>
            <a:srgbClr val="F2EFE9">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2"/>
          <p:cNvSpPr/>
          <p:nvPr/>
        </p:nvSpPr>
        <p:spPr>
          <a:xfrm>
            <a:off x="9143876" y="3962053"/>
            <a:ext cx="8229823" cy="9525"/>
          </a:xfrm>
          <a:prstGeom prst="rect">
            <a:avLst/>
          </a:prstGeom>
          <a:solidFill>
            <a:srgbClr val="F2EFE9">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2"/>
          <p:cNvSpPr/>
          <p:nvPr/>
        </p:nvSpPr>
        <p:spPr>
          <a:xfrm>
            <a:off x="9143876" y="3234705"/>
            <a:ext cx="838200" cy="55597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Q·01</a:t>
            </a:r>
            <a:endParaRPr b="0" i="0" sz="1050" u="none" cap="none" strike="noStrike">
              <a:solidFill>
                <a:schemeClr val="dk1"/>
              </a:solidFill>
              <a:latin typeface="Calibri"/>
              <a:ea typeface="Calibri"/>
              <a:cs typeface="Calibri"/>
              <a:sym typeface="Calibri"/>
            </a:endParaRPr>
          </a:p>
        </p:txBody>
      </p:sp>
      <p:sp>
        <p:nvSpPr>
          <p:cNvPr id="456" name="Google Shape;456;p12"/>
          <p:cNvSpPr/>
          <p:nvPr/>
        </p:nvSpPr>
        <p:spPr>
          <a:xfrm>
            <a:off x="9982026" y="3158505"/>
            <a:ext cx="7613423" cy="632172"/>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F2EFE9"/>
              </a:buClr>
              <a:buSzPts val="1800"/>
              <a:buFont typeface="Arial"/>
              <a:buNone/>
            </a:pPr>
            <a:r>
              <a:rPr b="0" i="0" lang="en-US" sz="1800" u="none" cap="none" strike="noStrike">
                <a:solidFill>
                  <a:srgbClr val="F2EFE9"/>
                </a:solidFill>
                <a:latin typeface="Arial"/>
                <a:ea typeface="Arial"/>
                <a:cs typeface="Arial"/>
                <a:sym typeface="Arial"/>
              </a:rPr>
              <a:t>How do we prevent hyperscaler monopolies from collapsing Layers 5–8 into proprietary black boxes?</a:t>
            </a:r>
            <a:endParaRPr b="0" i="0" sz="1800" u="none" cap="none" strike="noStrike">
              <a:solidFill>
                <a:schemeClr val="dk1"/>
              </a:solidFill>
              <a:latin typeface="Calibri"/>
              <a:ea typeface="Calibri"/>
              <a:cs typeface="Calibri"/>
              <a:sym typeface="Calibri"/>
            </a:endParaRPr>
          </a:p>
        </p:txBody>
      </p:sp>
      <p:sp>
        <p:nvSpPr>
          <p:cNvPr id="457" name="Google Shape;457;p12"/>
          <p:cNvSpPr/>
          <p:nvPr/>
        </p:nvSpPr>
        <p:spPr>
          <a:xfrm>
            <a:off x="9143876" y="4983014"/>
            <a:ext cx="8229823" cy="9525"/>
          </a:xfrm>
          <a:prstGeom prst="rect">
            <a:avLst/>
          </a:prstGeom>
          <a:solidFill>
            <a:srgbClr val="F2EFE9">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2"/>
          <p:cNvSpPr/>
          <p:nvPr/>
        </p:nvSpPr>
        <p:spPr>
          <a:xfrm>
            <a:off x="9143876" y="4255666"/>
            <a:ext cx="838200" cy="55597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Q·02</a:t>
            </a:r>
            <a:endParaRPr b="0" i="0" sz="1050" u="none" cap="none" strike="noStrike">
              <a:solidFill>
                <a:schemeClr val="dk1"/>
              </a:solidFill>
              <a:latin typeface="Calibri"/>
              <a:ea typeface="Calibri"/>
              <a:cs typeface="Calibri"/>
              <a:sym typeface="Calibri"/>
            </a:endParaRPr>
          </a:p>
        </p:txBody>
      </p:sp>
      <p:sp>
        <p:nvSpPr>
          <p:cNvPr id="459" name="Google Shape;459;p12"/>
          <p:cNvSpPr/>
          <p:nvPr/>
        </p:nvSpPr>
        <p:spPr>
          <a:xfrm>
            <a:off x="9982026" y="4179466"/>
            <a:ext cx="7613423" cy="632172"/>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F2EFE9"/>
              </a:buClr>
              <a:buSzPts val="1800"/>
              <a:buFont typeface="Arial"/>
              <a:buNone/>
            </a:pPr>
            <a:r>
              <a:rPr b="0" i="0" lang="en-US" sz="1800" u="none" cap="none" strike="noStrike">
                <a:solidFill>
                  <a:srgbClr val="F2EFE9"/>
                </a:solidFill>
                <a:latin typeface="Arial"/>
                <a:ea typeface="Arial"/>
                <a:cs typeface="Arial"/>
                <a:sym typeface="Arial"/>
              </a:rPr>
              <a:t>Who governs certification of compliance and verifiable memory at Layer 8?</a:t>
            </a:r>
            <a:endParaRPr b="0" i="0" sz="1800" u="none" cap="none" strike="noStrike">
              <a:solidFill>
                <a:schemeClr val="dk1"/>
              </a:solidFill>
              <a:latin typeface="Calibri"/>
              <a:ea typeface="Calibri"/>
              <a:cs typeface="Calibri"/>
              <a:sym typeface="Calibri"/>
            </a:endParaRPr>
          </a:p>
        </p:txBody>
      </p:sp>
      <p:sp>
        <p:nvSpPr>
          <p:cNvPr id="460" name="Google Shape;460;p12"/>
          <p:cNvSpPr/>
          <p:nvPr/>
        </p:nvSpPr>
        <p:spPr>
          <a:xfrm>
            <a:off x="9143876" y="6003975"/>
            <a:ext cx="8229823" cy="9525"/>
          </a:xfrm>
          <a:prstGeom prst="rect">
            <a:avLst/>
          </a:prstGeom>
          <a:solidFill>
            <a:srgbClr val="F2EFE9">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2"/>
          <p:cNvSpPr/>
          <p:nvPr/>
        </p:nvSpPr>
        <p:spPr>
          <a:xfrm>
            <a:off x="9143876" y="5276627"/>
            <a:ext cx="838200" cy="55597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Q·03</a:t>
            </a:r>
            <a:endParaRPr b="0" i="0" sz="1050" u="none" cap="none" strike="noStrike">
              <a:solidFill>
                <a:schemeClr val="dk1"/>
              </a:solidFill>
              <a:latin typeface="Calibri"/>
              <a:ea typeface="Calibri"/>
              <a:cs typeface="Calibri"/>
              <a:sym typeface="Calibri"/>
            </a:endParaRPr>
          </a:p>
        </p:txBody>
      </p:sp>
      <p:sp>
        <p:nvSpPr>
          <p:cNvPr id="462" name="Google Shape;462;p12"/>
          <p:cNvSpPr/>
          <p:nvPr/>
        </p:nvSpPr>
        <p:spPr>
          <a:xfrm>
            <a:off x="9982026" y="5200427"/>
            <a:ext cx="7613423" cy="632172"/>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F2EFE9"/>
              </a:buClr>
              <a:buSzPts val="1800"/>
              <a:buFont typeface="Arial"/>
              <a:buNone/>
            </a:pPr>
            <a:r>
              <a:rPr b="0" i="0" lang="en-US" sz="1800" u="none" cap="none" strike="noStrike">
                <a:solidFill>
                  <a:srgbClr val="F2EFE9"/>
                </a:solidFill>
                <a:latin typeface="Arial"/>
                <a:ea typeface="Arial"/>
                <a:cs typeface="Arial"/>
                <a:sym typeface="Arial"/>
              </a:rPr>
              <a:t>How will incumbent cybersecurity and data vendors map their legacy products to this new stack?</a:t>
            </a:r>
            <a:endParaRPr b="0" i="0" sz="1800" u="none" cap="none" strike="noStrike">
              <a:solidFill>
                <a:schemeClr val="dk1"/>
              </a:solidFill>
              <a:latin typeface="Calibri"/>
              <a:ea typeface="Calibri"/>
              <a:cs typeface="Calibri"/>
              <a:sym typeface="Calibri"/>
            </a:endParaRPr>
          </a:p>
        </p:txBody>
      </p:sp>
      <p:sp>
        <p:nvSpPr>
          <p:cNvPr id="463" name="Google Shape;463;p12"/>
          <p:cNvSpPr/>
          <p:nvPr/>
        </p:nvSpPr>
        <p:spPr>
          <a:xfrm>
            <a:off x="9143876" y="7024936"/>
            <a:ext cx="8229823" cy="9525"/>
          </a:xfrm>
          <a:prstGeom prst="rect">
            <a:avLst/>
          </a:prstGeom>
          <a:solidFill>
            <a:srgbClr val="F2EFE9">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2"/>
          <p:cNvSpPr/>
          <p:nvPr/>
        </p:nvSpPr>
        <p:spPr>
          <a:xfrm>
            <a:off x="9143876" y="6297588"/>
            <a:ext cx="838200" cy="55597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Q·04</a:t>
            </a:r>
            <a:endParaRPr b="0" i="0" sz="1050" u="none" cap="none" strike="noStrike">
              <a:solidFill>
                <a:schemeClr val="dk1"/>
              </a:solidFill>
              <a:latin typeface="Calibri"/>
              <a:ea typeface="Calibri"/>
              <a:cs typeface="Calibri"/>
              <a:sym typeface="Calibri"/>
            </a:endParaRPr>
          </a:p>
        </p:txBody>
      </p:sp>
      <p:sp>
        <p:nvSpPr>
          <p:cNvPr id="465" name="Google Shape;465;p12"/>
          <p:cNvSpPr/>
          <p:nvPr/>
        </p:nvSpPr>
        <p:spPr>
          <a:xfrm>
            <a:off x="9982026" y="6221388"/>
            <a:ext cx="7613423" cy="632172"/>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F2EFE9"/>
              </a:buClr>
              <a:buSzPts val="1800"/>
              <a:buFont typeface="Arial"/>
              <a:buNone/>
            </a:pPr>
            <a:r>
              <a:rPr b="0" i="0" lang="en-US" sz="1800" u="none" cap="none" strike="noStrike">
                <a:solidFill>
                  <a:srgbClr val="F2EFE9"/>
                </a:solidFill>
                <a:latin typeface="Arial"/>
                <a:ea typeface="Arial"/>
                <a:cs typeface="Arial"/>
                <a:sym typeface="Arial"/>
              </a:rPr>
              <a:t>What is the sustainable funding model for the Foundation's long-term stewardship of OIA?</a:t>
            </a:r>
            <a:endParaRPr b="0" i="0" sz="1800" u="none" cap="none" strike="noStrike">
              <a:solidFill>
                <a:schemeClr val="dk1"/>
              </a:solidFill>
              <a:latin typeface="Calibri"/>
              <a:ea typeface="Calibri"/>
              <a:cs typeface="Calibri"/>
              <a:sym typeface="Calibri"/>
            </a:endParaRPr>
          </a:p>
        </p:txBody>
      </p:sp>
      <p:sp>
        <p:nvSpPr>
          <p:cNvPr id="466" name="Google Shape;466;p12"/>
          <p:cNvSpPr/>
          <p:nvPr/>
        </p:nvSpPr>
        <p:spPr>
          <a:xfrm>
            <a:off x="9143876" y="8045896"/>
            <a:ext cx="8229823" cy="9525"/>
          </a:xfrm>
          <a:prstGeom prst="rect">
            <a:avLst/>
          </a:prstGeom>
          <a:solidFill>
            <a:srgbClr val="F2EFE9">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2"/>
          <p:cNvSpPr/>
          <p:nvPr/>
        </p:nvSpPr>
        <p:spPr>
          <a:xfrm>
            <a:off x="9143876" y="7318549"/>
            <a:ext cx="838200" cy="55597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E5622"/>
              </a:buClr>
              <a:buSzPts val="1050"/>
              <a:buFont typeface="Arial"/>
              <a:buNone/>
            </a:pPr>
            <a:r>
              <a:rPr b="0" i="0" lang="en-US" sz="1050" u="none" cap="none" strike="noStrike">
                <a:solidFill>
                  <a:srgbClr val="EE5622"/>
                </a:solidFill>
                <a:latin typeface="Arial"/>
                <a:ea typeface="Arial"/>
                <a:cs typeface="Arial"/>
                <a:sym typeface="Arial"/>
              </a:rPr>
              <a:t>Q·05</a:t>
            </a:r>
            <a:endParaRPr b="0" i="0" sz="1050" u="none" cap="none" strike="noStrike">
              <a:solidFill>
                <a:schemeClr val="dk1"/>
              </a:solidFill>
              <a:latin typeface="Calibri"/>
              <a:ea typeface="Calibri"/>
              <a:cs typeface="Calibri"/>
              <a:sym typeface="Calibri"/>
            </a:endParaRPr>
          </a:p>
        </p:txBody>
      </p:sp>
      <p:sp>
        <p:nvSpPr>
          <p:cNvPr id="468" name="Google Shape;468;p12"/>
          <p:cNvSpPr/>
          <p:nvPr/>
        </p:nvSpPr>
        <p:spPr>
          <a:xfrm>
            <a:off x="9982026" y="7242349"/>
            <a:ext cx="7613423" cy="632172"/>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F2EFE9"/>
              </a:buClr>
              <a:buSzPts val="1800"/>
              <a:buFont typeface="Arial"/>
              <a:buNone/>
            </a:pPr>
            <a:r>
              <a:rPr b="0" i="0" lang="en-US" sz="1800" u="none" cap="none" strike="noStrike">
                <a:solidFill>
                  <a:srgbClr val="F2EFE9"/>
                </a:solidFill>
                <a:latin typeface="Arial"/>
                <a:ea typeface="Arial"/>
                <a:cs typeface="Arial"/>
                <a:sym typeface="Arial"/>
              </a:rPr>
              <a:t>How do we drive global regulatory alignment so OIA becomes the default compliance framework?</a:t>
            </a:r>
            <a:endParaRPr b="0" i="0" sz="1800" u="none" cap="none" strike="noStrike">
              <a:solidFill>
                <a:schemeClr val="dk1"/>
              </a:solidFill>
              <a:latin typeface="Calibri"/>
              <a:ea typeface="Calibri"/>
              <a:cs typeface="Calibri"/>
              <a:sym typeface="Calibri"/>
            </a:endParaRPr>
          </a:p>
        </p:txBody>
      </p:sp>
      <p:sp>
        <p:nvSpPr>
          <p:cNvPr id="469" name="Google Shape;469;p12"/>
          <p:cNvSpPr/>
          <p:nvPr/>
        </p:nvSpPr>
        <p:spPr>
          <a:xfrm>
            <a:off x="0" y="9593337"/>
            <a:ext cx="18288000" cy="9525"/>
          </a:xfrm>
          <a:prstGeom prst="rect">
            <a:avLst/>
          </a:prstGeom>
          <a:solidFill>
            <a:srgbClr val="F2EFE9">
              <a:alpha val="1411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2"/>
          <p:cNvSpPr/>
          <p:nvPr/>
        </p:nvSpPr>
        <p:spPr>
          <a:xfrm>
            <a:off x="685726" y="9864700"/>
            <a:ext cx="2733341"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050"/>
              <a:buFont typeface="Arial"/>
              <a:buNone/>
            </a:pPr>
            <a:r>
              <a:rPr b="0" i="0" lang="en-US" sz="1050" u="none" cap="none" strike="noStrike">
                <a:solidFill>
                  <a:srgbClr val="F2EFE9"/>
                </a:solidFill>
                <a:latin typeface="Arial"/>
                <a:ea typeface="Arial"/>
                <a:cs typeface="Arial"/>
                <a:sym typeface="Arial"/>
              </a:rPr>
              <a:t>OIA · ADVISORY BOARD BRIEF</a:t>
            </a:r>
            <a:endParaRPr b="0" i="0" sz="1050" u="none" cap="none" strike="noStrike">
              <a:solidFill>
                <a:schemeClr val="dk1"/>
              </a:solidFill>
              <a:latin typeface="Calibri"/>
              <a:ea typeface="Calibri"/>
              <a:cs typeface="Calibri"/>
              <a:sym typeface="Calibri"/>
            </a:endParaRPr>
          </a:p>
        </p:txBody>
      </p:sp>
      <p:sp>
        <p:nvSpPr>
          <p:cNvPr id="471" name="Google Shape;471;p12"/>
          <p:cNvSpPr/>
          <p:nvPr/>
        </p:nvSpPr>
        <p:spPr>
          <a:xfrm>
            <a:off x="15033004" y="9864700"/>
            <a:ext cx="2646347" cy="196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2EFE9"/>
              </a:buClr>
              <a:buSzPts val="1050"/>
              <a:buFont typeface="Arial"/>
              <a:buNone/>
            </a:pPr>
            <a:r>
              <a:rPr b="0" i="0" lang="en-US" sz="1050" u="none" cap="none" strike="noStrike">
                <a:solidFill>
                  <a:srgbClr val="F2EFE9"/>
                </a:solidFill>
                <a:latin typeface="Arial"/>
                <a:ea typeface="Arial"/>
                <a:cs typeface="Arial"/>
                <a:sym typeface="Arial"/>
              </a:rPr>
              <a:t>APRIL 2026 · MARK TEMPLETON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